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1eeebf7a654647" /><Relationship Type="http://schemas.openxmlformats.org/officeDocument/2006/relationships/extended-properties" Target="/docProps/app.xml" Id="R2d1972dc16874a37" /><Relationship Type="http://schemas.openxmlformats.org/officeDocument/2006/relationships/officeDocument" Target="/ppt/presentation.xml" Id="R1b538d3115a645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66c7e726ca486c"/>
  </p:sldMasterIdLst>
  <p:notesMasterIdLst>
    <p:notesMasterId xmlns:r="http://schemas.openxmlformats.org/officeDocument/2006/relationships" r:id="R6d13a50b3214430e"/>
  </p:notesMasterIdLst>
  <p:sldIdLst>
    <p:sldId xmlns:r="http://schemas.openxmlformats.org/officeDocument/2006/relationships" id="256" r:id="R4477f3193b8b4c32"/>
    <p:sldId xmlns:r="http://schemas.openxmlformats.org/officeDocument/2006/relationships" id="257" r:id="R5521e2670db04323"/>
    <p:sldId xmlns:r="http://schemas.openxmlformats.org/officeDocument/2006/relationships" id="258" r:id="R401254d0185646c4"/>
    <p:sldId xmlns:r="http://schemas.openxmlformats.org/officeDocument/2006/relationships" id="259" r:id="Rc10fd2799efc4d48"/>
    <p:sldId xmlns:r="http://schemas.openxmlformats.org/officeDocument/2006/relationships" id="260" r:id="Rb8b0140987cb4173"/>
    <p:sldId xmlns:r="http://schemas.openxmlformats.org/officeDocument/2006/relationships" id="261" r:id="R377ca72f90ea4849"/>
    <p:sldId xmlns:r="http://schemas.openxmlformats.org/officeDocument/2006/relationships" id="262" r:id="R365483fefa9f44e4"/>
    <p:sldId xmlns:r="http://schemas.openxmlformats.org/officeDocument/2006/relationships" id="263" r:id="Re9fc2e42ab6349fb"/>
    <p:sldId xmlns:r="http://schemas.openxmlformats.org/officeDocument/2006/relationships" id="264" r:id="R38673a3f73054705"/>
    <p:sldId xmlns:r="http://schemas.openxmlformats.org/officeDocument/2006/relationships" id="265" r:id="R652a925fc7a841fe"/>
    <p:sldId xmlns:r="http://schemas.openxmlformats.org/officeDocument/2006/relationships" id="266" r:id="R3349a40e5da94580"/>
    <p:sldId xmlns:r="http://schemas.openxmlformats.org/officeDocument/2006/relationships" id="267" r:id="R1813c8003b954925"/>
    <p:sldId xmlns:r="http://schemas.openxmlformats.org/officeDocument/2006/relationships" id="268" r:id="R0e4284a5462a41b1"/>
    <p:sldId xmlns:r="http://schemas.openxmlformats.org/officeDocument/2006/relationships" id="269" r:id="R78f575ea341a431f"/>
    <p:sldId xmlns:r="http://schemas.openxmlformats.org/officeDocument/2006/relationships" id="270" r:id="R0b46c8d579ea49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5f6be753c44b06" /><Relationship Type="http://schemas.openxmlformats.org/officeDocument/2006/relationships/slideMaster" Target="/ppt/slideMasters/slideMaster1.xml" Id="R4466c7e726ca486c" /><Relationship Type="http://schemas.openxmlformats.org/officeDocument/2006/relationships/notesMaster" Target="/ppt/notesMasters/notesMaster1.xml" Id="R6d13a50b3214430e" /><Relationship Type="http://schemas.openxmlformats.org/officeDocument/2006/relationships/presProps" Target="/ppt/presProps.xml" Id="R613552f50bce49e7" /><Relationship Type="http://schemas.openxmlformats.org/officeDocument/2006/relationships/tableStyles" Target="/ppt/tableStyles.xml" Id="R6284ad068c714f3f" /><Relationship Type="http://schemas.openxmlformats.org/officeDocument/2006/relationships/slide" Target="/ppt/slides/slide1.xml" Id="R4477f3193b8b4c32" /><Relationship Type="http://schemas.openxmlformats.org/officeDocument/2006/relationships/slide" Target="/ppt/slides/slide2.xml" Id="R5521e2670db04323" /><Relationship Type="http://schemas.openxmlformats.org/officeDocument/2006/relationships/slide" Target="/ppt/slides/slide3.xml" Id="R401254d0185646c4" /><Relationship Type="http://schemas.openxmlformats.org/officeDocument/2006/relationships/slide" Target="/ppt/slides/slide4.xml" Id="Rc10fd2799efc4d48" /><Relationship Type="http://schemas.openxmlformats.org/officeDocument/2006/relationships/slide" Target="/ppt/slides/slide5.xml" Id="Rb8b0140987cb4173" /><Relationship Type="http://schemas.openxmlformats.org/officeDocument/2006/relationships/slide" Target="/ppt/slides/slide6.xml" Id="R377ca72f90ea4849" /><Relationship Type="http://schemas.openxmlformats.org/officeDocument/2006/relationships/slide" Target="/ppt/slides/slide7.xml" Id="R365483fefa9f44e4" /><Relationship Type="http://schemas.openxmlformats.org/officeDocument/2006/relationships/slide" Target="/ppt/slides/slide8.xml" Id="Re9fc2e42ab6349fb" /><Relationship Type="http://schemas.openxmlformats.org/officeDocument/2006/relationships/slide" Target="/ppt/slides/slide9.xml" Id="R38673a3f73054705" /><Relationship Type="http://schemas.openxmlformats.org/officeDocument/2006/relationships/slide" Target="/ppt/slides/slide10.xml" Id="R652a925fc7a841fe" /><Relationship Type="http://schemas.openxmlformats.org/officeDocument/2006/relationships/slide" Target="/ppt/slides/slide11.xml" Id="R3349a40e5da94580" /><Relationship Type="http://schemas.openxmlformats.org/officeDocument/2006/relationships/slide" Target="/ppt/slides/slide12.xml" Id="R1813c8003b954925" /><Relationship Type="http://schemas.openxmlformats.org/officeDocument/2006/relationships/slide" Target="/ppt/slides/slide13.xml" Id="R0e4284a5462a41b1" /><Relationship Type="http://schemas.openxmlformats.org/officeDocument/2006/relationships/slide" Target="/ppt/slides/slide14.xml" Id="R78f575ea341a431f" /><Relationship Type="http://schemas.openxmlformats.org/officeDocument/2006/relationships/slide" Target="/ppt/slides/slide15.xml" Id="R0b46c8d579ea49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52f8e9daa242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a82779ee9d4da1" /><Relationship Type="http://schemas.openxmlformats.org/officeDocument/2006/relationships/notesMaster" Target="/ppt/notesMasters/notesMaster1.xml" Id="R98aebb45860043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9ba621e0d24546" /><Relationship Type="http://schemas.openxmlformats.org/officeDocument/2006/relationships/notesMaster" Target="/ppt/notesMasters/notesMaster1.xml" Id="Re26c0c9421224d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797ce3396a4c78" /><Relationship Type="http://schemas.openxmlformats.org/officeDocument/2006/relationships/notesMaster" Target="/ppt/notesMasters/notesMaster1.xml" Id="R740188d5057e4f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ab80df551d4d30" /><Relationship Type="http://schemas.openxmlformats.org/officeDocument/2006/relationships/notesMaster" Target="/ppt/notesMasters/notesMaster1.xml" Id="R67d4df373a3c48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21f03724314cee" /><Relationship Type="http://schemas.openxmlformats.org/officeDocument/2006/relationships/notesMaster" Target="/ppt/notesMasters/notesMaster1.xml" Id="R1707dd58054a48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f84c30e3a04862" /><Relationship Type="http://schemas.openxmlformats.org/officeDocument/2006/relationships/notesMaster" Target="/ppt/notesMasters/notesMaster1.xml" Id="Rd64118541fb546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47c26330b34d18" /><Relationship Type="http://schemas.openxmlformats.org/officeDocument/2006/relationships/notesMaster" Target="/ppt/notesMasters/notesMaster1.xml" Id="R44bfbbe0b2724f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7795f137a94dc3" /><Relationship Type="http://schemas.openxmlformats.org/officeDocument/2006/relationships/notesMaster" Target="/ppt/notesMasters/notesMaster1.xml" Id="Rd3b7b54ed51744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e8ad1b012c42d5" /><Relationship Type="http://schemas.openxmlformats.org/officeDocument/2006/relationships/notesMaster" Target="/ppt/notesMasters/notesMaster1.xml" Id="R6537732b758f48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49deebb0604bb9" /><Relationship Type="http://schemas.openxmlformats.org/officeDocument/2006/relationships/notesMaster" Target="/ppt/notesMasters/notesMaster1.xml" Id="Rde60b00a10a54c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bdbcc365d04adb" /><Relationship Type="http://schemas.openxmlformats.org/officeDocument/2006/relationships/notesMaster" Target="/ppt/notesMasters/notesMaster1.xml" Id="R5c8fbaaab95b47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9cbc0912a34dd8" /><Relationship Type="http://schemas.openxmlformats.org/officeDocument/2006/relationships/notesMaster" Target="/ppt/notesMasters/notesMaster1.xml" Id="R3ed6bd4eb80241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24cc742ff94b5a" /><Relationship Type="http://schemas.openxmlformats.org/officeDocument/2006/relationships/notesMaster" Target="/ppt/notesMasters/notesMaster1.xml" Id="R43cc4369a6f546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6a9dd7f58646b9" /><Relationship Type="http://schemas.openxmlformats.org/officeDocument/2006/relationships/notesMaster" Target="/ppt/notesMasters/notesMaster1.xml" Id="Raec32a2873e947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3c88059b104bea" /><Relationship Type="http://schemas.openxmlformats.org/officeDocument/2006/relationships/notesMaster" Target="/ppt/notesMasters/notesMaster1.xml" Id="R4c4b37a932b245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b194d17994c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690cb73a9c4b06" /><Relationship Type="http://schemas.openxmlformats.org/officeDocument/2006/relationships/slideLayout" Target="/ppt/slideLayouts/slideLayout1.xml" Id="Rf23847fbc92d45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3847fbc92d45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c9281977d45c3" /><Relationship Type="http://schemas.openxmlformats.org/officeDocument/2006/relationships/notesSlide" Target="/ppt/notesSlides/notesSlide1.xml" Id="Rfb13f90135324a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670fc2d4e4e9a" /><Relationship Type="http://schemas.openxmlformats.org/officeDocument/2006/relationships/notesSlide" Target="/ppt/notesSlides/notesSlide2.xml" Id="R74e7d2b02ab741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803fbfc3040f1" /><Relationship Type="http://schemas.openxmlformats.org/officeDocument/2006/relationships/notesSlide" Target="/ppt/notesSlides/notesSlide3.xml" Id="R90ba3d6485ca47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cd91d83fe4f6b" /><Relationship Type="http://schemas.openxmlformats.org/officeDocument/2006/relationships/notesSlide" Target="/ppt/notesSlides/notesSlide4.xml" Id="R130ee41030714b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b658079534c91" /><Relationship Type="http://schemas.openxmlformats.org/officeDocument/2006/relationships/notesSlide" Target="/ppt/notesSlides/notesSlide5.xml" Id="R49562647894047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26ff5a0564094" /><Relationship Type="http://schemas.openxmlformats.org/officeDocument/2006/relationships/notesSlide" Target="/ppt/notesSlides/notesSlide6.xml" Id="R176bb9eaebce43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d1db568da4dda" /><Relationship Type="http://schemas.openxmlformats.org/officeDocument/2006/relationships/image" Target="/ppt/media/image.jpeg" Id="Rd8ffd2ac85ed4d71" /><Relationship Type="http://schemas.openxmlformats.org/officeDocument/2006/relationships/image" Target="/ppt/media/image2.jpeg" Id="Rb383ba4e456e4675" /><Relationship Type="http://schemas.openxmlformats.org/officeDocument/2006/relationships/image" Target="/ppt/media/image3.jpeg" Id="R2f9b8874dadb4a9e" /><Relationship Type="http://schemas.openxmlformats.org/officeDocument/2006/relationships/notesSlide" Target="/ppt/notesSlides/notesSlide7.xml" Id="Rac417081299a47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e4ebd3d9b4b6f" /><Relationship Type="http://schemas.openxmlformats.org/officeDocument/2006/relationships/notesSlide" Target="/ppt/notesSlides/notesSlide8.xml" Id="R2e25bff647b846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061bb07254f4d" /><Relationship Type="http://schemas.openxmlformats.org/officeDocument/2006/relationships/notesSlide" Target="/ppt/notesSlides/notesSlide9.xml" Id="R5a799ebf041446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6ed2796554bf2" /><Relationship Type="http://schemas.openxmlformats.org/officeDocument/2006/relationships/notesSlide" Target="/ppt/notesSlides/notesSlide10.xml" Id="R188fff00bb404e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d61fcd7b5493d" /><Relationship Type="http://schemas.openxmlformats.org/officeDocument/2006/relationships/notesSlide" Target="/ppt/notesSlides/notesSlide11.xml" Id="R03e2b71f36e243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802508fa747bc" /><Relationship Type="http://schemas.openxmlformats.org/officeDocument/2006/relationships/notesSlide" Target="/ppt/notesSlides/notesSlide12.xml" Id="R85d9544e374642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9a3e4a6654a6a" /><Relationship Type="http://schemas.openxmlformats.org/officeDocument/2006/relationships/image" Target="/ppt/media/image.png" Id="Rc00799c2010c43f3" /><Relationship Type="http://schemas.openxmlformats.org/officeDocument/2006/relationships/notesSlide" Target="/ppt/notesSlides/notesSlide13.xml" Id="R22275543a6e540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7521c67df4297" /><Relationship Type="http://schemas.openxmlformats.org/officeDocument/2006/relationships/notesSlide" Target="/ppt/notesSlides/notesSlide14.xml" Id="Radacd88ac3d84b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53060d1354cd0" /><Relationship Type="http://schemas.openxmlformats.org/officeDocument/2006/relationships/notesSlide" Target="/ppt/notesSlides/notesSlide15.xml" Id="R61855e4d75d843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596D452-33B1-4740-85BD-FC919AA6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SPRING CLOUD 课程项目 · 2026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9ACEAF6-9D47-48FB-A67A-B8BB6740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67DB346-4236-4E3C-BBE7-9E631D60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AI 求职雷达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355593A-4B46-4F6B-BEBE-1C92A07F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课程框架重制版</a:t>
            </a:r>
          </a:p>
        </p:txBody>
      </p:sp>
      <p:sp>
        <p:nvSpPr>
          <p:cNvPr id="5" name="cover-desc">
            <a:extLst xmlns:a="http://schemas.openxmlformats.org/drawingml/2006/main">
              <a:ext uri="{FF2B5EF4-FFF2-40B4-BE49-F238E27FC236}">
                <a16:creationId xmlns:a16="http://schemas.microsoft.com/office/drawing/2014/main" id="{355E1A6B-676C-41B4-BF83-0D4EBFBC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从职位发现、智能匹配到投递、模拟面试与异步通知的完整求职闭环</a:t>
            </a:r>
          </a:p>
        </p:txBody>
      </p:sp>
      <p:sp>
        <p:nvSpPr>
          <p:cNvPr id="6" name="pill-7 个微服务">
            <a:extLst xmlns:a="http://schemas.openxmlformats.org/drawingml/2006/main">
              <a:ext uri="{FF2B5EF4-FFF2-40B4-BE49-F238E27FC236}">
                <a16:creationId xmlns:a16="http://schemas.microsoft.com/office/drawing/2014/main" id="{1D9D363B-9E3F-4445-9997-FF4C3A40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276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ill-text-7 个微服务">
            <a:extLst xmlns:a="http://schemas.openxmlformats.org/drawingml/2006/main">
              <a:ext uri="{FF2B5EF4-FFF2-40B4-BE49-F238E27FC236}">
                <a16:creationId xmlns:a16="http://schemas.microsoft.com/office/drawing/2014/main" id="{755A404F-2B54-4044-8938-1C602CD7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7 个微服务</a:t>
            </a:r>
          </a:p>
        </p:txBody>
      </p:sp>
      <p:sp>
        <p:nvSpPr>
          <p:cNvPr id="8" name="pill-6 个业务模块">
            <a:extLst xmlns:a="http://schemas.openxmlformats.org/drawingml/2006/main">
              <a:ext uri="{FF2B5EF4-FFF2-40B4-BE49-F238E27FC236}">
                <a16:creationId xmlns:a16="http://schemas.microsoft.com/office/drawing/2014/main" id="{7BB3EBC5-C199-45D3-A934-2D65B35E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ill-text-6 个业务模块">
            <a:extLst xmlns:a="http://schemas.openxmlformats.org/drawingml/2006/main">
              <a:ext uri="{FF2B5EF4-FFF2-40B4-BE49-F238E27FC236}">
                <a16:creationId xmlns:a16="http://schemas.microsoft.com/office/drawing/2014/main" id="{5ACFD9AA-3A06-485E-90CF-5C6AD1E5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6 个业务模块</a:t>
            </a:r>
          </a:p>
        </p:txBody>
      </p:sp>
      <p:sp>
        <p:nvSpPr>
          <p:cNvPr id="10" name="pill-36 项自动化测试">
            <a:extLst xmlns:a="http://schemas.openxmlformats.org/drawingml/2006/main">
              <a:ext uri="{FF2B5EF4-FFF2-40B4-BE49-F238E27FC236}">
                <a16:creationId xmlns:a16="http://schemas.microsoft.com/office/drawing/2014/main" id="{0F7D14A7-FEE9-4394-B39F-D974D92B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197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ill-text-36 项自动化测试">
            <a:extLst xmlns:a="http://schemas.openxmlformats.org/drawingml/2006/main">
              <a:ext uri="{FF2B5EF4-FFF2-40B4-BE49-F238E27FC236}">
                <a16:creationId xmlns:a16="http://schemas.microsoft.com/office/drawing/2014/main" id="{D6A4D6DF-110E-4997-8625-452AA18D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578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36 项自动化测试</a:t>
            </a:r>
          </a:p>
        </p:txBody>
      </p:sp>
      <p:sp>
        <p:nvSpPr>
          <p:cNvPr id="12" name="cover-team">
            <a:extLst xmlns:a="http://schemas.openxmlformats.org/drawingml/2006/main">
              <a:ext uri="{FF2B5EF4-FFF2-40B4-BE49-F238E27FC236}">
                <a16:creationId xmlns:a16="http://schemas.microsoft.com/office/drawing/2014/main" id="{283AFDEF-5FBB-4A21-872E-5CD91601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19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答辩小组｜成员一（队长） · 成员二 · 成员三 · 成员四 · 成员五 · 成员六</a:t>
            </a:r>
          </a:p>
        </p:txBody>
      </p:sp>
    </p:spTree>
    <p:extLst>
      <p:ext uri="{BB962C8B-B14F-4D97-AF65-F5344CB8AC3E}">
        <p14:creationId xmlns:p14="http://schemas.microsoft.com/office/powerpoint/2010/main" val="35242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4EB05F30-7D4C-4D70-82C9-BC1BED53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JOB RADAR · COURSE DEFENSE</a:t>
            </a:r>
          </a:p>
        </p:txBody>
      </p:sp>
      <p:sp>
        <p:nvSpPr>
          <p:cNvPr id="2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EA624D6E-D3BC-4597-8593-0AC5D5D4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不是功能堆砌，而是一条可现场演示的求职闭环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08B40CFC-C4D5-4F3A-A04D-DDC304B7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FD4265F7-B5F3-4739-AD33-83C9A0EF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782881-72B3-4971-85F0-A32D91FA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课程考查的核心，是把业务问题落到课堂技术路线中。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92614D8-EA55-4B87-8410-7C962F08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我们保留原项目最有价值的体验，并主动收敛功能范围：每个页面都能找到对应服务、数据与技术证据。</a:t>
            </a:r>
          </a:p>
        </p:txBody>
      </p:sp>
      <p:sp>
        <p:nvSpPr>
          <p:cNvPr id="7" name="pill-可演示">
            <a:extLst xmlns:a="http://schemas.openxmlformats.org/drawingml/2006/main">
              <a:ext uri="{FF2B5EF4-FFF2-40B4-BE49-F238E27FC236}">
                <a16:creationId xmlns:a16="http://schemas.microsoft.com/office/drawing/2014/main" id="{314603E9-1E49-48B0-807A-FE9A37B2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ill-text-可演示">
            <a:extLst xmlns:a="http://schemas.openxmlformats.org/drawingml/2006/main">
              <a:ext uri="{FF2B5EF4-FFF2-40B4-BE49-F238E27FC236}">
                <a16:creationId xmlns:a16="http://schemas.microsoft.com/office/drawing/2014/main" id="{5E82FDA7-2CC9-4C29-ADB3-E9538F31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可演示</a:t>
            </a:r>
          </a:p>
        </p:txBody>
      </p:sp>
      <p:sp>
        <p:nvSpPr>
          <p:cNvPr id="9" name="pill-可解释">
            <a:extLst xmlns:a="http://schemas.openxmlformats.org/drawingml/2006/main">
              <a:ext uri="{FF2B5EF4-FFF2-40B4-BE49-F238E27FC236}">
                <a16:creationId xmlns:a16="http://schemas.microsoft.com/office/drawing/2014/main" id="{734F9203-90F5-4BEF-BC8B-6D009375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957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ill-text-可解释">
            <a:extLst xmlns:a="http://schemas.openxmlformats.org/drawingml/2006/main">
              <a:ext uri="{FF2B5EF4-FFF2-40B4-BE49-F238E27FC236}">
                <a16:creationId xmlns:a16="http://schemas.microsoft.com/office/drawing/2014/main" id="{FAD787A1-3C75-4B4A-A8F4-D368C635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338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可解释</a:t>
            </a:r>
          </a:p>
        </p:txBody>
      </p:sp>
      <p:sp>
        <p:nvSpPr>
          <p:cNvPr id="11" name="pill-可分工">
            <a:extLst xmlns:a="http://schemas.openxmlformats.org/drawingml/2006/main">
              <a:ext uri="{FF2B5EF4-FFF2-40B4-BE49-F238E27FC236}">
                <a16:creationId xmlns:a16="http://schemas.microsoft.com/office/drawing/2014/main" id="{054C5FFC-6765-4555-927F-BDAE8546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ill-text-可分工">
            <a:extLst xmlns:a="http://schemas.openxmlformats.org/drawingml/2006/main">
              <a:ext uri="{FF2B5EF4-FFF2-40B4-BE49-F238E27FC236}">
                <a16:creationId xmlns:a16="http://schemas.microsoft.com/office/drawing/2014/main" id="{F1E9AD66-B9BC-4E50-9545-75641F96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338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可分工</a:t>
            </a:r>
          </a:p>
        </p:txBody>
      </p:sp>
      <p:sp>
        <p:nvSpPr>
          <p:cNvPr id="13" name="pain-0">
            <a:extLst xmlns:a="http://schemas.openxmlformats.org/drawingml/2006/main">
              <a:ext uri="{FF2B5EF4-FFF2-40B4-BE49-F238E27FC236}">
                <a16:creationId xmlns:a16="http://schemas.microsoft.com/office/drawing/2014/main" id="{6113BFDA-AC9D-42BF-B8E0-08979DF2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5505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E77318F-28C1-4F22-AECB-01AD9232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66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EA5EE93-62CA-4263-ADAF-561BB98B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47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职位信息分散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2040397-7717-4221-924A-C517D7AA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搜索与条件筛选统一入口</a:t>
            </a:r>
          </a:p>
        </p:txBody>
      </p:sp>
      <p:sp>
        <p:nvSpPr>
          <p:cNvPr id="17" name="pain-1">
            <a:extLst xmlns:a="http://schemas.openxmlformats.org/drawingml/2006/main">
              <a:ext uri="{FF2B5EF4-FFF2-40B4-BE49-F238E27FC236}">
                <a16:creationId xmlns:a16="http://schemas.microsoft.com/office/drawing/2014/main" id="{6BEF74CC-073F-4BD8-B7D2-D25E8FA5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5505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5C0FEFE-B1EB-4B20-BA46-0E3E1A3A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194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3658B31-27D9-4B3A-B73E-DE49D640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00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求职决策缺少反馈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BB91F37-BF7F-4C48-A16E-69BE7CC4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0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匹配度、收藏和投递状态可追踪</a:t>
            </a:r>
          </a:p>
        </p:txBody>
      </p:sp>
      <p:sp>
        <p:nvSpPr>
          <p:cNvPr id="21" name="pain-2">
            <a:extLst xmlns:a="http://schemas.openxmlformats.org/drawingml/2006/main">
              <a:ext uri="{FF2B5EF4-FFF2-40B4-BE49-F238E27FC236}">
                <a16:creationId xmlns:a16="http://schemas.microsoft.com/office/drawing/2014/main" id="{16EB8AB9-8629-453C-B5A1-8720C8F6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81500"/>
            <a:ext cx="5505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0ACE304-C175-470B-9197-7EF0DC11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4459F55-43D7-48A7-9445-04981224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52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练习与结果割裂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CEDA3D6-36AF-4902-B86E-148F63D1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53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四题模拟面试与通知闭环</a:t>
            </a:r>
          </a:p>
        </p:txBody>
      </p:sp>
    </p:spTree>
    <p:extLst>
      <p:ext uri="{BB962C8B-B14F-4D97-AF65-F5344CB8AC3E}">
        <p14:creationId xmlns:p14="http://schemas.microsoft.com/office/powerpoint/2010/main" val="1439239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D427D416-66B0-48F0-8215-19F12B7A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JOB RADAR · COURSE DEFENSE</a:t>
            </a:r>
          </a:p>
        </p:txBody>
      </p:sp>
      <p:sp>
        <p:nvSpPr>
          <p:cNvPr id="2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00539AFD-59DA-4396-94C5-79C2947A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六步业务闭环，正好对应六个端到端模块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0C84CFFE-001F-4BA9-B9B0-91CC0ECC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3">
            <a:extLst xmlns:a="http://schemas.openxmlformats.org/drawingml/2006/main">
              <a:ext uri="{FF2B5EF4-FFF2-40B4-BE49-F238E27FC236}">
                <a16:creationId xmlns:a16="http://schemas.microsoft.com/office/drawing/2014/main" id="{500BF4CA-CFED-4D4D-9483-452D0122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loop-0">
            <a:extLst xmlns:a="http://schemas.openxmlformats.org/drawingml/2006/main">
              <a:ext uri="{FF2B5EF4-FFF2-40B4-BE49-F238E27FC236}">
                <a16:creationId xmlns:a16="http://schemas.microsoft.com/office/drawing/2014/main" id="{2D26F5B9-2665-4777-9DC5-6B2F60BE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1619250" cy="24193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B4C499-7F9C-4E88-BE63-470F73AF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62AD693-31ED-4BC9-997E-A588AF30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用户画像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CF12315-2343-4995-815F-FC16B804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登录、资料、求职偏好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297946F5-4E7B-4816-B262-9F95ADFF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670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loop-1">
            <a:extLst xmlns:a="http://schemas.openxmlformats.org/drawingml/2006/main">
              <a:ext uri="{FF2B5EF4-FFF2-40B4-BE49-F238E27FC236}">
                <a16:creationId xmlns:a16="http://schemas.microsoft.com/office/drawing/2014/main" id="{2C8FBF45-3EE0-48EB-B00D-88B31047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14550"/>
            <a:ext cx="1619250" cy="24193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135B618-4F32-456B-9523-2CD114CA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241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7990CC0-F6E8-4934-9D53-CB2FE5AC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765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职位雷达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6A4FEC8-B325-4AF4-A94B-A04DBF85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052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搜索、筛选、详情</a:t>
            </a:r>
          </a:p>
        </p:txBody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594E3E02-DF29-43EC-B336-E826EC06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loop-2">
            <a:extLst xmlns:a="http://schemas.openxmlformats.org/drawingml/2006/main">
              <a:ext uri="{FF2B5EF4-FFF2-40B4-BE49-F238E27FC236}">
                <a16:creationId xmlns:a16="http://schemas.microsoft.com/office/drawing/2014/main" id="{DE8379C7-8716-4BB4-A56C-A22FA087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14550"/>
            <a:ext cx="1619250" cy="24193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8B745B5-3CAA-4200-A6C2-C3B5B206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A0DAD5C-AACB-4246-B6A1-069A6E2F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765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智能匹配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AC6FE56-EF48-49BC-832D-0C569B75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052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画像与职位评分</a:t>
            </a:r>
          </a:p>
        </p:txBody>
      </p:sp>
      <p:sp>
        <p:nvSpPr>
          <p:cNvPr id="19" name="arrow">
            <a:extLst xmlns:a="http://schemas.openxmlformats.org/drawingml/2006/main">
              <a:ext uri="{FF2B5EF4-FFF2-40B4-BE49-F238E27FC236}">
                <a16:creationId xmlns:a16="http://schemas.microsoft.com/office/drawing/2014/main" id="{93CBF8EC-FFD3-46D1-82AB-71E7AA41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670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loop-3">
            <a:extLst xmlns:a="http://schemas.openxmlformats.org/drawingml/2006/main">
              <a:ext uri="{FF2B5EF4-FFF2-40B4-BE49-F238E27FC236}">
                <a16:creationId xmlns:a16="http://schemas.microsoft.com/office/drawing/2014/main" id="{C3188F54-653B-4286-BC37-23D65AB6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1619250" cy="24193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3A69E04-D87D-47D3-955E-DAB3CE9C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C64F5FA-40EE-4BBE-B35C-C4FB6AD4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求职行动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56A8355-96D8-4E88-8B08-7E0FE988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收藏、投递、状态</a:t>
            </a:r>
          </a:p>
        </p:txBody>
      </p:sp>
      <p:sp>
        <p:nvSpPr>
          <p:cNvPr id="24" name="arrow">
            <a:extLst xmlns:a="http://schemas.openxmlformats.org/drawingml/2006/main">
              <a:ext uri="{FF2B5EF4-FFF2-40B4-BE49-F238E27FC236}">
                <a16:creationId xmlns:a16="http://schemas.microsoft.com/office/drawing/2014/main" id="{390B58E6-2738-49AD-AF71-1FDA3547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670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loop-4">
            <a:extLst xmlns:a="http://schemas.openxmlformats.org/drawingml/2006/main">
              <a:ext uri="{FF2B5EF4-FFF2-40B4-BE49-F238E27FC236}">
                <a16:creationId xmlns:a16="http://schemas.microsoft.com/office/drawing/2014/main" id="{30559721-3100-4285-8C35-18CFDCC1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1619250" cy="24193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74324DB-A247-4CC8-8DF5-AC64BCBA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F2C2802-F612-4650-9E59-AB34C0EA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模拟面试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1553773-D7A7-4572-8094-A79D9DEB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052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 题作答与评分</a:t>
            </a:r>
          </a:p>
        </p:txBody>
      </p:sp>
      <p:sp>
        <p:nvSpPr>
          <p:cNvPr id="29" name="arrow">
            <a:extLst xmlns:a="http://schemas.openxmlformats.org/drawingml/2006/main">
              <a:ext uri="{FF2B5EF4-FFF2-40B4-BE49-F238E27FC236}">
                <a16:creationId xmlns:a16="http://schemas.microsoft.com/office/drawing/2014/main" id="{689A306C-0F65-4A7A-B451-521C6712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670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loop-5">
            <a:extLst xmlns:a="http://schemas.openxmlformats.org/drawingml/2006/main">
              <a:ext uri="{FF2B5EF4-FFF2-40B4-BE49-F238E27FC236}">
                <a16:creationId xmlns:a16="http://schemas.microsoft.com/office/drawing/2014/main" id="{FB6556E2-2F30-485E-898F-70136FE8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14550"/>
            <a:ext cx="1619250" cy="24193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C6DCAF1-52D2-4A6F-A958-ABD52644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241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CA71AA0-1B4B-425F-96B6-FF2E541E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765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消息中心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ABE8223-EF33-48FE-B74B-08D22E1B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052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异步通知、已读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5C4DFD7-C752-4664-A2E8-A11EDDD9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业务数据在 MySQL 中沉淀，热点查询由 Redis 加速，投递事件经 RabbitMQ 驱动通知。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B9AF53C6-3108-492E-BFB7-5D81E68A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每位成员负责一个业务模块的前端页面、后端接口、数据表与测试。</a:t>
            </a:r>
          </a:p>
        </p:txBody>
      </p:sp>
    </p:spTree>
    <p:extLst>
      <p:ext uri="{BB962C8B-B14F-4D97-AF65-F5344CB8AC3E}">
        <p14:creationId xmlns:p14="http://schemas.microsoft.com/office/powerpoint/2010/main" val="697677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EE450B8F-6C67-4B80-A4DB-AF4BC343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JOB RADAR · COURSE DEFENSE</a:t>
            </a:r>
          </a:p>
        </p:txBody>
      </p:sp>
      <p:sp>
        <p:nvSpPr>
          <p:cNvPr id="2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70EC4141-0681-4E7E-B3A5-05664BBB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所有必选技术都进入主业务链路，而不是只写在依赖里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D1AF232A-7E3E-4112-A603-228075B8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4">
            <a:extLst xmlns:a="http://schemas.openxmlformats.org/drawingml/2006/main">
              <a:ext uri="{FF2B5EF4-FFF2-40B4-BE49-F238E27FC236}">
                <a16:creationId xmlns:a16="http://schemas.microsoft.com/office/drawing/2014/main" id="{29C657C1-8AED-499F-AFBB-C917BA00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stack-0">
            <a:extLst xmlns:a="http://schemas.openxmlformats.org/drawingml/2006/main">
              <a:ext uri="{FF2B5EF4-FFF2-40B4-BE49-F238E27FC236}">
                <a16:creationId xmlns:a16="http://schemas.microsoft.com/office/drawing/2014/main" id="{77639DD1-70D9-473A-923E-25439400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stack-accent-0">
            <a:extLst xmlns:a="http://schemas.openxmlformats.org/drawingml/2006/main">
              <a:ext uri="{FF2B5EF4-FFF2-40B4-BE49-F238E27FC236}">
                <a16:creationId xmlns:a16="http://schemas.microsoft.com/office/drawing/2014/main" id="{CC2E52D5-5216-44A7-9D12-22853A5C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1CB9F8D-346A-4122-9416-649F4666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前端交互层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2CD25C8-E918-4EFC-8627-263BAB8E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192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Vue 3 · Vite · Axios · Node.js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7BB0C8E-D8E5-4920-A4E0-EB383E95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478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职位、投递、面试、消息中心</a:t>
            </a:r>
          </a:p>
        </p:txBody>
      </p:sp>
      <p:sp>
        <p:nvSpPr>
          <p:cNvPr id="10" name="stack-1">
            <a:extLst xmlns:a="http://schemas.openxmlformats.org/drawingml/2006/main">
              <a:ext uri="{FF2B5EF4-FFF2-40B4-BE49-F238E27FC236}">
                <a16:creationId xmlns:a16="http://schemas.microsoft.com/office/drawing/2014/main" id="{2B5317BC-7484-4CEA-8543-980ABE86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1277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stack-accent-1">
            <a:extLst xmlns:a="http://schemas.openxmlformats.org/drawingml/2006/main">
              <a:ext uri="{FF2B5EF4-FFF2-40B4-BE49-F238E27FC236}">
                <a16:creationId xmlns:a16="http://schemas.microsoft.com/office/drawing/2014/main" id="{3A0F1EEB-844F-4B2E-B89C-04D80C5F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1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4461180-3EE4-4CC8-A9D6-093E9940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rPr>
              <a:t>统一入口层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E6474D2-87BA-444D-A407-75D3B629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860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Spring Cloud Gateway · Nacos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99FCD10-2062-4823-B7EA-62A1614A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路由转发、服务发现、跨域</a:t>
            </a:r>
          </a:p>
        </p:txBody>
      </p:sp>
      <p:sp>
        <p:nvSpPr>
          <p:cNvPr id="15" name="stack-2">
            <a:extLst xmlns:a="http://schemas.openxmlformats.org/drawingml/2006/main">
              <a:ext uri="{FF2B5EF4-FFF2-40B4-BE49-F238E27FC236}">
                <a16:creationId xmlns:a16="http://schemas.microsoft.com/office/drawing/2014/main" id="{EFD05D5B-D289-41FB-B807-50C49691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77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stack-accent-2">
            <a:extLst xmlns:a="http://schemas.openxmlformats.org/drawingml/2006/main">
              <a:ext uri="{FF2B5EF4-FFF2-40B4-BE49-F238E27FC236}">
                <a16:creationId xmlns:a16="http://schemas.microsoft.com/office/drawing/2014/main" id="{A6A88987-505E-467B-96EB-9572ED57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4BE6247-02E8-4B33-8979-00E47ED4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业务服务层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B2F3494-B258-4C10-95B8-DC654494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528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85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Spring Boot · Spring · Spring MVC · OpenFeign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F4BDD11-6FD2-44C0-A202-F10DE46E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814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 个服务协作完成求职闭环</a:t>
            </a:r>
          </a:p>
        </p:txBody>
      </p:sp>
      <p:sp>
        <p:nvSpPr>
          <p:cNvPr id="20" name="stack-3">
            <a:extLst xmlns:a="http://schemas.openxmlformats.org/drawingml/2006/main">
              <a:ext uri="{FF2B5EF4-FFF2-40B4-BE49-F238E27FC236}">
                <a16:creationId xmlns:a16="http://schemas.microsoft.com/office/drawing/2014/main" id="{334F6D2C-0EC6-4992-A605-0E2FD791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11277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stack-accent-3">
            <a:extLst xmlns:a="http://schemas.openxmlformats.org/drawingml/2006/main">
              <a:ext uri="{FF2B5EF4-FFF2-40B4-BE49-F238E27FC236}">
                <a16:creationId xmlns:a16="http://schemas.microsoft.com/office/drawing/2014/main" id="{96210765-7B61-41C6-B7AD-888021B3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11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AF8EF49-66F7-4DD2-A3CA-2FB0C58F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数据与消息层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8D2B75F-8B73-46E8-966C-EE9D00D9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96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MyBatis Plus · MySQL · Redis · RabbitMQ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0817807-5187-4E0C-AA3D-D437437D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482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持久化、缓存、异步事件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1392FAF-A0FE-487D-8901-BCC6282D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技术取舍：未引入 Elasticsearch 与 Docker，减少答辩现场依赖，把稳定性留给必选技术。</a:t>
            </a:r>
          </a:p>
        </p:txBody>
      </p:sp>
    </p:spTree>
    <p:extLst>
      <p:ext uri="{BB962C8B-B14F-4D97-AF65-F5344CB8AC3E}">
        <p14:creationId xmlns:p14="http://schemas.microsoft.com/office/powerpoint/2010/main" val="614428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E6AE6F28-9C19-4388-A245-3D530972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JOB RADAR · COURSE DEFENSE</a:t>
            </a:r>
          </a:p>
        </p:txBody>
      </p:sp>
      <p:sp>
        <p:nvSpPr>
          <p:cNvPr id="2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0FA6ED8D-7F6E-47E3-B797-5CD99D1C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Gateway 统一入口，Nacos 发现服务，数据与消息各司其职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B0E15F32-3DF0-432A-B156-8B64F67E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5">
            <a:extLst xmlns:a="http://schemas.openxmlformats.org/drawingml/2006/main">
              <a:ext uri="{FF2B5EF4-FFF2-40B4-BE49-F238E27FC236}">
                <a16:creationId xmlns:a16="http://schemas.microsoft.com/office/drawing/2014/main" id="{E54FF51A-3902-45CB-B0A1-741FFFA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frontend">
            <a:extLst xmlns:a="http://schemas.openxmlformats.org/drawingml/2006/main">
              <a:ext uri="{FF2B5EF4-FFF2-40B4-BE49-F238E27FC236}">
                <a16:creationId xmlns:a16="http://schemas.microsoft.com/office/drawing/2014/main" id="{171C0AAF-F4A2-4AFD-BB4B-DC30B289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1847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7A2A90D-2CB8-4592-856B-728B63AE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Vue 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154739-149B-439B-BC7E-7850E8FA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Node.js / Vite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EEBD6023-862E-4291-ABFE-8933501D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05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gateway">
            <a:extLst xmlns:a="http://schemas.openxmlformats.org/drawingml/2006/main">
              <a:ext uri="{FF2B5EF4-FFF2-40B4-BE49-F238E27FC236}">
                <a16:creationId xmlns:a16="http://schemas.microsoft.com/office/drawing/2014/main" id="{57F63529-C5EB-4698-98C3-F751866A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57375"/>
            <a:ext cx="1847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C44DC3-C7F2-4EE9-B554-7C152479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rPr>
              <a:t>Gateway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6C4AF78-C793-4621-9590-80E5F99A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289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9000 · 7 条路由</a:t>
            </a:r>
          </a:p>
        </p:txBody>
      </p:sp>
      <p:sp>
        <p:nvSpPr>
          <p:cNvPr id="12" name="arrow">
            <a:extLst xmlns:a="http://schemas.openxmlformats.org/drawingml/2006/main">
              <a:ext uri="{FF2B5EF4-FFF2-40B4-BE49-F238E27FC236}">
                <a16:creationId xmlns:a16="http://schemas.microsoft.com/office/drawing/2014/main" id="{ECFE338F-F47D-499C-BCD5-F4F53302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05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services">
            <a:extLst xmlns:a="http://schemas.openxmlformats.org/drawingml/2006/main">
              <a:ext uri="{FF2B5EF4-FFF2-40B4-BE49-F238E27FC236}">
                <a16:creationId xmlns:a16="http://schemas.microsoft.com/office/drawing/2014/main" id="{CEA0E838-146B-49D5-BD1A-ADC034E4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81150"/>
            <a:ext cx="57531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9C34AD7-9A68-49AD-B2B0-BCCE708E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Nacos 服务发现</a:t>
            </a:r>
          </a:p>
        </p:txBody>
      </p:sp>
      <p:sp>
        <p:nvSpPr>
          <p:cNvPr id="15" name="svc-0">
            <a:extLst xmlns:a="http://schemas.openxmlformats.org/drawingml/2006/main">
              <a:ext uri="{FF2B5EF4-FFF2-40B4-BE49-F238E27FC236}">
                <a16:creationId xmlns:a16="http://schemas.microsoft.com/office/drawing/2014/main" id="{EBF36066-C833-4577-BD31-16C6E975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8060DA4-6DF1-4ADD-B9EE-7AE7812C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user 9001</a:t>
            </a:r>
          </a:p>
        </p:txBody>
      </p:sp>
      <p:sp>
        <p:nvSpPr>
          <p:cNvPr id="17" name="svc-1">
            <a:extLst xmlns:a="http://schemas.openxmlformats.org/drawingml/2006/main">
              <a:ext uri="{FF2B5EF4-FFF2-40B4-BE49-F238E27FC236}">
                <a16:creationId xmlns:a16="http://schemas.microsoft.com/office/drawing/2014/main" id="{2CE8FCFC-8720-4217-898A-8554F9E0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2885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FE205BB-DD98-4C5B-AFE0-916D7852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job 9002</a:t>
            </a:r>
          </a:p>
        </p:txBody>
      </p:sp>
      <p:sp>
        <p:nvSpPr>
          <p:cNvPr id="19" name="svc-2">
            <a:extLst xmlns:a="http://schemas.openxmlformats.org/drawingml/2006/main">
              <a:ext uri="{FF2B5EF4-FFF2-40B4-BE49-F238E27FC236}">
                <a16:creationId xmlns:a16="http://schemas.microsoft.com/office/drawing/2014/main" id="{D0316B4D-5166-4391-927F-44085E1C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2885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8039CF3-CEB3-454D-8C13-93EA1507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19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match 9003</a:t>
            </a:r>
          </a:p>
        </p:txBody>
      </p:sp>
      <p:sp>
        <p:nvSpPr>
          <p:cNvPr id="21" name="svc-3">
            <a:extLst xmlns:a="http://schemas.openxmlformats.org/drawingml/2006/main">
              <a:ext uri="{FF2B5EF4-FFF2-40B4-BE49-F238E27FC236}">
                <a16:creationId xmlns:a16="http://schemas.microsoft.com/office/drawing/2014/main" id="{1A3C3605-039E-47F3-AB00-52340FFB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04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A644A46-638E-42A5-89E6-845B7EFA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909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016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application 9004</a:t>
            </a:r>
          </a:p>
        </p:txBody>
      </p:sp>
      <p:sp>
        <p:nvSpPr>
          <p:cNvPr id="23" name="svc-4">
            <a:extLst xmlns:a="http://schemas.openxmlformats.org/drawingml/2006/main">
              <a:ext uri="{FF2B5EF4-FFF2-40B4-BE49-F238E27FC236}">
                <a16:creationId xmlns:a16="http://schemas.microsoft.com/office/drawing/2014/main" id="{7B0C7CD7-4D53-4A34-83E0-A8DEB7A7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B4BD990-CE79-4BCE-9B44-F17542E8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interview 9005</a:t>
            </a:r>
          </a:p>
        </p:txBody>
      </p:sp>
      <p:sp>
        <p:nvSpPr>
          <p:cNvPr id="25" name="svc-5">
            <a:extLst xmlns:a="http://schemas.openxmlformats.org/drawingml/2006/main">
              <a:ext uri="{FF2B5EF4-FFF2-40B4-BE49-F238E27FC236}">
                <a16:creationId xmlns:a16="http://schemas.microsoft.com/office/drawing/2014/main" id="{A60D16FB-52F2-4A0A-A648-BC39A5EE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004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95058CF-335F-4F6A-B23A-7572D075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909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59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notification 9006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B265F40-003F-4AF2-A56F-B2ED837A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529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OpenFeign：服务间调用</a:t>
            </a:r>
          </a:p>
        </p:txBody>
      </p:sp>
      <p:sp>
        <p:nvSpPr>
          <p:cNvPr id="28" name="data-0">
            <a:extLst xmlns:a="http://schemas.openxmlformats.org/drawingml/2006/main">
              <a:ext uri="{FF2B5EF4-FFF2-40B4-BE49-F238E27FC236}">
                <a16:creationId xmlns:a16="http://schemas.microsoft.com/office/drawing/2014/main" id="{6CF877EC-D5B2-4A7C-8C0E-8099D379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19700"/>
            <a:ext cx="21145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F1D6E30-67EF-4F20-9A0E-21AA3EE5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721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30" name="data-1">
            <a:extLst xmlns:a="http://schemas.openxmlformats.org/drawingml/2006/main">
              <a:ext uri="{FF2B5EF4-FFF2-40B4-BE49-F238E27FC236}">
                <a16:creationId xmlns:a16="http://schemas.microsoft.com/office/drawing/2014/main" id="{27EE8E5A-755F-41E3-A4C5-440C25FF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21145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4438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7A3DB6F4-BAF1-430A-A412-51FCCA88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721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32" name="data-2">
            <a:extLst xmlns:a="http://schemas.openxmlformats.org/drawingml/2006/main">
              <a:ext uri="{FF2B5EF4-FFF2-40B4-BE49-F238E27FC236}">
                <a16:creationId xmlns:a16="http://schemas.microsoft.com/office/drawing/2014/main" id="{2761D84E-CE7A-4132-ACD7-71D68A66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19700"/>
            <a:ext cx="21145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79009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6A0EE304-A456-4189-9CE5-B8FDB83C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721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RabbitMQ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41E5C89-20F0-4F1A-8D85-DEA150B9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0007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持久化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068A6239-ACD5-4A34-BF8B-A26726BF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0007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热点缓存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4EA686A-B9C3-467E-A7B1-59D45FC7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007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异步解耦</a:t>
            </a:r>
          </a:p>
        </p:txBody>
      </p:sp>
    </p:spTree>
    <p:extLst>
      <p:ext uri="{BB962C8B-B14F-4D97-AF65-F5344CB8AC3E}">
        <p14:creationId xmlns:p14="http://schemas.microsoft.com/office/powerpoint/2010/main" val="735434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01FF97B6-A064-4A89-ACEB-1EA7ECAA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JOB RADAR · COURSE DEFENSE</a:t>
            </a:r>
          </a:p>
        </p:txBody>
      </p:sp>
      <p:sp>
        <p:nvSpPr>
          <p:cNvPr id="2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8C63B1AE-FF50-444D-AB2E-9ED7A9CD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六名成员按业务模块分工，每人都有前后端与测试成果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295DCBC0-C6E8-49FC-95EA-313487D0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6">
            <a:extLst xmlns:a="http://schemas.openxmlformats.org/drawingml/2006/main">
              <a:ext uri="{FF2B5EF4-FFF2-40B4-BE49-F238E27FC236}">
                <a16:creationId xmlns:a16="http://schemas.microsoft.com/office/drawing/2014/main" id="{720ABC27-6640-4E92-8AF3-5881BF43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module-0">
            <a:extLst xmlns:a="http://schemas.openxmlformats.org/drawingml/2006/main">
              <a:ext uri="{FF2B5EF4-FFF2-40B4-BE49-F238E27FC236}">
                <a16:creationId xmlns:a16="http://schemas.microsoft.com/office/drawing/2014/main" id="{D71B00D1-DC65-4570-B183-20572542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6004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module-accent-0">
            <a:extLst xmlns:a="http://schemas.openxmlformats.org/drawingml/2006/main">
              <a:ext uri="{FF2B5EF4-FFF2-40B4-BE49-F238E27FC236}">
                <a16:creationId xmlns:a16="http://schemas.microsoft.com/office/drawing/2014/main" id="{C3AEE24A-17E4-475D-BAD8-61E44817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600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FECA71F-158A-43E1-8CBC-FAC181D7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成员一（队长）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A82A44-29B5-4E8A-8604-C43700B8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用户与画像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EA02513-18C8-4F6C-BFEB-0EF37C7B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登录 / JWT / 资料 / 偏好</a:t>
            </a:r>
          </a:p>
        </p:txBody>
      </p:sp>
      <p:sp>
        <p:nvSpPr>
          <p:cNvPr id="10" name="module-1">
            <a:extLst xmlns:a="http://schemas.openxmlformats.org/drawingml/2006/main">
              <a:ext uri="{FF2B5EF4-FFF2-40B4-BE49-F238E27FC236}">
                <a16:creationId xmlns:a16="http://schemas.microsoft.com/office/drawing/2014/main" id="{91A2AEAD-1A73-4BC7-A64E-9950BD11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36004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module-accent-1">
            <a:extLst xmlns:a="http://schemas.openxmlformats.org/drawingml/2006/main">
              <a:ext uri="{FF2B5EF4-FFF2-40B4-BE49-F238E27FC236}">
                <a16:creationId xmlns:a16="http://schemas.microsoft.com/office/drawing/2014/main" id="{5DC0F5DC-3C58-430D-8654-A26EBEA1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3600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66E95A4-C4D5-49D4-A15B-AE8EEE6F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240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rPr>
              <a:t>成员二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5495CDB-5CAB-43C0-89B8-D8C9533E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43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职位雷达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BB8C0D6-2C51-49E1-8477-2A42609C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检索 / 筛选 / 详情 / Redis</a:t>
            </a:r>
          </a:p>
        </p:txBody>
      </p:sp>
      <p:sp>
        <p:nvSpPr>
          <p:cNvPr id="15" name="module-2">
            <a:extLst xmlns:a="http://schemas.openxmlformats.org/drawingml/2006/main">
              <a:ext uri="{FF2B5EF4-FFF2-40B4-BE49-F238E27FC236}">
                <a16:creationId xmlns:a16="http://schemas.microsoft.com/office/drawing/2014/main" id="{2FDDD82D-0186-42B7-84F3-C27395FE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6004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module-accent-2">
            <a:extLst xmlns:a="http://schemas.openxmlformats.org/drawingml/2006/main">
              <a:ext uri="{FF2B5EF4-FFF2-40B4-BE49-F238E27FC236}">
                <a16:creationId xmlns:a16="http://schemas.microsoft.com/office/drawing/2014/main" id="{8695AEB4-286A-4505-8E95-F3BF285A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600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DDBDF84-7655-4082-B27C-4AF45FD2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成员三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8D3EEF0-0B84-4FE4-9147-6AFEE6DD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智能匹配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30816B0-03EB-4433-B1EC-6E3C0FBC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画像评分 / OpenFeign</a:t>
            </a:r>
          </a:p>
        </p:txBody>
      </p:sp>
      <p:sp>
        <p:nvSpPr>
          <p:cNvPr id="20" name="module-3">
            <a:extLst xmlns:a="http://schemas.openxmlformats.org/drawingml/2006/main">
              <a:ext uri="{FF2B5EF4-FFF2-40B4-BE49-F238E27FC236}">
                <a16:creationId xmlns:a16="http://schemas.microsoft.com/office/drawing/2014/main" id="{3247CACA-23E9-4C81-AB68-219E3A52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36004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module-accent-3">
            <a:extLst xmlns:a="http://schemas.openxmlformats.org/drawingml/2006/main">
              <a:ext uri="{FF2B5EF4-FFF2-40B4-BE49-F238E27FC236}">
                <a16:creationId xmlns:a16="http://schemas.microsoft.com/office/drawing/2014/main" id="{7B29F22D-9513-42DE-BE6E-EFA77693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3600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A65C7BE-7890-4AB8-ACEB-EA396FA3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成员四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36733CA-CC91-4DA3-BFE3-51629959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求职行动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39D03B6-3680-4BF8-B53F-02ACB6CE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收藏 / 投递 / RabbitMQ 发布</a:t>
            </a:r>
          </a:p>
        </p:txBody>
      </p:sp>
      <p:sp>
        <p:nvSpPr>
          <p:cNvPr id="25" name="module-4">
            <a:extLst xmlns:a="http://schemas.openxmlformats.org/drawingml/2006/main">
              <a:ext uri="{FF2B5EF4-FFF2-40B4-BE49-F238E27FC236}">
                <a16:creationId xmlns:a16="http://schemas.microsoft.com/office/drawing/2014/main" id="{CFB56D99-DF1A-4E9E-8A65-624BA4FD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36004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module-accent-4">
            <a:extLst xmlns:a="http://schemas.openxmlformats.org/drawingml/2006/main">
              <a:ext uri="{FF2B5EF4-FFF2-40B4-BE49-F238E27FC236}">
                <a16:creationId xmlns:a16="http://schemas.microsoft.com/office/drawing/2014/main" id="{30A44368-3A6C-463F-8B3C-60D9A3D2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3600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8F8ACEE-4010-4DAB-AB59-B3F05934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576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rPr>
              <a:t>成员五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AFBB962-3B04-4C60-BA5E-4BA8C616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76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模拟面试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71C2620-907B-46CD-A438-104246A5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101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四题流程 / 答案 / 评分</a:t>
            </a:r>
          </a:p>
        </p:txBody>
      </p:sp>
      <p:sp>
        <p:nvSpPr>
          <p:cNvPr id="30" name="module-5">
            <a:extLst xmlns:a="http://schemas.openxmlformats.org/drawingml/2006/main">
              <a:ext uri="{FF2B5EF4-FFF2-40B4-BE49-F238E27FC236}">
                <a16:creationId xmlns:a16="http://schemas.microsoft.com/office/drawing/2014/main" id="{22408E11-EC2A-4395-B35D-BFA5BD3F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00"/>
            <a:ext cx="36004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module-accent-5">
            <a:extLst xmlns:a="http://schemas.openxmlformats.org/drawingml/2006/main">
              <a:ext uri="{FF2B5EF4-FFF2-40B4-BE49-F238E27FC236}">
                <a16:creationId xmlns:a16="http://schemas.microsoft.com/office/drawing/2014/main" id="{B61A980E-E002-40FF-9917-26749873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00"/>
            <a:ext cx="3600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25AE41E-1041-43FC-9131-CD9984E2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F5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F56D9"/>
                </a:solidFill>
                <a:latin typeface="Microsoft YaHei"/>
                <a:ea typeface="Microsoft YaHei"/>
                <a:cs typeface="Microsoft YaHei"/>
              </a:rPr>
              <a:t>成员六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D418FBF0-ACCC-422A-B91B-1F455142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消息中心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BC51982C-BB39-4F55-B47C-A99A4415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101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事件消费 / 未读 / 已读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CD7FEF52-1ADD-4D94-84F1-81A8E1A9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rPr>
              <a:t>注意：成员姓名为可编辑占位，答辩前替换为真实姓名，并由队长补充每人的 Git 提交截图。</a:t>
            </a:r>
          </a:p>
        </p:txBody>
      </p:sp>
    </p:spTree>
    <p:extLst>
      <p:ext uri="{BB962C8B-B14F-4D97-AF65-F5344CB8AC3E}">
        <p14:creationId xmlns:p14="http://schemas.microsoft.com/office/powerpoint/2010/main" val="5708798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1410C158-6AE8-4C50-BBEA-997475DF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JOB RADAR · COURSE DEFENSE</a:t>
            </a:r>
          </a:p>
        </p:txBody>
      </p:sp>
      <p:sp>
        <p:nvSpPr>
          <p:cNvPr id="2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ACE6EED0-3C54-40D7-AC65-36E42423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关键交互已补齐：状态看得见，四道面试题都能作答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A7A5AE36-9FC2-45C7-97AF-FDF759A2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7">
            <a:extLst xmlns:a="http://schemas.openxmlformats.org/drawingml/2006/main">
              <a:ext uri="{FF2B5EF4-FFF2-40B4-BE49-F238E27FC236}">
                <a16:creationId xmlns:a16="http://schemas.microsoft.com/office/drawing/2014/main" id="{27888651-1EB9-4728-AC93-A5C17B8E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职位雷达页面-frame">
            <a:extLst xmlns:a="http://schemas.openxmlformats.org/drawingml/2006/main">
              <a:ext uri="{FF2B5EF4-FFF2-40B4-BE49-F238E27FC236}">
                <a16:creationId xmlns:a16="http://schemas.microsoft.com/office/drawing/2014/main" id="{738D059D-8868-4EB2-BE42-580D1A7E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743075"/>
            <a:ext cx="51625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fd2ac85ed4d71"/>
          <a:stretch xmlns:a="http://schemas.openxmlformats.org/drawingml/2006/main"/>
        </p:blipFill>
        <p:spPr>
          <a:xfrm xmlns:a="http://schemas.openxmlformats.org/drawingml/2006/main">
            <a:off x="991929" y="1752600"/>
            <a:ext cx="4074042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AEA3B20-144C-4C94-83E5-F22B9575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职位雷达｜收藏与已投递状态即时区分</a:t>
            </a:r>
          </a:p>
        </p:txBody>
      </p:sp>
      <p:sp>
        <p:nvSpPr>
          <p:cNvPr id="8" name="四题模拟面试-frame">
            <a:extLst xmlns:a="http://schemas.openxmlformats.org/drawingml/2006/main">
              <a:ext uri="{FF2B5EF4-FFF2-40B4-BE49-F238E27FC236}">
                <a16:creationId xmlns:a16="http://schemas.microsoft.com/office/drawing/2014/main" id="{0F0AB618-8985-44C7-ACB7-12C76C2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743075"/>
            <a:ext cx="58102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3ba4e456e4675"/>
          <a:stretch xmlns:a="http://schemas.openxmlformats.org/drawingml/2006/main"/>
        </p:blipFill>
        <p:spPr>
          <a:xfrm xmlns:a="http://schemas.openxmlformats.org/drawingml/2006/main">
            <a:off x="7129984" y="1752600"/>
            <a:ext cx="3418432" cy="1924050"/>
          </a:xfrm>
          <a:prstGeom xmlns:a="http://schemas.openxmlformats.org/drawingml/2006/main" prst="roundRect">
            <a:avLst>
              <a:gd name="adj" fmla="val 5941"/>
            </a:avLst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1943D5D-DFC3-453E-8F76-BFDAD867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90950"/>
            <a:ext cx="579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模拟面试｜题目 1–4 全部可见、可切换、可填写</a:t>
            </a:r>
          </a:p>
        </p:txBody>
      </p:sp>
      <p:sp>
        <p:nvSpPr>
          <p:cNvPr id="11" name="消息中心-frame">
            <a:extLst xmlns:a="http://schemas.openxmlformats.org/drawingml/2006/main">
              <a:ext uri="{FF2B5EF4-FFF2-40B4-BE49-F238E27FC236}">
                <a16:creationId xmlns:a16="http://schemas.microsoft.com/office/drawing/2014/main" id="{D1EEEFE5-8E4B-4C74-A489-3368C620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62425"/>
            <a:ext cx="58102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b8874dadb4a9e"/>
          <a:stretch xmlns:a="http://schemas.openxmlformats.org/drawingml/2006/main"/>
        </p:blipFill>
        <p:spPr>
          <a:xfrm xmlns:a="http://schemas.openxmlformats.org/drawingml/2006/main">
            <a:off x="7450667" y="4171950"/>
            <a:ext cx="2777067" cy="156210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74EAC42-D0AC-46B0-BF02-C1BB1D76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67400"/>
            <a:ext cx="579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消息中心｜未读标识、单条已读与全部已读</a:t>
            </a:r>
          </a:p>
        </p:txBody>
      </p:sp>
    </p:spTree>
    <p:extLst>
      <p:ext uri="{BB962C8B-B14F-4D97-AF65-F5344CB8AC3E}">
        <p14:creationId xmlns:p14="http://schemas.microsoft.com/office/powerpoint/2010/main" val="377671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01BC6B82-4D91-4F1E-9217-333102E4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JOB RADAR · COURSE DEFENSE</a:t>
            </a:r>
          </a:p>
        </p:txBody>
      </p:sp>
      <p:sp>
        <p:nvSpPr>
          <p:cNvPr id="2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B203A861-8AC4-4C93-B864-5C35C94D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Redis 缓存职位查询，把高频读请求留在内存中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98F3AF96-9960-456D-9EC7-8BEFAF51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8">
            <a:extLst xmlns:a="http://schemas.openxmlformats.org/drawingml/2006/main">
              <a:ext uri="{FF2B5EF4-FFF2-40B4-BE49-F238E27FC236}">
                <a16:creationId xmlns:a16="http://schemas.microsoft.com/office/drawing/2014/main" id="{7DCF58CF-19F6-428C-93F6-C9A63442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redis-node-0">
            <a:extLst xmlns:a="http://schemas.openxmlformats.org/drawingml/2006/main">
              <a:ext uri="{FF2B5EF4-FFF2-40B4-BE49-F238E27FC236}">
                <a16:creationId xmlns:a16="http://schemas.microsoft.com/office/drawing/2014/main" id="{F6079A8B-80C6-4541-8C25-BB2FF4C2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1526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906D038-6193-429F-A9DF-8BF07A6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388ECF1-5DE7-4FA7-BACC-A7718107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搜索 / 筛选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F8B75B64-9DF6-42AC-98C3-95FCD56C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908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redis-node-1">
            <a:extLst xmlns:a="http://schemas.openxmlformats.org/drawingml/2006/main">
              <a:ext uri="{FF2B5EF4-FFF2-40B4-BE49-F238E27FC236}">
                <a16:creationId xmlns:a16="http://schemas.microsoft.com/office/drawing/2014/main" id="{3C7F1010-39BD-427E-9347-39B4EEE5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14550"/>
            <a:ext cx="21526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6F02919-EE1C-4595-BA7A-F331C30D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Job Service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E40D326-94BD-4F44-AA7D-0039A9E0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337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@Cacheable</a:t>
            </a:r>
          </a:p>
        </p:txBody>
      </p:sp>
      <p:sp>
        <p:nvSpPr>
          <p:cNvPr id="12" name="arrow">
            <a:extLst xmlns:a="http://schemas.openxmlformats.org/drawingml/2006/main">
              <a:ext uri="{FF2B5EF4-FFF2-40B4-BE49-F238E27FC236}">
                <a16:creationId xmlns:a16="http://schemas.microsoft.com/office/drawing/2014/main" id="{C0DC5C19-C1EB-460E-BDE8-0A9130F2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redis-node-2">
            <a:extLst xmlns:a="http://schemas.openxmlformats.org/drawingml/2006/main">
              <a:ext uri="{FF2B5EF4-FFF2-40B4-BE49-F238E27FC236}">
                <a16:creationId xmlns:a16="http://schemas.microsoft.com/office/drawing/2014/main" id="{0FB6E5AF-53C9-483B-A196-A86CDE44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14550"/>
            <a:ext cx="21526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04438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2433AA0-8DC9-4279-B6FD-A00C523A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431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7E53E91-0F33-4A48-A678-71659E3F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337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radar:jobs:*</a:t>
            </a:r>
          </a:p>
        </p:txBody>
      </p:sp>
      <p:sp>
        <p:nvSpPr>
          <p:cNvPr id="16" name="arrow">
            <a:extLst xmlns:a="http://schemas.openxmlformats.org/drawingml/2006/main">
              <a:ext uri="{FF2B5EF4-FFF2-40B4-BE49-F238E27FC236}">
                <a16:creationId xmlns:a16="http://schemas.microsoft.com/office/drawing/2014/main" id="{CC6E449A-960A-459E-846B-149C8CEE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908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redis-node-3">
            <a:extLst xmlns:a="http://schemas.openxmlformats.org/drawingml/2006/main">
              <a:ext uri="{FF2B5EF4-FFF2-40B4-BE49-F238E27FC236}">
                <a16:creationId xmlns:a16="http://schemas.microsoft.com/office/drawing/2014/main" id="{192AB7B3-C9B6-4E20-BAC6-1C097F24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1526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AD46C1A-F136-460E-9864-49238A32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3E7EF43-25AC-4668-88DB-669A9A4A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337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缓存未命中</a:t>
            </a:r>
          </a:p>
        </p:txBody>
      </p:sp>
      <p:sp>
        <p:nvSpPr>
          <p:cNvPr id="20" name="stat-JSON 缓存过期时间">
            <a:extLst xmlns:a="http://schemas.openxmlformats.org/drawingml/2006/main">
              <a:ext uri="{FF2B5EF4-FFF2-40B4-BE49-F238E27FC236}">
                <a16:creationId xmlns:a16="http://schemas.microsoft.com/office/drawing/2014/main" id="{436256C9-06D3-455F-9B57-AE2FF970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3352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stat-accent-JSON 缓存过期时间">
            <a:extLst xmlns:a="http://schemas.openxmlformats.org/drawingml/2006/main">
              <a:ext uri="{FF2B5EF4-FFF2-40B4-BE49-F238E27FC236}">
                <a16:creationId xmlns:a16="http://schemas.microsoft.com/office/drawing/2014/main" id="{18F640A8-8C10-412D-B6CA-137BDD15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at-value-JSON 缓存过期时间">
            <a:extLst xmlns:a="http://schemas.openxmlformats.org/drawingml/2006/main">
              <a:ext uri="{FF2B5EF4-FFF2-40B4-BE49-F238E27FC236}">
                <a16:creationId xmlns:a16="http://schemas.microsoft.com/office/drawing/2014/main" id="{CA7798E8-ACA8-43D6-A2B7-547EFE5B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10 min</a:t>
            </a:r>
          </a:p>
        </p:txBody>
      </p:sp>
      <p:sp>
        <p:nvSpPr>
          <p:cNvPr id="23" name="stat-label-JSON 缓存过期时间">
            <a:extLst xmlns:a="http://schemas.openxmlformats.org/drawingml/2006/main">
              <a:ext uri="{FF2B5EF4-FFF2-40B4-BE49-F238E27FC236}">
                <a16:creationId xmlns:a16="http://schemas.microsoft.com/office/drawing/2014/main" id="{227F812A-B908-4555-A197-28CAFC9C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JSON 缓存过期时间</a:t>
            </a:r>
          </a:p>
        </p:txBody>
      </p:sp>
      <p:sp>
        <p:nvSpPr>
          <p:cNvPr id="24" name="stat-列表与详情缓存">
            <a:extLst xmlns:a="http://schemas.openxmlformats.org/drawingml/2006/main">
              <a:ext uri="{FF2B5EF4-FFF2-40B4-BE49-F238E27FC236}">
                <a16:creationId xmlns:a16="http://schemas.microsoft.com/office/drawing/2014/main" id="{CA4473D7-AA38-4DF3-A3C6-2BCDEE11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3352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stat-accent-列表与详情缓存">
            <a:extLst xmlns:a="http://schemas.openxmlformats.org/drawingml/2006/main">
              <a:ext uri="{FF2B5EF4-FFF2-40B4-BE49-F238E27FC236}">
                <a16:creationId xmlns:a16="http://schemas.microsoft.com/office/drawing/2014/main" id="{AA56E4E3-00FF-4A5D-B70B-6170BDAF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at-value-列表与详情缓存">
            <a:extLst xmlns:a="http://schemas.openxmlformats.org/drawingml/2006/main">
              <a:ext uri="{FF2B5EF4-FFF2-40B4-BE49-F238E27FC236}">
                <a16:creationId xmlns:a16="http://schemas.microsoft.com/office/drawing/2014/main" id="{F5F32903-FA05-465A-96ED-9C09FB25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2 类</a:t>
            </a:r>
          </a:p>
        </p:txBody>
      </p:sp>
      <p:sp>
        <p:nvSpPr>
          <p:cNvPr id="27" name="stat-label-列表与详情缓存">
            <a:extLst xmlns:a="http://schemas.openxmlformats.org/drawingml/2006/main">
              <a:ext uri="{FF2B5EF4-FFF2-40B4-BE49-F238E27FC236}">
                <a16:creationId xmlns:a16="http://schemas.microsoft.com/office/drawing/2014/main" id="{780FF8D1-C6A9-456A-B185-083290F7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244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列表与详情缓存</a:t>
            </a:r>
          </a:p>
        </p:txBody>
      </p:sp>
      <p:sp>
        <p:nvSpPr>
          <p:cNvPr id="28" name="stat-radar: 便于课堂演示">
            <a:extLst xmlns:a="http://schemas.openxmlformats.org/drawingml/2006/main">
              <a:ext uri="{FF2B5EF4-FFF2-40B4-BE49-F238E27FC236}">
                <a16:creationId xmlns:a16="http://schemas.microsoft.com/office/drawing/2014/main" id="{431408CE-ECF5-4DF7-9393-939955EF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43400"/>
            <a:ext cx="4000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stat-accent-radar: 便于课堂演示">
            <a:extLst xmlns:a="http://schemas.openxmlformats.org/drawingml/2006/main">
              <a:ext uri="{FF2B5EF4-FFF2-40B4-BE49-F238E27FC236}">
                <a16:creationId xmlns:a16="http://schemas.microsoft.com/office/drawing/2014/main" id="{91B6DEDE-7C64-4E92-8010-BAE29B4C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434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at-value-radar: 便于课堂演示">
            <a:extLst xmlns:a="http://schemas.openxmlformats.org/drawingml/2006/main">
              <a:ext uri="{FF2B5EF4-FFF2-40B4-BE49-F238E27FC236}">
                <a16:creationId xmlns:a16="http://schemas.microsoft.com/office/drawing/2014/main" id="{817B995E-76D4-47FD-BEC8-CEA68B21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1 前缀</a:t>
            </a:r>
          </a:p>
        </p:txBody>
      </p:sp>
      <p:sp>
        <p:nvSpPr>
          <p:cNvPr id="31" name="stat-label-radar: 便于课堂演示">
            <a:extLst xmlns:a="http://schemas.openxmlformats.org/drawingml/2006/main">
              <a:ext uri="{FF2B5EF4-FFF2-40B4-BE49-F238E27FC236}">
                <a16:creationId xmlns:a16="http://schemas.microsoft.com/office/drawing/2014/main" id="{6FEED567-8B10-4764-B857-012A5F1A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radar: 便于课堂演示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00BAC31-4ADF-4BCD-A29A-D003F79A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演示证据：连续查询后可用 redis-cli keys '*' 看到 radar:jobs::::null:1:3。</a:t>
            </a:r>
          </a:p>
        </p:txBody>
      </p:sp>
    </p:spTree>
    <p:extLst>
      <p:ext uri="{BB962C8B-B14F-4D97-AF65-F5344CB8AC3E}">
        <p14:creationId xmlns:p14="http://schemas.microsoft.com/office/powerpoint/2010/main" val="7503703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60F69DCC-88CA-4437-9202-73146D96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JOB RADAR · COURSE DEFENSE</a:t>
            </a:r>
          </a:p>
        </p:txBody>
      </p:sp>
      <p:sp>
        <p:nvSpPr>
          <p:cNvPr id="2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41C08D3A-5433-4665-BC54-CD0EF972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RabbitMQ 把“投递成功”和“生成通知”解耦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AD225829-5421-43D1-8311-08FC32D4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9">
            <a:extLst xmlns:a="http://schemas.openxmlformats.org/drawingml/2006/main">
              <a:ext uri="{FF2B5EF4-FFF2-40B4-BE49-F238E27FC236}">
                <a16:creationId xmlns:a16="http://schemas.microsoft.com/office/drawing/2014/main" id="{ED083390-3750-4C6E-BFE6-FEDACF09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mq-0">
            <a:extLst xmlns:a="http://schemas.openxmlformats.org/drawingml/2006/main">
              <a:ext uri="{FF2B5EF4-FFF2-40B4-BE49-F238E27FC236}">
                <a16:creationId xmlns:a16="http://schemas.microsoft.com/office/drawing/2014/main" id="{3D4AC9DB-C858-4653-8A41-02C0FFC9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61D4AA1-248D-44C2-AD75-CA5082C1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Application Service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562E997-708B-4976-B23F-5AC5FDD0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保存投递 / 更新状态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54A8A7-D79A-4643-9E4C-F5C12FBA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098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q-1">
            <a:extLst xmlns:a="http://schemas.openxmlformats.org/drawingml/2006/main">
              <a:ext uri="{FF2B5EF4-FFF2-40B4-BE49-F238E27FC236}">
                <a16:creationId xmlns:a16="http://schemas.microsoft.com/office/drawing/2014/main" id="{E2E2E045-50AF-4E81-B00C-3E62ACBF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79009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2181A07-D045-4BE1-8580-CA831D6B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050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Exchange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3427DAA-E710-4DA0-9A38-2EFE1FAE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146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radar.application.exchange</a:t>
            </a:r>
          </a:p>
        </p:txBody>
      </p:sp>
      <p:sp>
        <p:nvSpPr>
          <p:cNvPr id="12" name="arrow">
            <a:extLst xmlns:a="http://schemas.openxmlformats.org/drawingml/2006/main">
              <a:ext uri="{FF2B5EF4-FFF2-40B4-BE49-F238E27FC236}">
                <a16:creationId xmlns:a16="http://schemas.microsoft.com/office/drawing/2014/main" id="{75B3A915-3525-4607-AC39-681D4FC1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098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mq-2">
            <a:extLst xmlns:a="http://schemas.openxmlformats.org/drawingml/2006/main">
              <a:ext uri="{FF2B5EF4-FFF2-40B4-BE49-F238E27FC236}">
                <a16:creationId xmlns:a16="http://schemas.microsoft.com/office/drawing/2014/main" id="{53DADE2C-7C90-4A50-93C9-0EF0C819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D4F2486-00F7-42D6-99BD-0E1CC86C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98097CA-69A7-43BC-ABB9-7717E6B3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radar.notification.queue</a:t>
            </a:r>
          </a:p>
        </p:txBody>
      </p:sp>
      <p:sp>
        <p:nvSpPr>
          <p:cNvPr id="16" name="arrow">
            <a:extLst xmlns:a="http://schemas.openxmlformats.org/drawingml/2006/main">
              <a:ext uri="{FF2B5EF4-FFF2-40B4-BE49-F238E27FC236}">
                <a16:creationId xmlns:a16="http://schemas.microsoft.com/office/drawing/2014/main" id="{36579D46-CEA2-478F-AB9E-EF801639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mq-3">
            <a:extLst xmlns:a="http://schemas.openxmlformats.org/drawingml/2006/main">
              <a:ext uri="{FF2B5EF4-FFF2-40B4-BE49-F238E27FC236}">
                <a16:creationId xmlns:a16="http://schemas.microsoft.com/office/drawing/2014/main" id="{1D90F234-F1F6-49DE-B472-9D6B655C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7645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ABFE3B4-D961-4668-9148-3F2C7904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050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Notification Service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0B3A6DD-3D8B-4C85-B86A-5BAC2081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146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落库并展示消息</a:t>
            </a:r>
          </a:p>
        </p:txBody>
      </p:sp>
      <p:sp>
        <p:nvSpPr>
          <p:cNvPr id="20" name="mq-point-0">
            <a:extLst xmlns:a="http://schemas.openxmlformats.org/drawingml/2006/main">
              <a:ext uri="{FF2B5EF4-FFF2-40B4-BE49-F238E27FC236}">
                <a16:creationId xmlns:a16="http://schemas.microsoft.com/office/drawing/2014/main" id="{ABB1F499-EEBB-409C-A936-2C245534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3543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154755A-E92E-469B-8BC8-0D1C9340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可靠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DD27286-79CB-4201-B8F0-DDB65652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9580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交换机、队列、路由键显式声明</a:t>
            </a:r>
          </a:p>
        </p:txBody>
      </p:sp>
      <p:sp>
        <p:nvSpPr>
          <p:cNvPr id="23" name="mq-point-1">
            <a:extLst xmlns:a="http://schemas.openxmlformats.org/drawingml/2006/main">
              <a:ext uri="{FF2B5EF4-FFF2-40B4-BE49-F238E27FC236}">
                <a16:creationId xmlns:a16="http://schemas.microsoft.com/office/drawing/2014/main" id="{077DAD4E-4309-475F-8E0C-7D434BF6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24350"/>
            <a:ext cx="3543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1DBFF3F-2A77-41E2-8767-540A1CD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14850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解耦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6493B32-975E-456B-99FB-6DE5567D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9580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通知异常不阻塞核心投递操作</a:t>
            </a:r>
          </a:p>
        </p:txBody>
      </p:sp>
      <p:sp>
        <p:nvSpPr>
          <p:cNvPr id="26" name="mq-point-2">
            <a:extLst xmlns:a="http://schemas.openxmlformats.org/drawingml/2006/main">
              <a:ext uri="{FF2B5EF4-FFF2-40B4-BE49-F238E27FC236}">
                <a16:creationId xmlns:a16="http://schemas.microsoft.com/office/drawing/2014/main" id="{DA4963A3-DF13-41CC-ABD6-2335E5AF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24350"/>
            <a:ext cx="3543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FE2ABB6-6F9C-4A3C-815A-104C1D45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可测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1E180B5-BB9A-4FB2-9B4C-AFA46DF0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9580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发布器与监听器均有单元测试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7DF64D1-B706-4FE0-BA4B-B650D8B4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现场启动 RabbitMQ 后即可演示真实异步消费；未启动时发布器容错，投递主流程仍可演示。</a:t>
            </a:r>
          </a:p>
        </p:txBody>
      </p:sp>
    </p:spTree>
    <p:extLst>
      <p:ext uri="{BB962C8B-B14F-4D97-AF65-F5344CB8AC3E}">
        <p14:creationId xmlns:p14="http://schemas.microsoft.com/office/powerpoint/2010/main" val="4096149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0">
            <a:extLst xmlns:a="http://schemas.openxmlformats.org/drawingml/2006/main">
              <a:ext uri="{FF2B5EF4-FFF2-40B4-BE49-F238E27FC236}">
                <a16:creationId xmlns:a16="http://schemas.microsoft.com/office/drawing/2014/main" id="{02607151-A753-4604-8A29-B70FA6CD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JOB RADAR · COURSE DEFENSE</a:t>
            </a:r>
          </a:p>
        </p:txBody>
      </p:sp>
      <p:sp>
        <p:nvSpPr>
          <p:cNvPr id="2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8FA40704-90D6-4994-9F0E-5E4C0CA3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四个工程细节，让微服务演示更稳定也更容易讲清楚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B2895226-446A-40A1-85FE-7569D513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10">
            <a:extLst xmlns:a="http://schemas.openxmlformats.org/drawingml/2006/main">
              <a:ext uri="{FF2B5EF4-FFF2-40B4-BE49-F238E27FC236}">
                <a16:creationId xmlns:a16="http://schemas.microsoft.com/office/drawing/2014/main" id="{D7D18EF7-ED3A-47CD-A12D-2A68981B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eng-0">
            <a:extLst xmlns:a="http://schemas.openxmlformats.org/drawingml/2006/main">
              <a:ext uri="{FF2B5EF4-FFF2-40B4-BE49-F238E27FC236}">
                <a16:creationId xmlns:a16="http://schemas.microsoft.com/office/drawing/2014/main" id="{91B9A7BF-0C10-4E5C-ACE2-57847BA2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54292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49C722-B743-444E-853B-4CC5813F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CD84B85-426E-44EB-A378-876E1CDD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05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JWT 身份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3E9B5F1-15C5-46B8-892C-5118BCA3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Gateway 后的接口统一携带 Token，服务端解析用户身份。</a:t>
            </a:r>
          </a:p>
        </p:txBody>
      </p:sp>
      <p:sp>
        <p:nvSpPr>
          <p:cNvPr id="9" name="eng-1">
            <a:extLst xmlns:a="http://schemas.openxmlformats.org/drawingml/2006/main">
              <a:ext uri="{FF2B5EF4-FFF2-40B4-BE49-F238E27FC236}">
                <a16:creationId xmlns:a16="http://schemas.microsoft.com/office/drawing/2014/main" id="{129A270A-F9D9-40B4-BA6B-800467B2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76400"/>
            <a:ext cx="54292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8DDEE5-80B6-4A2C-9407-1A27DF56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8A83979-FC38-4F48-8DAE-E9C828F7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05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Long 字符串化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4032703-AC6F-4343-8FC6-C989924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雪花 ID 在前端按字符串传递，避免 JavaScript 精度丢失。</a:t>
            </a:r>
          </a:p>
        </p:txBody>
      </p:sp>
      <p:sp>
        <p:nvSpPr>
          <p:cNvPr id="13" name="eng-2">
            <a:extLst xmlns:a="http://schemas.openxmlformats.org/drawingml/2006/main">
              <a:ext uri="{FF2B5EF4-FFF2-40B4-BE49-F238E27FC236}">
                <a16:creationId xmlns:a16="http://schemas.microsoft.com/office/drawing/2014/main" id="{190C03F3-8FC2-42ED-9D13-6446A760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54292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9CB50B5-4AF5-4395-BA4D-6BD6C27F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F765286-D33C-425C-A766-D55A851F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95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统一响应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F965A47-1CAB-4177-88DF-B4228309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CommonResult 统一 code、message、data，前端处理一致。</a:t>
            </a:r>
          </a:p>
        </p:txBody>
      </p:sp>
      <p:sp>
        <p:nvSpPr>
          <p:cNvPr id="17" name="eng-3">
            <a:extLst xmlns:a="http://schemas.openxmlformats.org/drawingml/2006/main">
              <a:ext uri="{FF2B5EF4-FFF2-40B4-BE49-F238E27FC236}">
                <a16:creationId xmlns:a16="http://schemas.microsoft.com/office/drawing/2014/main" id="{67B68EEE-0AF6-4745-B9C1-0C91A87B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90950"/>
            <a:ext cx="54292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3087AF3-F06C-43C2-A5DE-FEFCF75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852DBB8-AF9B-4EAF-8D6B-539004FE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195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环境可配置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68B70CE-42D9-41F0-99F3-95537A7E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MySQL、Redis、RabbitMQ 均支持环境变量并保留演示默认值。</a:t>
            </a:r>
          </a:p>
        </p:txBody>
      </p:sp>
    </p:spTree>
    <p:extLst>
      <p:ext uri="{BB962C8B-B14F-4D97-AF65-F5344CB8AC3E}">
        <p14:creationId xmlns:p14="http://schemas.microsoft.com/office/powerpoint/2010/main" val="13394365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1">
            <a:extLst xmlns:a="http://schemas.openxmlformats.org/drawingml/2006/main">
              <a:ext uri="{FF2B5EF4-FFF2-40B4-BE49-F238E27FC236}">
                <a16:creationId xmlns:a16="http://schemas.microsoft.com/office/drawing/2014/main" id="{34D93353-1AC5-4047-B6BF-FB6F4A73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JOB RADAR · COURSE DEFENSE</a:t>
            </a:r>
          </a:p>
        </p:txBody>
      </p:sp>
      <p:sp>
        <p:nvSpPr>
          <p:cNvPr id="2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52847A74-77D9-4EB9-B3BB-B5A47FFD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答辩现场按 6 分钟脚本演示，先业务后技术证据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2E2E8241-6BC1-4452-BD22-3AE40214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11">
            <a:extLst xmlns:a="http://schemas.openxmlformats.org/drawingml/2006/main">
              <a:ext uri="{FF2B5EF4-FFF2-40B4-BE49-F238E27FC236}">
                <a16:creationId xmlns:a16="http://schemas.microsoft.com/office/drawing/2014/main" id="{574C7F67-9AB2-412B-A4A9-D24FB5CC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0749A7F4-4727-4346-BD7B-E1174AF4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95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327D8379-D181-40C4-81B2-4D968ED3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3357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EF037A5-3574-4AF1-96E4-AF9EEF74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00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983D3BF-79CB-4B96-A816-3B263BF8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05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00:00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934DFB6-99B5-456A-AE55-ED20A084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4785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登录并进入职位雷达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61AF556-4336-4571-AEF9-E5EA9D01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669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确认 Gateway 与 Nacos 路由</a:t>
            </a:r>
          </a:p>
        </p:txBody>
      </p:sp>
      <p:sp>
        <p:nvSpPr>
          <p:cNvPr id="1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AF850392-12E5-4C7F-B7B2-595E04A6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7652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EECF991-2AD8-4403-9EDF-C97CAC3D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43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FF55457-FA79-4DEC-8212-FFA5AC58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47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01:00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DA8DA0D-4B01-4933-A196-59AE9421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9080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搜索职位并收藏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C418680-4B2B-43D5-ACEC-13EBD644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展示 Redis key 与收藏态</a:t>
            </a:r>
          </a:p>
        </p:txBody>
      </p:sp>
      <p:sp>
        <p:nvSpPr>
          <p:cNvPr id="16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2F0A3612-2E46-4D72-9962-4AF9EBE4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1947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992C274-132F-4DBB-9606-F4BEAB16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86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3128F6A-64DF-4DD2-B68E-35F0B195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90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02:00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FBD7100-9BA1-4C0F-9267-0F879129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3375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点击投递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E4DA30F-5BA9-4D66-85B5-07DA122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按钮变为“已投递”</a:t>
            </a:r>
          </a:p>
        </p:txBody>
      </p:sp>
      <p:sp>
        <p:nvSpPr>
          <p:cNvPr id="21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1D2279AA-B7D6-4150-9433-5E33B2A8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6242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0758210-767B-4510-8D3A-61D46C83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291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C91B2E7-88DF-47B8-BCAA-D660CF9F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338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03:00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665163C-005D-4886-B4FA-D603A321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7670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打开消息中心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A9BD779-060F-4314-B800-B0308A9D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展示 RabbitMQ 通知链路</a:t>
            </a:r>
          </a:p>
        </p:txBody>
      </p:sp>
      <p:sp>
        <p:nvSpPr>
          <p:cNvPr id="26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7B1D70D8-7161-4D7D-B47F-0E20F5A3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90537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AF6E6D0-AE06-4079-87A3-01D31504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972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0CB3B88-26B9-493D-B212-58E02C77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768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04:00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2F1F6CF-5EE8-4E44-9AAD-41DE76A9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1965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创建模拟面试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69D977A-66E3-4325-90EE-09F5091A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38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四道题可查看、作答</a:t>
            </a:r>
          </a:p>
        </p:txBody>
      </p:sp>
      <p:sp>
        <p:nvSpPr>
          <p:cNvPr id="31" name="timeline-dot-5">
            <a:extLst xmlns:a="http://schemas.openxmlformats.org/drawingml/2006/main">
              <a:ext uri="{FF2B5EF4-FFF2-40B4-BE49-F238E27FC236}">
                <a16:creationId xmlns:a16="http://schemas.microsoft.com/office/drawing/2014/main" id="{58741568-E0B9-4000-8649-9F3AF7E6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4832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E6E042B-F3AE-4125-AA4B-1CF7C33D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15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BC1F91C1-F024-48D5-87A9-70FFFDC6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197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05:00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3A8E779-8A20-419A-B993-05E46AEF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56260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展示测试与 GitHub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2032C5A2-BEC5-4440-A376-A6265CD3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816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用证据收束课程技术</a:t>
            </a:r>
          </a:p>
        </p:txBody>
      </p:sp>
    </p:spTree>
    <p:extLst>
      <p:ext uri="{BB962C8B-B14F-4D97-AF65-F5344CB8AC3E}">
        <p14:creationId xmlns:p14="http://schemas.microsoft.com/office/powerpoint/2010/main" val="1301802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2">
            <a:extLst xmlns:a="http://schemas.openxmlformats.org/drawingml/2006/main">
              <a:ext uri="{FF2B5EF4-FFF2-40B4-BE49-F238E27FC236}">
                <a16:creationId xmlns:a16="http://schemas.microsoft.com/office/drawing/2014/main" id="{BF7C95B0-FAB8-4609-A55F-4CB8B570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JOB RADAR · COURSE DEFENSE</a:t>
            </a:r>
          </a:p>
        </p:txBody>
      </p:sp>
      <p:sp>
        <p:nvSpPr>
          <p:cNvPr id="2" name="slide-title-12">
            <a:extLst xmlns:a="http://schemas.openxmlformats.org/drawingml/2006/main">
              <a:ext uri="{FF2B5EF4-FFF2-40B4-BE49-F238E27FC236}">
                <a16:creationId xmlns:a16="http://schemas.microsoft.com/office/drawing/2014/main" id="{146B1581-7A7B-46D1-86EC-1A5C9953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测试、构建与运行证据共同保证现场可演示</a:t>
            </a:r>
          </a:p>
        </p:txBody>
      </p:sp>
      <p:sp>
        <p:nvSpPr>
          <p:cNvPr id="3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2C8369C1-AB84-4A22-8061-CCB356BA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12">
            <a:extLst xmlns:a="http://schemas.openxmlformats.org/drawingml/2006/main">
              <a:ext uri="{FF2B5EF4-FFF2-40B4-BE49-F238E27FC236}">
                <a16:creationId xmlns:a16="http://schemas.microsoft.com/office/drawing/2014/main" id="{5628742E-F6CF-42C5-8EC7-00D577F4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stat-后端测试 · 0 失败">
            <a:extLst xmlns:a="http://schemas.openxmlformats.org/drawingml/2006/main">
              <a:ext uri="{FF2B5EF4-FFF2-40B4-BE49-F238E27FC236}">
                <a16:creationId xmlns:a16="http://schemas.microsoft.com/office/drawing/2014/main" id="{8A856683-F997-4888-B9D1-DB8FF664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571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stat-accent-后端测试 · 0 失败">
            <a:extLst xmlns:a="http://schemas.openxmlformats.org/drawingml/2006/main">
              <a:ext uri="{FF2B5EF4-FFF2-40B4-BE49-F238E27FC236}">
                <a16:creationId xmlns:a16="http://schemas.microsoft.com/office/drawing/2014/main" id="{96C5F1B6-2124-424C-8C11-441E8DC7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-value-后端测试 · 0 失败">
            <a:extLst xmlns:a="http://schemas.openxmlformats.org/drawingml/2006/main">
              <a:ext uri="{FF2B5EF4-FFF2-40B4-BE49-F238E27FC236}">
                <a16:creationId xmlns:a16="http://schemas.microsoft.com/office/drawing/2014/main" id="{342225CF-4245-4D00-9684-8851EED1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8" name="stat-label-后端测试 · 0 失败">
            <a:extLst xmlns:a="http://schemas.openxmlformats.org/drawingml/2006/main">
              <a:ext uri="{FF2B5EF4-FFF2-40B4-BE49-F238E27FC236}">
                <a16:creationId xmlns:a16="http://schemas.microsoft.com/office/drawing/2014/main" id="{55906881-9A2F-4CAD-8DA7-7A7233A6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后端测试 · 0 失败</a:t>
            </a:r>
          </a:p>
        </p:txBody>
      </p:sp>
      <p:sp>
        <p:nvSpPr>
          <p:cNvPr id="9" name="stat-前端测试 · 0 失败">
            <a:extLst xmlns:a="http://schemas.openxmlformats.org/drawingml/2006/main">
              <a:ext uri="{FF2B5EF4-FFF2-40B4-BE49-F238E27FC236}">
                <a16:creationId xmlns:a16="http://schemas.microsoft.com/office/drawing/2014/main" id="{094B4CAA-346B-4E33-B4A6-FB6D2806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2571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stat-accent-前端测试 · 0 失败">
            <a:extLst xmlns:a="http://schemas.openxmlformats.org/drawingml/2006/main">
              <a:ext uri="{FF2B5EF4-FFF2-40B4-BE49-F238E27FC236}">
                <a16:creationId xmlns:a16="http://schemas.microsoft.com/office/drawing/2014/main" id="{FB017D6F-F73D-43F0-BA1F-A2B2CE25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-value-前端测试 · 0 失败">
            <a:extLst xmlns:a="http://schemas.openxmlformats.org/drawingml/2006/main">
              <a:ext uri="{FF2B5EF4-FFF2-40B4-BE49-F238E27FC236}">
                <a16:creationId xmlns:a16="http://schemas.microsoft.com/office/drawing/2014/main" id="{20B04A6C-4F8B-49A5-B220-79CD4164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859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2" name="stat-label-前端测试 · 0 失败">
            <a:extLst xmlns:a="http://schemas.openxmlformats.org/drawingml/2006/main">
              <a:ext uri="{FF2B5EF4-FFF2-40B4-BE49-F238E27FC236}">
                <a16:creationId xmlns:a16="http://schemas.microsoft.com/office/drawing/2014/main" id="{EE2449F9-B5A1-42D8-B037-8800125F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95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前端测试 · 0 失败</a:t>
            </a:r>
          </a:p>
        </p:txBody>
      </p:sp>
      <p:sp>
        <p:nvSpPr>
          <p:cNvPr id="13" name="stat-后端服务端口 9000–9006">
            <a:extLst xmlns:a="http://schemas.openxmlformats.org/drawingml/2006/main">
              <a:ext uri="{FF2B5EF4-FFF2-40B4-BE49-F238E27FC236}">
                <a16:creationId xmlns:a16="http://schemas.microsoft.com/office/drawing/2014/main" id="{148F675E-6DAB-4354-9F54-67FC4B69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2571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stat-accent-后端服务端口 9000–9006">
            <a:extLst xmlns:a="http://schemas.openxmlformats.org/drawingml/2006/main">
              <a:ext uri="{FF2B5EF4-FFF2-40B4-BE49-F238E27FC236}">
                <a16:creationId xmlns:a16="http://schemas.microsoft.com/office/drawing/2014/main" id="{A654FCA4-0411-4A20-BE6A-FB519885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t-value-后端服务端口 9000–9006">
            <a:extLst xmlns:a="http://schemas.openxmlformats.org/drawingml/2006/main">
              <a:ext uri="{FF2B5EF4-FFF2-40B4-BE49-F238E27FC236}">
                <a16:creationId xmlns:a16="http://schemas.microsoft.com/office/drawing/2014/main" id="{FE58D1E7-AA41-4994-B001-6EBC538F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6" name="stat-label-后端服务端口 9000–9006">
            <a:extLst xmlns:a="http://schemas.openxmlformats.org/drawingml/2006/main">
              <a:ext uri="{FF2B5EF4-FFF2-40B4-BE49-F238E27FC236}">
                <a16:creationId xmlns:a16="http://schemas.microsoft.com/office/drawing/2014/main" id="{DC0D646B-0D4C-4E51-9190-5463B184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95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后端服务端口 9000–9006</a:t>
            </a:r>
          </a:p>
        </p:txBody>
      </p:sp>
      <p:sp>
        <p:nvSpPr>
          <p:cNvPr id="17" name="stat-演示职位数据">
            <a:extLst xmlns:a="http://schemas.openxmlformats.org/drawingml/2006/main">
              <a:ext uri="{FF2B5EF4-FFF2-40B4-BE49-F238E27FC236}">
                <a16:creationId xmlns:a16="http://schemas.microsoft.com/office/drawing/2014/main" id="{3C1A49C7-05FF-4906-9126-09CE1503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0"/>
            <a:ext cx="2990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stat-accent-演示职位数据">
            <a:extLst xmlns:a="http://schemas.openxmlformats.org/drawingml/2006/main">
              <a:ext uri="{FF2B5EF4-FFF2-40B4-BE49-F238E27FC236}">
                <a16:creationId xmlns:a16="http://schemas.microsoft.com/office/drawing/2014/main" id="{984294FC-C19C-4165-A3EC-52852121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t-value-演示职位数据">
            <a:extLst xmlns:a="http://schemas.openxmlformats.org/drawingml/2006/main">
              <a:ext uri="{FF2B5EF4-FFF2-40B4-BE49-F238E27FC236}">
                <a16:creationId xmlns:a16="http://schemas.microsoft.com/office/drawing/2014/main" id="{56AC708F-945E-4031-AF14-F413FF5C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85950"/>
            <a:ext cx="2609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0" name="stat-label-演示职位数据">
            <a:extLst xmlns:a="http://schemas.openxmlformats.org/drawingml/2006/main">
              <a:ext uri="{FF2B5EF4-FFF2-40B4-BE49-F238E27FC236}">
                <a16:creationId xmlns:a16="http://schemas.microsoft.com/office/drawing/2014/main" id="{096D01C3-0EB3-43CA-AC3C-407C2C6C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955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演示职位数据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CD3EEA6-0632-4A39-A0D8-0F0B4F83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本机依赖检查</a:t>
            </a:r>
          </a:p>
        </p:txBody>
      </p:sp>
      <p:sp>
        <p:nvSpPr>
          <p:cNvPr id="22" name="dep-0">
            <a:extLst xmlns:a="http://schemas.openxmlformats.org/drawingml/2006/main">
              <a:ext uri="{FF2B5EF4-FFF2-40B4-BE49-F238E27FC236}">
                <a16:creationId xmlns:a16="http://schemas.microsoft.com/office/drawing/2014/main" id="{AC313300-9758-42DA-869D-2CACEA58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514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A3E4BC3-3402-4E5F-812E-7F565085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MySQL 8.0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761A297-0B6C-4D54-85F6-1AD88E35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814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sp>
        <p:nvSpPr>
          <p:cNvPr id="25" name="dep-1">
            <a:extLst xmlns:a="http://schemas.openxmlformats.org/drawingml/2006/main">
              <a:ext uri="{FF2B5EF4-FFF2-40B4-BE49-F238E27FC236}">
                <a16:creationId xmlns:a16="http://schemas.microsoft.com/office/drawing/2014/main" id="{13D07CB6-30F0-4501-8FBE-6E262B37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514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8BAE013-BFC0-4E8E-A56A-4B62CD91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Nacos 2.1.0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8D133BF-A085-453A-A70D-B9BB67BC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sp>
        <p:nvSpPr>
          <p:cNvPr id="28" name="dep-2">
            <a:extLst xmlns:a="http://schemas.openxmlformats.org/drawingml/2006/main">
              <a:ext uri="{FF2B5EF4-FFF2-40B4-BE49-F238E27FC236}">
                <a16:creationId xmlns:a16="http://schemas.microsoft.com/office/drawing/2014/main" id="{3CFDC510-EEFF-4A61-B3E4-B83C48BB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514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BB5149B-0364-4322-B33A-BF507D01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80E7270-112F-4934-AF20-BD0993D4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sp>
        <p:nvSpPr>
          <p:cNvPr id="31" name="dep-3">
            <a:extLst xmlns:a="http://schemas.openxmlformats.org/drawingml/2006/main">
              <a:ext uri="{FF2B5EF4-FFF2-40B4-BE49-F238E27FC236}">
                <a16:creationId xmlns:a16="http://schemas.microsoft.com/office/drawing/2014/main" id="{A6330AB7-85D0-46F9-AEDF-C272C2B8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514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3DFFC86-208E-4EE6-9E9C-64308A1E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RabbitMQ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662B7BD-2823-41FB-9C25-3B2D4567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816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代码链路完成；现场需启动</a:t>
            </a:r>
          </a:p>
        </p:txBody>
      </p:sp>
      <p:sp>
        <p:nvSpPr>
          <p:cNvPr id="34" name="verification-box">
            <a:extLst xmlns:a="http://schemas.openxmlformats.org/drawingml/2006/main">
              <a:ext uri="{FF2B5EF4-FFF2-40B4-BE49-F238E27FC236}">
                <a16:creationId xmlns:a16="http://schemas.microsoft.com/office/drawing/2014/main" id="{BC3870C0-E6EE-41D9-8DD3-AEA2E775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71850"/>
            <a:ext cx="56769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02F9ED24-12F5-472E-97CB-C0D3AD92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一键演示准备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BE45E10D-1CA5-40F1-BEE8-59BCCD95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 scripts/check-environment.ps1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 导入 sql/ai_job_radar.sql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 scripts/start-backend.ps1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 npm install &amp;&amp; npm run dev</a:t>
            </a:r>
          </a:p>
        </p:txBody>
      </p:sp>
      <p:sp>
        <p:nvSpPr>
          <p:cNvPr id="37" name="pill-mvn test ✓">
            <a:extLst xmlns:a="http://schemas.openxmlformats.org/drawingml/2006/main">
              <a:ext uri="{FF2B5EF4-FFF2-40B4-BE49-F238E27FC236}">
                <a16:creationId xmlns:a16="http://schemas.microsoft.com/office/drawing/2014/main" id="{5B94C1A7-236C-4B43-B849-04876D88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19750"/>
            <a:ext cx="1295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ill-text-mvn test ✓">
            <a:extLst xmlns:a="http://schemas.openxmlformats.org/drawingml/2006/main">
              <a:ext uri="{FF2B5EF4-FFF2-40B4-BE49-F238E27FC236}">
                <a16:creationId xmlns:a16="http://schemas.microsoft.com/office/drawing/2014/main" id="{A8B72EF3-7075-4AA8-AE84-A197A1B8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5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mvn test ✓</a:t>
            </a:r>
          </a:p>
        </p:txBody>
      </p:sp>
      <p:sp>
        <p:nvSpPr>
          <p:cNvPr id="39" name="pill-npm test ✓">
            <a:extLst xmlns:a="http://schemas.openxmlformats.org/drawingml/2006/main">
              <a:ext uri="{FF2B5EF4-FFF2-40B4-BE49-F238E27FC236}">
                <a16:creationId xmlns:a16="http://schemas.microsoft.com/office/drawing/2014/main" id="{9F234CC7-D630-48C5-9848-1E323D5E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619750"/>
            <a:ext cx="1295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ill-text-npm test ✓">
            <a:extLst xmlns:a="http://schemas.openxmlformats.org/drawingml/2006/main">
              <a:ext uri="{FF2B5EF4-FFF2-40B4-BE49-F238E27FC236}">
                <a16:creationId xmlns:a16="http://schemas.microsoft.com/office/drawing/2014/main" id="{BF2D6864-FC87-4BBA-8DEE-3E05E81B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65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npm test ✓</a:t>
            </a:r>
          </a:p>
        </p:txBody>
      </p:sp>
      <p:sp>
        <p:nvSpPr>
          <p:cNvPr id="41" name="pill-vite build ✓">
            <a:extLst xmlns:a="http://schemas.openxmlformats.org/drawingml/2006/main">
              <a:ext uri="{FF2B5EF4-FFF2-40B4-BE49-F238E27FC236}">
                <a16:creationId xmlns:a16="http://schemas.microsoft.com/office/drawing/2014/main" id="{BD63D3E9-B600-4A0B-AD67-7E0FA61E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619750"/>
            <a:ext cx="1371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ill-text-vite build ✓">
            <a:extLst xmlns:a="http://schemas.openxmlformats.org/drawingml/2006/main">
              <a:ext uri="{FF2B5EF4-FFF2-40B4-BE49-F238E27FC236}">
                <a16:creationId xmlns:a16="http://schemas.microsoft.com/office/drawing/2014/main" id="{EA46A191-52E6-439A-9D5C-4D0C7040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578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vite build ✓</a:t>
            </a:r>
          </a:p>
        </p:txBody>
      </p:sp>
    </p:spTree>
    <p:extLst>
      <p:ext uri="{BB962C8B-B14F-4D97-AF65-F5344CB8AC3E}">
        <p14:creationId xmlns:p14="http://schemas.microsoft.com/office/powerpoint/2010/main" val="1196189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3">
            <a:extLst xmlns:a="http://schemas.openxmlformats.org/drawingml/2006/main">
              <a:ext uri="{FF2B5EF4-FFF2-40B4-BE49-F238E27FC236}">
                <a16:creationId xmlns:a16="http://schemas.microsoft.com/office/drawing/2014/main" id="{BE61ECC5-F4F9-40E3-A5E7-505895F1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JOB RADAR · COURSE DEFENSE</a:t>
            </a:r>
          </a:p>
        </p:txBody>
      </p:sp>
      <p:sp>
        <p:nvSpPr>
          <p:cNvPr id="2" name="slide-title-13">
            <a:extLst xmlns:a="http://schemas.openxmlformats.org/drawingml/2006/main">
              <a:ext uri="{FF2B5EF4-FFF2-40B4-BE49-F238E27FC236}">
                <a16:creationId xmlns:a16="http://schemas.microsoft.com/office/drawing/2014/main" id="{63DF0040-FAAF-4E11-9CDA-66184AE5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公开 Git 仓库保留按功能拆分的真实提交记录</a:t>
            </a:r>
          </a:p>
        </p:txBody>
      </p:sp>
      <p:sp>
        <p:nvSpPr>
          <p:cNvPr id="3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9F999EB2-6F1C-4A16-B2A2-D0004134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13">
            <a:extLst xmlns:a="http://schemas.openxmlformats.org/drawingml/2006/main">
              <a:ext uri="{FF2B5EF4-FFF2-40B4-BE49-F238E27FC236}">
                <a16:creationId xmlns:a16="http://schemas.microsoft.com/office/drawing/2014/main" id="{CD6079CA-4F74-4E7C-8940-303B0B7D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GitHub 提交记录-frame">
            <a:extLst xmlns:a="http://schemas.openxmlformats.org/drawingml/2006/main">
              <a:ext uri="{FF2B5EF4-FFF2-40B4-BE49-F238E27FC236}">
                <a16:creationId xmlns:a16="http://schemas.microsoft.com/office/drawing/2014/main" id="{DA5B3724-9C3E-4CB9-A831-13CBE863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685925"/>
            <a:ext cx="77724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799c2010c43f3"/>
          <a:srcRect xmlns:a="http://schemas.openxmlformats.org/drawingml/2006/main" l="0" t="8604" r="0" b="86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95450"/>
            <a:ext cx="775335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7" name="git-notes">
            <a:extLst xmlns:a="http://schemas.openxmlformats.org/drawingml/2006/main">
              <a:ext uri="{FF2B5EF4-FFF2-40B4-BE49-F238E27FC236}">
                <a16:creationId xmlns:a16="http://schemas.microsoft.com/office/drawing/2014/main" id="{E293C083-3305-4D7D-969E-57382CE3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3219450" cy="445770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6C09234-DD15-4DEA-8DA6-960041E4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证据要点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83D2703-0099-416B-B2B8-CEF9718A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479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3F1E858-2279-467A-91BC-240CEA09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98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公开仓库：wda131/ai-job-radar-course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913C5B-2EE0-419B-BFBB-1365EE2C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7745CE8-5A87-4B3E-9612-A4FFA668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147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feat / fix / docs / chore 分类清晰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5204B6E-BFB8-4A2B-B0C5-CAAD0A79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57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09665CF-1B60-42FC-B2B7-430A1951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195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Redis、RabbitMQ、通知中心独立提交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36AECCA-1349-44C0-AB71-100CA0D3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62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A404210-F832-4A20-A52C-BA895EE9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244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rPr>
              <a:t>答辩前每人以姓名拼音账号提交</a:t>
            </a:r>
          </a:p>
        </p:txBody>
      </p:sp>
      <p:sp>
        <p:nvSpPr>
          <p:cNvPr id="17" name="pill-Public">
            <a:extLst xmlns:a="http://schemas.openxmlformats.org/drawingml/2006/main">
              <a:ext uri="{FF2B5EF4-FFF2-40B4-BE49-F238E27FC236}">
                <a16:creationId xmlns:a16="http://schemas.microsoft.com/office/drawing/2014/main" id="{12EC945F-5361-4EBD-A042-B4ED8E79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50545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ill-text-Public">
            <a:extLst xmlns:a="http://schemas.openxmlformats.org/drawingml/2006/main">
              <a:ext uri="{FF2B5EF4-FFF2-40B4-BE49-F238E27FC236}">
                <a16:creationId xmlns:a16="http://schemas.microsoft.com/office/drawing/2014/main" id="{FD47ADAB-94D5-423C-8382-317D6237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435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Public</a:t>
            </a:r>
          </a:p>
        </p:txBody>
      </p:sp>
      <p:sp>
        <p:nvSpPr>
          <p:cNvPr id="19" name="pill-main">
            <a:extLst xmlns:a="http://schemas.openxmlformats.org/drawingml/2006/main">
              <a:ext uri="{FF2B5EF4-FFF2-40B4-BE49-F238E27FC236}">
                <a16:creationId xmlns:a16="http://schemas.microsoft.com/office/drawing/2014/main" id="{ADB81162-AE26-432A-AFA6-9DB912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0545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ill-text-main">
            <a:extLst xmlns:a="http://schemas.openxmlformats.org/drawingml/2006/main">
              <a:ext uri="{FF2B5EF4-FFF2-40B4-BE49-F238E27FC236}">
                <a16:creationId xmlns:a16="http://schemas.microsoft.com/office/drawing/2014/main" id="{EAD27308-4546-4F92-AAA0-992C62DB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5435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9827628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4">
            <a:extLst xmlns:a="http://schemas.openxmlformats.org/drawingml/2006/main">
              <a:ext uri="{FF2B5EF4-FFF2-40B4-BE49-F238E27FC236}">
                <a16:creationId xmlns:a16="http://schemas.microsoft.com/office/drawing/2014/main" id="{C7C9397D-6243-4AD7-AD39-E98B79D9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JOB RADAR · COURSE DEFENSE</a:t>
            </a:r>
          </a:p>
        </p:txBody>
      </p:sp>
      <p:sp>
        <p:nvSpPr>
          <p:cNvPr id="2" name="slide-title-14">
            <a:extLst xmlns:a="http://schemas.openxmlformats.org/drawingml/2006/main">
              <a:ext uri="{FF2B5EF4-FFF2-40B4-BE49-F238E27FC236}">
                <a16:creationId xmlns:a16="http://schemas.microsoft.com/office/drawing/2014/main" id="{C0989FF0-A331-4F16-A78F-AE31E17B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六人分工以业务闭环为边界，模块数量等于团队人数</a:t>
            </a:r>
          </a:p>
        </p:txBody>
      </p:sp>
      <p:sp>
        <p:nvSpPr>
          <p:cNvPr id="3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2FBD610F-7EB6-4144-9F48-833E4C80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14">
            <a:extLst xmlns:a="http://schemas.openxmlformats.org/drawingml/2006/main">
              <a:ext uri="{FF2B5EF4-FFF2-40B4-BE49-F238E27FC236}">
                <a16:creationId xmlns:a16="http://schemas.microsoft.com/office/drawing/2014/main" id="{E13EECCE-FE29-4E97-A66A-027F3D99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team-header">
            <a:extLst xmlns:a="http://schemas.openxmlformats.org/drawingml/2006/main">
              <a:ext uri="{FF2B5EF4-FFF2-40B4-BE49-F238E27FC236}">
                <a16:creationId xmlns:a16="http://schemas.microsoft.com/office/drawing/2014/main" id="{4A635FFF-E1C8-4AA6-9DFB-2D4F246E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12776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0756B4-9B57-4438-A5E5-1A6BA194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17F7311-85D5-4888-8AE8-A00F6D4C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478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业务模块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4DF03C0-7066-42F3-84F2-4B0AFD9D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47850"/>
            <a:ext cx="331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主要工作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0883870-8847-4E73-A7AF-936ED11A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交付要求</a:t>
            </a:r>
          </a:p>
        </p:txBody>
      </p:sp>
      <p:sp>
        <p:nvSpPr>
          <p:cNvPr id="10" name="team-row-0">
            <a:extLst xmlns:a="http://schemas.openxmlformats.org/drawingml/2006/main">
              <a:ext uri="{FF2B5EF4-FFF2-40B4-BE49-F238E27FC236}">
                <a16:creationId xmlns:a16="http://schemas.microsoft.com/office/drawing/2014/main" id="{78139A51-0EB9-4F34-A45C-1A9EA544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6793791-35B6-48B4-B324-39F2DAE3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成员一（队长）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ABD24C1-A410-4AFB-A52E-6A30CB45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193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用户与画像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F8A2D66-2A24-4ECF-9E1E-127EE2B6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登录、资料、JWT、偏好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1C358E0-AAA2-4381-AC0E-11F33B8A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1935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统筹 / 联调 / 答辩</a:t>
            </a:r>
          </a:p>
        </p:txBody>
      </p:sp>
      <p:sp>
        <p:nvSpPr>
          <p:cNvPr id="15" name="team-row-1">
            <a:extLst xmlns:a="http://schemas.openxmlformats.org/drawingml/2006/main">
              <a:ext uri="{FF2B5EF4-FFF2-40B4-BE49-F238E27FC236}">
                <a16:creationId xmlns:a16="http://schemas.microsoft.com/office/drawing/2014/main" id="{81E725D2-182F-4BD8-A306-AE0B67D5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52AB309-FDE2-4EFA-B710-A00C7B55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成员二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D06C247-A3B2-48AE-A29C-EA267CAC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99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职位雷达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DA74587-68D4-4A64-8487-A6E96FC7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99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检索、详情、Redis 缓存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8073C0D-950A-4409-8A4B-367981D8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页面 + 接口 + 测试</a:t>
            </a:r>
          </a:p>
        </p:txBody>
      </p:sp>
      <p:sp>
        <p:nvSpPr>
          <p:cNvPr id="20" name="team-row-2">
            <a:extLst xmlns:a="http://schemas.openxmlformats.org/drawingml/2006/main">
              <a:ext uri="{FF2B5EF4-FFF2-40B4-BE49-F238E27FC236}">
                <a16:creationId xmlns:a16="http://schemas.microsoft.com/office/drawing/2014/main" id="{EE5E8726-774E-4FA4-867E-94E5F2A7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0520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F212866-F289-48C6-9CEF-9C331C77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成员三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6761DBF-3F90-4EFE-937A-E9E4E07D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00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智能匹配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2E6DBCB-A012-4A7C-8A8C-4630F1A1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045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匹配评分、OpenFeign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86A0ABB-95EA-43C8-9ADE-776BAD4D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页面 + 接口 + 测试</a:t>
            </a:r>
          </a:p>
        </p:txBody>
      </p:sp>
      <p:sp>
        <p:nvSpPr>
          <p:cNvPr id="25" name="team-row-3">
            <a:extLst xmlns:a="http://schemas.openxmlformats.org/drawingml/2006/main">
              <a:ext uri="{FF2B5EF4-FFF2-40B4-BE49-F238E27FC236}">
                <a16:creationId xmlns:a16="http://schemas.microsoft.com/office/drawing/2014/main" id="{428B3028-5916-4B4C-B2AA-D77A0695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A0E39B4-F167-4102-9CCC-A72D7609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成员四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86D17EB-5711-4CFC-A787-4C755B97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910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求职行动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352A7F1-0E79-4AFA-BCBF-D402D84C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910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收藏、投递、RabbitMQ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BA870F9-B296-4296-AC7C-836115BB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9100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页面 + 接口 + 测试</a:t>
            </a:r>
          </a:p>
        </p:txBody>
      </p:sp>
      <p:sp>
        <p:nvSpPr>
          <p:cNvPr id="30" name="team-row-4">
            <a:extLst xmlns:a="http://schemas.openxmlformats.org/drawingml/2006/main">
              <a:ext uri="{FF2B5EF4-FFF2-40B4-BE49-F238E27FC236}">
                <a16:creationId xmlns:a16="http://schemas.microsoft.com/office/drawing/2014/main" id="{E8FEFCCA-9EF2-4EDE-A7E4-8537E9B9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B7C64988-D96E-4C76-8B56-C3D68E75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815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成员五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311F2CD-3271-49CB-BF50-3952261C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模拟面试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26620DE-BC80-4241-BA77-F09D3FCE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8155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四题流程、答案、评分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8CD8DED3-8B32-40E8-BEF4-CAB7DD19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页面 + 接口 + 测试</a:t>
            </a:r>
          </a:p>
        </p:txBody>
      </p:sp>
      <p:sp>
        <p:nvSpPr>
          <p:cNvPr id="35" name="team-row-5">
            <a:extLst xmlns:a="http://schemas.openxmlformats.org/drawingml/2006/main">
              <a:ext uri="{FF2B5EF4-FFF2-40B4-BE49-F238E27FC236}">
                <a16:creationId xmlns:a16="http://schemas.microsoft.com/office/drawing/2014/main" id="{18FE5F50-3F9B-428C-B69C-0D718869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0D4DA361-4428-4462-8BDD-48A69EB9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成员六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5FD2D8F9-3199-4F4E-9835-7ADEB461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721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消息中心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379BA4E8-724B-4245-BC47-26255DA2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721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消费事件、未读、已读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682E425-1012-49F8-BAB3-F8D49A4C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7210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页面 + 接口 + 测试</a:t>
            </a:r>
          </a:p>
        </p:txBody>
      </p:sp>
      <p:sp>
        <p:nvSpPr>
          <p:cNvPr id="40" name="team-warning">
            <a:extLst xmlns:a="http://schemas.openxmlformats.org/drawingml/2006/main">
              <a:ext uri="{FF2B5EF4-FFF2-40B4-BE49-F238E27FC236}">
                <a16:creationId xmlns:a16="http://schemas.microsoft.com/office/drawing/2014/main" id="{AA997E37-C77E-4FA9-8108-6732BE2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11277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2CF12FDA-DF38-4A4E-AB47-A55B3CFB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rPr>
              <a:t>答辩前：替换真实姓名；每人至少 2 次有效提交；队长汇总 Git 截图与演示顺序。</a:t>
            </a:r>
          </a:p>
        </p:txBody>
      </p:sp>
    </p:spTree>
    <p:extLst>
      <p:ext uri="{BB962C8B-B14F-4D97-AF65-F5344CB8AC3E}">
        <p14:creationId xmlns:p14="http://schemas.microsoft.com/office/powerpoint/2010/main" val="5950907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434949F-ADA1-4960-934C-40E101B4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求职雷达 · 课程项目答辩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645918F-A53E-49F2-9B8B-8FAB67A7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功能形成闭环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17DF231-A856-4776-B963-80CBB4EB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技术进入主链路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7668BB5-1830-458D-9FDF-5CE36552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证据支撑答辩</a:t>
            </a:r>
          </a:p>
        </p:txBody>
      </p:sp>
      <p:sp>
        <p:nvSpPr>
          <p:cNvPr id="5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8EF92DDD-82AE-425A-80A7-6DE4A1A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02E3266-6C89-4C15-BD58-6E37217A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谢谢观看 · 欢迎提问</a:t>
            </a:r>
          </a:p>
        </p:txBody>
      </p:sp>
      <p:sp>
        <p:nvSpPr>
          <p:cNvPr id="7" name="pill-Spring Cloud">
            <a:extLst xmlns:a="http://schemas.openxmlformats.org/drawingml/2006/main">
              <a:ext uri="{FF2B5EF4-FFF2-40B4-BE49-F238E27FC236}">
                <a16:creationId xmlns:a16="http://schemas.microsoft.com/office/drawing/2014/main" id="{8DA399DB-1618-43BA-9DA6-01E427DD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371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ill-text-Spring Cloud">
            <a:extLst xmlns:a="http://schemas.openxmlformats.org/drawingml/2006/main">
              <a:ext uri="{FF2B5EF4-FFF2-40B4-BE49-F238E27FC236}">
                <a16:creationId xmlns:a16="http://schemas.microsoft.com/office/drawing/2014/main" id="{B2AB62D0-783D-4106-A7A2-6D3A5B1C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Spring Cloud</a:t>
            </a:r>
          </a:p>
        </p:txBody>
      </p:sp>
      <p:sp>
        <p:nvSpPr>
          <p:cNvPr id="9" name="pill-Vue 3">
            <a:extLst xmlns:a="http://schemas.openxmlformats.org/drawingml/2006/main">
              <a:ext uri="{FF2B5EF4-FFF2-40B4-BE49-F238E27FC236}">
                <a16:creationId xmlns:a16="http://schemas.microsoft.com/office/drawing/2014/main" id="{7757B13B-BC66-41CD-9243-3FE2BE24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05500"/>
            <a:ext cx="895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ill-text-Vue 3">
            <a:extLst xmlns:a="http://schemas.openxmlformats.org/drawingml/2006/main">
              <a:ext uri="{FF2B5EF4-FFF2-40B4-BE49-F238E27FC236}">
                <a16:creationId xmlns:a16="http://schemas.microsoft.com/office/drawing/2014/main" id="{19EDA701-5788-4B0F-867B-695E4813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9436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Vue 3</a:t>
            </a:r>
          </a:p>
        </p:txBody>
      </p:sp>
      <p:sp>
        <p:nvSpPr>
          <p:cNvPr id="11" name="pill-Redis">
            <a:extLst xmlns:a="http://schemas.openxmlformats.org/drawingml/2006/main">
              <a:ext uri="{FF2B5EF4-FFF2-40B4-BE49-F238E27FC236}">
                <a16:creationId xmlns:a16="http://schemas.microsoft.com/office/drawing/2014/main" id="{667826BA-D521-4CA6-9CB0-AEABEE3D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05500"/>
            <a:ext cx="895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ill-text-Redis">
            <a:extLst xmlns:a="http://schemas.openxmlformats.org/drawingml/2006/main">
              <a:ext uri="{FF2B5EF4-FFF2-40B4-BE49-F238E27FC236}">
                <a16:creationId xmlns:a16="http://schemas.microsoft.com/office/drawing/2014/main" id="{1872B9F4-8B5B-4444-B648-26707962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9436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04438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13" name="pill-RabbitMQ">
            <a:extLst xmlns:a="http://schemas.openxmlformats.org/drawingml/2006/main">
              <a:ext uri="{FF2B5EF4-FFF2-40B4-BE49-F238E27FC236}">
                <a16:creationId xmlns:a16="http://schemas.microsoft.com/office/drawing/2014/main" id="{CCD5B01C-C076-4A85-A505-BB8929FB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90550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l-text-RabbitMQ">
            <a:extLst xmlns:a="http://schemas.openxmlformats.org/drawingml/2006/main">
              <a:ext uri="{FF2B5EF4-FFF2-40B4-BE49-F238E27FC236}">
                <a16:creationId xmlns:a16="http://schemas.microsoft.com/office/drawing/2014/main" id="{34509DE7-8CEE-4985-BD5C-F4077F15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9436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RabbitMQ</a:t>
            </a:r>
          </a:p>
        </p:txBody>
      </p:sp>
    </p:spTree>
    <p:extLst>
      <p:ext uri="{BB962C8B-B14F-4D97-AF65-F5344CB8AC3E}">
        <p14:creationId xmlns:p14="http://schemas.microsoft.com/office/powerpoint/2010/main" val="24106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2026-07-14T14:17:24.0740000Z</dcterms:created>
  <dcterms:modified xsi:type="dcterms:W3CDTF">2026-07-14T14:17:24.0740000Z</dcterms:modified>
</coreProperties>
</file>