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6ead1e7a8374b49" /><Relationship Type="http://schemas.openxmlformats.org/officeDocument/2006/relationships/extended-properties" Target="/docProps/app.xml" Id="R45f6c466da6c4415" /><Relationship Type="http://schemas.openxmlformats.org/officeDocument/2006/relationships/officeDocument" Target="/ppt/presentation.xml" Id="R5a1133469b8f4d4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1145311ccba4e3a"/>
  </p:sldMasterIdLst>
  <p:notesMasterIdLst>
    <p:notesMasterId xmlns:r="http://schemas.openxmlformats.org/officeDocument/2006/relationships" r:id="Rbbe4aa758de245a0"/>
  </p:notesMasterIdLst>
  <p:sldIdLst>
    <p:sldId xmlns:r="http://schemas.openxmlformats.org/officeDocument/2006/relationships" id="256" r:id="R61b28309591f46e7"/>
    <p:sldId xmlns:r="http://schemas.openxmlformats.org/officeDocument/2006/relationships" id="257" r:id="Rf6f3c4cd5d0c4000"/>
    <p:sldId xmlns:r="http://schemas.openxmlformats.org/officeDocument/2006/relationships" id="258" r:id="R69b88630c37c42af"/>
    <p:sldId xmlns:r="http://schemas.openxmlformats.org/officeDocument/2006/relationships" id="259" r:id="R4020d0ba31cd4da5"/>
    <p:sldId xmlns:r="http://schemas.openxmlformats.org/officeDocument/2006/relationships" id="260" r:id="R3bbfa3258d114f05"/>
    <p:sldId xmlns:r="http://schemas.openxmlformats.org/officeDocument/2006/relationships" id="261" r:id="R79fef01aea614d52"/>
    <p:sldId xmlns:r="http://schemas.openxmlformats.org/officeDocument/2006/relationships" id="262" r:id="R2af203616f344c95"/>
    <p:sldId xmlns:r="http://schemas.openxmlformats.org/officeDocument/2006/relationships" id="263" r:id="Ra12d7f8c91b64052"/>
    <p:sldId xmlns:r="http://schemas.openxmlformats.org/officeDocument/2006/relationships" id="264" r:id="R750d905c938941be"/>
    <p:sldId xmlns:r="http://schemas.openxmlformats.org/officeDocument/2006/relationships" id="265" r:id="R6c05201c47bb4e86"/>
    <p:sldId xmlns:r="http://schemas.openxmlformats.org/officeDocument/2006/relationships" id="266" r:id="Ra3e298513e924770"/>
    <p:sldId xmlns:r="http://schemas.openxmlformats.org/officeDocument/2006/relationships" id="267" r:id="Rcf423b6033a24aa8"/>
    <p:sldId xmlns:r="http://schemas.openxmlformats.org/officeDocument/2006/relationships" id="268" r:id="R023f0f6063024067"/>
    <p:sldId xmlns:r="http://schemas.openxmlformats.org/officeDocument/2006/relationships" id="269" r:id="Rcc1c63323dc74233"/>
    <p:sldId xmlns:r="http://schemas.openxmlformats.org/officeDocument/2006/relationships" id="270" r:id="R79fceae7396b4d4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48a162144944621" /><Relationship Type="http://schemas.openxmlformats.org/officeDocument/2006/relationships/slideMaster" Target="/ppt/slideMasters/slideMaster1.xml" Id="R01145311ccba4e3a" /><Relationship Type="http://schemas.openxmlformats.org/officeDocument/2006/relationships/notesMaster" Target="/ppt/notesMasters/notesMaster1.xml" Id="Rbbe4aa758de245a0" /><Relationship Type="http://schemas.openxmlformats.org/officeDocument/2006/relationships/presProps" Target="/ppt/presProps.xml" Id="R70d54a06ab7946c7" /><Relationship Type="http://schemas.openxmlformats.org/officeDocument/2006/relationships/tableStyles" Target="/ppt/tableStyles.xml" Id="Rc36613473f254d69" /><Relationship Type="http://schemas.openxmlformats.org/officeDocument/2006/relationships/slide" Target="/ppt/slides/slide1.xml" Id="R61b28309591f46e7" /><Relationship Type="http://schemas.openxmlformats.org/officeDocument/2006/relationships/slide" Target="/ppt/slides/slide2.xml" Id="Rf6f3c4cd5d0c4000" /><Relationship Type="http://schemas.openxmlformats.org/officeDocument/2006/relationships/slide" Target="/ppt/slides/slide3.xml" Id="R69b88630c37c42af" /><Relationship Type="http://schemas.openxmlformats.org/officeDocument/2006/relationships/slide" Target="/ppt/slides/slide4.xml" Id="R4020d0ba31cd4da5" /><Relationship Type="http://schemas.openxmlformats.org/officeDocument/2006/relationships/slide" Target="/ppt/slides/slide5.xml" Id="R3bbfa3258d114f05" /><Relationship Type="http://schemas.openxmlformats.org/officeDocument/2006/relationships/slide" Target="/ppt/slides/slide6.xml" Id="R79fef01aea614d52" /><Relationship Type="http://schemas.openxmlformats.org/officeDocument/2006/relationships/slide" Target="/ppt/slides/slide7.xml" Id="R2af203616f344c95" /><Relationship Type="http://schemas.openxmlformats.org/officeDocument/2006/relationships/slide" Target="/ppt/slides/slide8.xml" Id="Ra12d7f8c91b64052" /><Relationship Type="http://schemas.openxmlformats.org/officeDocument/2006/relationships/slide" Target="/ppt/slides/slide9.xml" Id="R750d905c938941be" /><Relationship Type="http://schemas.openxmlformats.org/officeDocument/2006/relationships/slide" Target="/ppt/slides/slide10.xml" Id="R6c05201c47bb4e86" /><Relationship Type="http://schemas.openxmlformats.org/officeDocument/2006/relationships/slide" Target="/ppt/slides/slide11.xml" Id="Ra3e298513e924770" /><Relationship Type="http://schemas.openxmlformats.org/officeDocument/2006/relationships/slide" Target="/ppt/slides/slide12.xml" Id="Rcf423b6033a24aa8" /><Relationship Type="http://schemas.openxmlformats.org/officeDocument/2006/relationships/slide" Target="/ppt/slides/slide13.xml" Id="R023f0f6063024067" /><Relationship Type="http://schemas.openxmlformats.org/officeDocument/2006/relationships/slide" Target="/ppt/slides/slide14.xml" Id="Rcc1c63323dc74233" /><Relationship Type="http://schemas.openxmlformats.org/officeDocument/2006/relationships/slide" Target="/ppt/slides/slide15.xml" Id="R79fceae7396b4d4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6170afe560942d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326c66acf5e415b" /><Relationship Type="http://schemas.openxmlformats.org/officeDocument/2006/relationships/notesMaster" Target="/ppt/notesMasters/notesMaster1.xml" Id="R97f6b2b9c010476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0f25defee294996" /><Relationship Type="http://schemas.openxmlformats.org/officeDocument/2006/relationships/notesMaster" Target="/ppt/notesMasters/notesMaster1.xml" Id="Rd52b4e8e9ff146e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3eaf0d28aaa4077" /><Relationship Type="http://schemas.openxmlformats.org/officeDocument/2006/relationships/notesMaster" Target="/ppt/notesMasters/notesMaster1.xml" Id="R04491579f4574d8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47d8ce1968c4e22" /><Relationship Type="http://schemas.openxmlformats.org/officeDocument/2006/relationships/notesMaster" Target="/ppt/notesMasters/notesMaster1.xml" Id="Rb02d584e33ce483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287951dc7bf4c8c" /><Relationship Type="http://schemas.openxmlformats.org/officeDocument/2006/relationships/notesMaster" Target="/ppt/notesMasters/notesMaster1.xml" Id="Rc060aa2414b8434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a80468842864241" /><Relationship Type="http://schemas.openxmlformats.org/officeDocument/2006/relationships/notesMaster" Target="/ppt/notesMasters/notesMaster1.xml" Id="R20ba7aa64539408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19c2904e0c149fe" /><Relationship Type="http://schemas.openxmlformats.org/officeDocument/2006/relationships/notesMaster" Target="/ppt/notesMasters/notesMaster1.xml" Id="R36bc9ff2ca4f495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729e0bba6754c90" /><Relationship Type="http://schemas.openxmlformats.org/officeDocument/2006/relationships/notesMaster" Target="/ppt/notesMasters/notesMaster1.xml" Id="R336a237b465d41a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70fffca1bd14f10" /><Relationship Type="http://schemas.openxmlformats.org/officeDocument/2006/relationships/notesMaster" Target="/ppt/notesMasters/notesMaster1.xml" Id="Rf225e70df2f84ee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32a54a9518142e7" /><Relationship Type="http://schemas.openxmlformats.org/officeDocument/2006/relationships/notesMaster" Target="/ppt/notesMasters/notesMaster1.xml" Id="R31635f51d5d24c8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0c5ebf96cd74ab0" /><Relationship Type="http://schemas.openxmlformats.org/officeDocument/2006/relationships/notesMaster" Target="/ppt/notesMasters/notesMaster1.xml" Id="Rcc38a734f905457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115db676b294277" /><Relationship Type="http://schemas.openxmlformats.org/officeDocument/2006/relationships/notesMaster" Target="/ppt/notesMasters/notesMaster1.xml" Id="R93a1bbe4afe1405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346e213882c43b0" /><Relationship Type="http://schemas.openxmlformats.org/officeDocument/2006/relationships/notesMaster" Target="/ppt/notesMasters/notesMaster1.xml" Id="R31a67f5162b74fc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6667dc0bb9d4218" /><Relationship Type="http://schemas.openxmlformats.org/officeDocument/2006/relationships/notesMaster" Target="/ppt/notesMasters/notesMaster1.xml" Id="R9e5f684b772b4f5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6440e1373734aa8" /><Relationship Type="http://schemas.openxmlformats.org/officeDocument/2006/relationships/notesMaster" Target="/ppt/notesMasters/notesMaster1.xml" Id="Re882725ea503410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02e0108b1b481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feb4746925342a3" /><Relationship Type="http://schemas.openxmlformats.org/officeDocument/2006/relationships/slideLayout" Target="/ppt/slideLayouts/slideLayout1.xml" Id="Rbedfbcb503ae4f9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edfbcb503ae4f9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ec1af411784a4c" /><Relationship Type="http://schemas.openxmlformats.org/officeDocument/2006/relationships/notesSlide" Target="/ppt/notesSlides/notesSlide1.xml" Id="R6a010f6734e44ad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4b77d1c3bf416f" /><Relationship Type="http://schemas.openxmlformats.org/officeDocument/2006/relationships/notesSlide" Target="/ppt/notesSlides/notesSlide2.xml" Id="R666ece7dfb244ba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9771c456ee4747" /><Relationship Type="http://schemas.openxmlformats.org/officeDocument/2006/relationships/notesSlide" Target="/ppt/notesSlides/notesSlide3.xml" Id="R125cef3c16064ce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d76862aa674982" /><Relationship Type="http://schemas.openxmlformats.org/officeDocument/2006/relationships/notesSlide" Target="/ppt/notesSlides/notesSlide4.xml" Id="R5061cd3eb9424ef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8850153a0f4b65" /><Relationship Type="http://schemas.openxmlformats.org/officeDocument/2006/relationships/notesSlide" Target="/ppt/notesSlides/notesSlide5.xml" Id="R7a05c11beaf44cb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fff9572db943f4" /><Relationship Type="http://schemas.openxmlformats.org/officeDocument/2006/relationships/notesSlide" Target="/ppt/notesSlides/notesSlide6.xml" Id="Re4b131a3d6144fc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0f6f1098484898" /><Relationship Type="http://schemas.openxmlformats.org/officeDocument/2006/relationships/image" Target="/ppt/media/image.jpeg" Id="Rfa18b22a16a74d27" /><Relationship Type="http://schemas.openxmlformats.org/officeDocument/2006/relationships/image" Target="/ppt/media/image2.jpeg" Id="R5cbec60fafcd493c" /><Relationship Type="http://schemas.openxmlformats.org/officeDocument/2006/relationships/image" Target="/ppt/media/image3.jpeg" Id="R57a8513b4a484e8a" /><Relationship Type="http://schemas.openxmlformats.org/officeDocument/2006/relationships/notesSlide" Target="/ppt/notesSlides/notesSlide7.xml" Id="R3c12958c13f546f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42e2be17954d01" /><Relationship Type="http://schemas.openxmlformats.org/officeDocument/2006/relationships/notesSlide" Target="/ppt/notesSlides/notesSlide8.xml" Id="R5302377a34cd4ae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e09a0e7dad40d3" /><Relationship Type="http://schemas.openxmlformats.org/officeDocument/2006/relationships/notesSlide" Target="/ppt/notesSlides/notesSlide9.xml" Id="Rf50b091927b8464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6f69514ceb48d7" /><Relationship Type="http://schemas.openxmlformats.org/officeDocument/2006/relationships/notesSlide" Target="/ppt/notesSlides/notesSlide10.xml" Id="R5341d60c77e248f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8273ee76074811" /><Relationship Type="http://schemas.openxmlformats.org/officeDocument/2006/relationships/notesSlide" Target="/ppt/notesSlides/notesSlide11.xml" Id="R4f27a0098162431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aa13d063bf4808" /><Relationship Type="http://schemas.openxmlformats.org/officeDocument/2006/relationships/notesSlide" Target="/ppt/notesSlides/notesSlide12.xml" Id="Rf00da438a101407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df12351ec34263" /><Relationship Type="http://schemas.openxmlformats.org/officeDocument/2006/relationships/image" Target="/ppt/media/image.png" Id="Rcd12b7a7b2764d9e" /><Relationship Type="http://schemas.openxmlformats.org/officeDocument/2006/relationships/notesSlide" Target="/ppt/notesSlides/notesSlide13.xml" Id="Ra8deac07f7174aa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8916ca6e774809" /><Relationship Type="http://schemas.openxmlformats.org/officeDocument/2006/relationships/notesSlide" Target="/ppt/notesSlides/notesSlide14.xml" Id="Rc01d714d2d56489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3504b8719b465a" /><Relationship Type="http://schemas.openxmlformats.org/officeDocument/2006/relationships/notesSlide" Target="/ppt/notesSlides/notesSlide15.xml" Id="R83973db5f85341b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57F03F6E-B54C-4305-A1EC-1E98FCB22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571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SPRING CLOUD 课程项目 · 2026</a:t>
            </a:r>
          </a:p>
        </p:txBody>
      </p:sp>
      <p:sp>
        <p:nvSpPr>
          <p:cNvPr id="2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7B8668EA-723E-4BBA-8832-65020F836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47750"/>
            <a:ext cx="9144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over-title">
            <a:extLst xmlns:a="http://schemas.openxmlformats.org/drawingml/2006/main">
              <a:ext uri="{FF2B5EF4-FFF2-40B4-BE49-F238E27FC236}">
                <a16:creationId xmlns:a16="http://schemas.microsoft.com/office/drawing/2014/main" id="{377D849A-4557-413B-BFCE-121CC0BF5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81150"/>
            <a:ext cx="9334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54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4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AI 求职雷达</a:t>
            </a:r>
          </a:p>
        </p:txBody>
      </p:sp>
      <p:sp>
        <p:nvSpPr>
          <p:cNvPr id="4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97D6D94A-599A-4429-AF5B-880E60A03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86050"/>
            <a:ext cx="9334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课程框架重制版</a:t>
            </a:r>
          </a:p>
        </p:txBody>
      </p:sp>
      <p:sp>
        <p:nvSpPr>
          <p:cNvPr id="5" name="cover-desc">
            <a:extLst xmlns:a="http://schemas.openxmlformats.org/drawingml/2006/main">
              <a:ext uri="{FF2B5EF4-FFF2-40B4-BE49-F238E27FC236}">
                <a16:creationId xmlns:a16="http://schemas.microsoft.com/office/drawing/2014/main" id="{0CC5C68E-D9DB-4D18-8F31-570DCA87D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095750"/>
            <a:ext cx="7810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从职位发现、智能匹配到投递、模拟面试与异步通知的完整求职闭环</a:t>
            </a:r>
          </a:p>
        </p:txBody>
      </p:sp>
      <p:sp>
        <p:nvSpPr>
          <p:cNvPr id="6" name="pill-7 个微服务">
            <a:extLst xmlns:a="http://schemas.openxmlformats.org/drawingml/2006/main">
              <a:ext uri="{FF2B5EF4-FFF2-40B4-BE49-F238E27FC236}">
                <a16:creationId xmlns:a16="http://schemas.microsoft.com/office/drawing/2014/main" id="{F078BF39-07B1-437E-B7D1-F61B3FD55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219700"/>
            <a:ext cx="12763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ill-text-7 个微服务">
            <a:extLst xmlns:a="http://schemas.openxmlformats.org/drawingml/2006/main">
              <a:ext uri="{FF2B5EF4-FFF2-40B4-BE49-F238E27FC236}">
                <a16:creationId xmlns:a16="http://schemas.microsoft.com/office/drawing/2014/main" id="{F29AFCDF-0A3A-4A72-80F5-96D460103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57800"/>
            <a:ext cx="1123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7 个微服务</a:t>
            </a:r>
          </a:p>
        </p:txBody>
      </p:sp>
      <p:sp>
        <p:nvSpPr>
          <p:cNvPr id="8" name="pill-6 个业务模块">
            <a:extLst xmlns:a="http://schemas.openxmlformats.org/drawingml/2006/main">
              <a:ext uri="{FF2B5EF4-FFF2-40B4-BE49-F238E27FC236}">
                <a16:creationId xmlns:a16="http://schemas.microsoft.com/office/drawing/2014/main" id="{5E547821-21E2-4A5B-A74C-F724BC82A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219700"/>
            <a:ext cx="1428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CFD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ill-text-6 个业务模块">
            <a:extLst xmlns:a="http://schemas.openxmlformats.org/drawingml/2006/main">
              <a:ext uri="{FF2B5EF4-FFF2-40B4-BE49-F238E27FC236}">
                <a16:creationId xmlns:a16="http://schemas.microsoft.com/office/drawing/2014/main" id="{018EC4BA-A1A0-4157-AF35-86197E0E0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257800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2B7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2B76A"/>
                </a:solidFill>
                <a:latin typeface="Microsoft YaHei"/>
                <a:ea typeface="Microsoft YaHei"/>
                <a:cs typeface="Microsoft YaHei"/>
              </a:rPr>
              <a:t>6 个业务模块</a:t>
            </a:r>
          </a:p>
        </p:txBody>
      </p:sp>
      <p:sp>
        <p:nvSpPr>
          <p:cNvPr id="10" name="pill-38 项自动化测试">
            <a:extLst xmlns:a="http://schemas.openxmlformats.org/drawingml/2006/main">
              <a:ext uri="{FF2B5EF4-FFF2-40B4-BE49-F238E27FC236}">
                <a16:creationId xmlns:a16="http://schemas.microsoft.com/office/drawing/2014/main" id="{C34083D0-34D7-4AEF-9BB6-107C4A764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5219700"/>
            <a:ext cx="1638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FA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ill-text-38 项自动化测试">
            <a:extLst xmlns:a="http://schemas.openxmlformats.org/drawingml/2006/main">
              <a:ext uri="{FF2B5EF4-FFF2-40B4-BE49-F238E27FC236}">
                <a16:creationId xmlns:a16="http://schemas.microsoft.com/office/drawing/2014/main" id="{F185B819-3AD7-4E59-BE90-EB9A833F6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525780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rPr>
              <a:t>38 项自动化测试</a:t>
            </a:r>
          </a:p>
        </p:txBody>
      </p:sp>
      <p:sp>
        <p:nvSpPr>
          <p:cNvPr id="12" name="cover-team">
            <a:extLst xmlns:a="http://schemas.openxmlformats.org/drawingml/2006/main">
              <a:ext uri="{FF2B5EF4-FFF2-40B4-BE49-F238E27FC236}">
                <a16:creationId xmlns:a16="http://schemas.microsoft.com/office/drawing/2014/main" id="{40C77376-6B22-443A-9E10-36C62EDE7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019800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答辩小组｜成员一（队长） · 成员二 · 成员三 · 成员四 · 成员五 · 成员六</a:t>
            </a:r>
          </a:p>
        </p:txBody>
      </p:sp>
    </p:spTree>
    <p:extLst>
      <p:ext uri="{BB962C8B-B14F-4D97-AF65-F5344CB8AC3E}">
        <p14:creationId xmlns:p14="http://schemas.microsoft.com/office/powerpoint/2010/main" val="104764309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-2">
            <a:extLst xmlns:a="http://schemas.openxmlformats.org/drawingml/2006/main">
              <a:ext uri="{FF2B5EF4-FFF2-40B4-BE49-F238E27FC236}">
                <a16:creationId xmlns:a16="http://schemas.microsoft.com/office/drawing/2014/main" id="{846F0E35-57D1-4E72-8622-B7955E17F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AI JOB RADAR · COURSE DEFENSE</a:t>
            </a:r>
          </a:p>
        </p:txBody>
      </p:sp>
      <p:sp>
        <p:nvSpPr>
          <p:cNvPr id="2" name="slide-title-2">
            <a:extLst xmlns:a="http://schemas.openxmlformats.org/drawingml/2006/main">
              <a:ext uri="{FF2B5EF4-FFF2-40B4-BE49-F238E27FC236}">
                <a16:creationId xmlns:a16="http://schemas.microsoft.com/office/drawing/2014/main" id="{C54B634A-7B06-4C67-B3E5-9CEECE1BB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085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不是功能堆砌，而是一条可现场演示的求职闭环</a:t>
            </a:r>
          </a:p>
        </p:txBody>
      </p:sp>
      <p:sp>
        <p:nvSpPr>
          <p:cNvPr id="3" name="title-rule-2">
            <a:extLst xmlns:a="http://schemas.openxmlformats.org/drawingml/2006/main">
              <a:ext uri="{FF2B5EF4-FFF2-40B4-BE49-F238E27FC236}">
                <a16:creationId xmlns:a16="http://schemas.microsoft.com/office/drawing/2014/main" id="{459401F1-E680-4470-AA12-228553A36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3350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-2">
            <a:extLst xmlns:a="http://schemas.openxmlformats.org/drawingml/2006/main">
              <a:ext uri="{FF2B5EF4-FFF2-40B4-BE49-F238E27FC236}">
                <a16:creationId xmlns:a16="http://schemas.microsoft.com/office/drawing/2014/main" id="{BA178189-00D4-4287-9495-9C5613A53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238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699C02B2-43AB-427B-9694-8770351B3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57350"/>
            <a:ext cx="5334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课程考查的核心，是把业务问题落到课堂技术路线中。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0FE42B4C-71EF-414F-BEAE-CBA5D4174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52700"/>
            <a:ext cx="4953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我们保留原项目最有价值的体验，并主动收敛功能范围：每个页面都能找到对应服务、数据与技术证据。</a:t>
            </a:r>
          </a:p>
        </p:txBody>
      </p:sp>
      <p:sp>
        <p:nvSpPr>
          <p:cNvPr id="7" name="pill-可演示">
            <a:extLst xmlns:a="http://schemas.openxmlformats.org/drawingml/2006/main">
              <a:ext uri="{FF2B5EF4-FFF2-40B4-BE49-F238E27FC236}">
                <a16:creationId xmlns:a16="http://schemas.microsoft.com/office/drawing/2014/main" id="{2A96B83D-D524-4207-8754-0E5C0AB39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95750"/>
            <a:ext cx="9906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ill-text-可演示">
            <a:extLst xmlns:a="http://schemas.openxmlformats.org/drawingml/2006/main">
              <a:ext uri="{FF2B5EF4-FFF2-40B4-BE49-F238E27FC236}">
                <a16:creationId xmlns:a16="http://schemas.microsoft.com/office/drawing/2014/main" id="{9D47636B-85E6-46AE-A257-A07785A10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338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可演示</a:t>
            </a:r>
          </a:p>
        </p:txBody>
      </p:sp>
      <p:sp>
        <p:nvSpPr>
          <p:cNvPr id="9" name="pill-可解释">
            <a:extLst xmlns:a="http://schemas.openxmlformats.org/drawingml/2006/main">
              <a:ext uri="{FF2B5EF4-FFF2-40B4-BE49-F238E27FC236}">
                <a16:creationId xmlns:a16="http://schemas.microsoft.com/office/drawing/2014/main" id="{DA2A9EB5-D739-42DE-B6BF-275B5B9FA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095750"/>
            <a:ext cx="9906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CFD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ill-text-可解释">
            <a:extLst xmlns:a="http://schemas.openxmlformats.org/drawingml/2006/main">
              <a:ext uri="{FF2B5EF4-FFF2-40B4-BE49-F238E27FC236}">
                <a16:creationId xmlns:a16="http://schemas.microsoft.com/office/drawing/2014/main" id="{129A7249-C96B-4975-932B-49E196CDA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1338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2B7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2B76A"/>
                </a:solidFill>
                <a:latin typeface="Microsoft YaHei"/>
                <a:ea typeface="Microsoft YaHei"/>
                <a:cs typeface="Microsoft YaHei"/>
              </a:rPr>
              <a:t>可解释</a:t>
            </a:r>
          </a:p>
        </p:txBody>
      </p:sp>
      <p:sp>
        <p:nvSpPr>
          <p:cNvPr id="11" name="pill-可分工">
            <a:extLst xmlns:a="http://schemas.openxmlformats.org/drawingml/2006/main">
              <a:ext uri="{FF2B5EF4-FFF2-40B4-BE49-F238E27FC236}">
                <a16:creationId xmlns:a16="http://schemas.microsoft.com/office/drawing/2014/main" id="{EED4F131-E4B1-453E-9252-A974BDEAE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095750"/>
            <a:ext cx="9906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FA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ill-text-可分工">
            <a:extLst xmlns:a="http://schemas.openxmlformats.org/drawingml/2006/main">
              <a:ext uri="{FF2B5EF4-FFF2-40B4-BE49-F238E27FC236}">
                <a16:creationId xmlns:a16="http://schemas.microsoft.com/office/drawing/2014/main" id="{154FBBB6-EF22-4014-961C-A916FCD0F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1338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rPr>
              <a:t>可分工</a:t>
            </a:r>
          </a:p>
        </p:txBody>
      </p:sp>
      <p:sp>
        <p:nvSpPr>
          <p:cNvPr id="13" name="pain-0">
            <a:extLst xmlns:a="http://schemas.openxmlformats.org/drawingml/2006/main">
              <a:ext uri="{FF2B5EF4-FFF2-40B4-BE49-F238E27FC236}">
                <a16:creationId xmlns:a16="http://schemas.microsoft.com/office/drawing/2014/main" id="{22807BA3-27FA-4ABB-B4C8-98FDF0064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676400"/>
            <a:ext cx="550545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41F5DCEA-DE2E-4ADD-BF24-169532047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866900"/>
            <a:ext cx="552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AF44FD31-44E4-4DD7-AF83-BAA3F8112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8478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职位信息分散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92416A2D-DD81-47E7-98C2-8BD4D63FB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24790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搜索与条件筛选统一入口</a:t>
            </a:r>
          </a:p>
        </p:txBody>
      </p:sp>
      <p:sp>
        <p:nvSpPr>
          <p:cNvPr id="17" name="pain-1">
            <a:extLst xmlns:a="http://schemas.openxmlformats.org/drawingml/2006/main">
              <a:ext uri="{FF2B5EF4-FFF2-40B4-BE49-F238E27FC236}">
                <a16:creationId xmlns:a16="http://schemas.microsoft.com/office/drawing/2014/main" id="{C0F2939D-06FD-4FF6-80BD-2EC09DB21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028950"/>
            <a:ext cx="550545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BF3AC93F-9AC4-4CCF-A36F-13868C4C7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219450"/>
            <a:ext cx="552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954A0C43-A629-4612-AE1A-8C0E1630A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2004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求职决策缺少反馈</a:t>
            </a:r>
          </a:p>
        </p:txBody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CF07A00D-A8D3-4001-B401-E36548BCE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6004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匹配度、收藏和投递状态可追踪</a:t>
            </a:r>
          </a:p>
        </p:txBody>
      </p:sp>
      <p:sp>
        <p:nvSpPr>
          <p:cNvPr id="21" name="pain-2">
            <a:extLst xmlns:a="http://schemas.openxmlformats.org/drawingml/2006/main">
              <a:ext uri="{FF2B5EF4-FFF2-40B4-BE49-F238E27FC236}">
                <a16:creationId xmlns:a16="http://schemas.microsoft.com/office/drawing/2014/main" id="{F9913849-1055-4FFC-A3F8-189D2F779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381500"/>
            <a:ext cx="550545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B5F13405-BB8A-42D4-90A8-322479F49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572000"/>
            <a:ext cx="552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23" name="text">
            <a:extLst xmlns:a="http://schemas.openxmlformats.org/drawingml/2006/main">
              <a:ext uri="{FF2B5EF4-FFF2-40B4-BE49-F238E27FC236}">
                <a16:creationId xmlns:a16="http://schemas.microsoft.com/office/drawing/2014/main" id="{33D6A49B-5515-45AE-B9C8-89696C359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5529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练习与结果割裂</a:t>
            </a:r>
          </a:p>
        </p:txBody>
      </p:sp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6E2F34CB-3231-4F38-BEEF-D9486E352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95300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四题模拟面试与通知闭环</a:t>
            </a:r>
          </a:p>
        </p:txBody>
      </p:sp>
    </p:spTree>
    <p:extLst>
      <p:ext uri="{BB962C8B-B14F-4D97-AF65-F5344CB8AC3E}">
        <p14:creationId xmlns:p14="http://schemas.microsoft.com/office/powerpoint/2010/main" val="110003012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-3">
            <a:extLst xmlns:a="http://schemas.openxmlformats.org/drawingml/2006/main">
              <a:ext uri="{FF2B5EF4-FFF2-40B4-BE49-F238E27FC236}">
                <a16:creationId xmlns:a16="http://schemas.microsoft.com/office/drawing/2014/main" id="{813D208A-292A-4D11-91BD-56F9AC534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AI JOB RADAR · COURSE DEFENSE</a:t>
            </a:r>
          </a:p>
        </p:txBody>
      </p:sp>
      <p:sp>
        <p:nvSpPr>
          <p:cNvPr id="2" name="slide-title-3">
            <a:extLst xmlns:a="http://schemas.openxmlformats.org/drawingml/2006/main">
              <a:ext uri="{FF2B5EF4-FFF2-40B4-BE49-F238E27FC236}">
                <a16:creationId xmlns:a16="http://schemas.microsoft.com/office/drawing/2014/main" id="{1266F716-6709-47EB-B1C0-AD7487406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085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六步业务闭环，正好对应六个端到端模块</a:t>
            </a:r>
          </a:p>
        </p:txBody>
      </p:sp>
      <p:sp>
        <p:nvSpPr>
          <p:cNvPr id="3" name="title-rule-3">
            <a:extLst xmlns:a="http://schemas.openxmlformats.org/drawingml/2006/main">
              <a:ext uri="{FF2B5EF4-FFF2-40B4-BE49-F238E27FC236}">
                <a16:creationId xmlns:a16="http://schemas.microsoft.com/office/drawing/2014/main" id="{ED11D1AC-130E-4330-81B1-13CD37ED7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3350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-3">
            <a:extLst xmlns:a="http://schemas.openxmlformats.org/drawingml/2006/main">
              <a:ext uri="{FF2B5EF4-FFF2-40B4-BE49-F238E27FC236}">
                <a16:creationId xmlns:a16="http://schemas.microsoft.com/office/drawing/2014/main" id="{B4C079C0-8135-4497-82A2-994C66835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238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5" name="loop-0">
            <a:extLst xmlns:a="http://schemas.openxmlformats.org/drawingml/2006/main">
              <a:ext uri="{FF2B5EF4-FFF2-40B4-BE49-F238E27FC236}">
                <a16:creationId xmlns:a16="http://schemas.microsoft.com/office/drawing/2014/main" id="{EA25ECBB-6189-4264-A93E-BEB4B8834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14550"/>
            <a:ext cx="1619250" cy="24193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EE8B7054-9320-4BAE-913E-DE03B8FD6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24100"/>
            <a:ext cx="533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F98F0635-608A-40D0-8C8D-AF9774159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876550"/>
            <a:ext cx="1295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用户画像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C99FC0DE-E854-4A84-9293-45C1D2CB5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05200"/>
            <a:ext cx="1276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登录、资料、求职偏好</a:t>
            </a:r>
          </a:p>
        </p:txBody>
      </p:sp>
      <p:sp>
        <p:nvSpPr>
          <p:cNvPr id="9" name="arrow">
            <a:extLst xmlns:a="http://schemas.openxmlformats.org/drawingml/2006/main">
              <a:ext uri="{FF2B5EF4-FFF2-40B4-BE49-F238E27FC236}">
                <a16:creationId xmlns:a16="http://schemas.microsoft.com/office/drawing/2014/main" id="{34FAA9B6-ACC2-47F6-8A00-FD0838478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067050"/>
            <a:ext cx="28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0" name="loop-1">
            <a:extLst xmlns:a="http://schemas.openxmlformats.org/drawingml/2006/main">
              <a:ext uri="{FF2B5EF4-FFF2-40B4-BE49-F238E27FC236}">
                <a16:creationId xmlns:a16="http://schemas.microsoft.com/office/drawing/2014/main" id="{2CA935A8-EF93-4504-BAE6-AF8575A7D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114550"/>
            <a:ext cx="1619250" cy="24193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30F1C967-28A2-4935-93E7-ABB658706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324100"/>
            <a:ext cx="533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E74F4418-93D8-4949-993A-F249E557A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876550"/>
            <a:ext cx="1295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职位雷达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9C50F05B-BCFF-4099-A11C-E8D4F8DDC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505200"/>
            <a:ext cx="1276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搜索、筛选、详情</a:t>
            </a:r>
          </a:p>
        </p:txBody>
      </p:sp>
      <p:sp>
        <p:nvSpPr>
          <p:cNvPr id="14" name="arrow">
            <a:extLst xmlns:a="http://schemas.openxmlformats.org/drawingml/2006/main">
              <a:ext uri="{FF2B5EF4-FFF2-40B4-BE49-F238E27FC236}">
                <a16:creationId xmlns:a16="http://schemas.microsoft.com/office/drawing/2014/main" id="{9B01928A-3EF9-4017-B3C6-25BE0FC40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067050"/>
            <a:ext cx="28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5" name="loop-2">
            <a:extLst xmlns:a="http://schemas.openxmlformats.org/drawingml/2006/main">
              <a:ext uri="{FF2B5EF4-FFF2-40B4-BE49-F238E27FC236}">
                <a16:creationId xmlns:a16="http://schemas.microsoft.com/office/drawing/2014/main" id="{33D3ECA0-359E-4057-8E62-9F8E26616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114550"/>
            <a:ext cx="1619250" cy="24193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05478402-F585-4FBF-83FA-6011E6FDC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324100"/>
            <a:ext cx="533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0F89EEFB-E781-45A3-87A8-5964F2020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876550"/>
            <a:ext cx="1295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智能匹配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9EB9D2E4-6ACD-41CA-BF80-9704D1927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505200"/>
            <a:ext cx="1276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画像与职位评分</a:t>
            </a:r>
          </a:p>
        </p:txBody>
      </p:sp>
      <p:sp>
        <p:nvSpPr>
          <p:cNvPr id="19" name="arrow">
            <a:extLst xmlns:a="http://schemas.openxmlformats.org/drawingml/2006/main">
              <a:ext uri="{FF2B5EF4-FFF2-40B4-BE49-F238E27FC236}">
                <a16:creationId xmlns:a16="http://schemas.microsoft.com/office/drawing/2014/main" id="{4CE205C2-6D42-4045-85C8-92EA0FC41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067050"/>
            <a:ext cx="28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0" name="loop-3">
            <a:extLst xmlns:a="http://schemas.openxmlformats.org/drawingml/2006/main">
              <a:ext uri="{FF2B5EF4-FFF2-40B4-BE49-F238E27FC236}">
                <a16:creationId xmlns:a16="http://schemas.microsoft.com/office/drawing/2014/main" id="{2A6DDFDF-8D97-4A15-B44C-E54FFD676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114550"/>
            <a:ext cx="1619250" cy="24193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95109F71-F2DC-40DC-AC05-B8908E2BF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24100"/>
            <a:ext cx="533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72891AA9-F14E-4765-90B8-DEF3EF543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876550"/>
            <a:ext cx="1295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求职行动</a:t>
            </a:r>
          </a:p>
        </p:txBody>
      </p:sp>
      <p:sp>
        <p:nvSpPr>
          <p:cNvPr id="23" name="text">
            <a:extLst xmlns:a="http://schemas.openxmlformats.org/drawingml/2006/main">
              <a:ext uri="{FF2B5EF4-FFF2-40B4-BE49-F238E27FC236}">
                <a16:creationId xmlns:a16="http://schemas.microsoft.com/office/drawing/2014/main" id="{022A2D45-E430-4C70-8A86-7E7DEE84B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05200"/>
            <a:ext cx="1276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收藏、投递、状态</a:t>
            </a:r>
          </a:p>
        </p:txBody>
      </p:sp>
      <p:sp>
        <p:nvSpPr>
          <p:cNvPr id="24" name="arrow">
            <a:extLst xmlns:a="http://schemas.openxmlformats.org/drawingml/2006/main">
              <a:ext uri="{FF2B5EF4-FFF2-40B4-BE49-F238E27FC236}">
                <a16:creationId xmlns:a16="http://schemas.microsoft.com/office/drawing/2014/main" id="{3D3835EC-D36E-415F-B019-8880E0CF2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067050"/>
            <a:ext cx="28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5" name="loop-4">
            <a:extLst xmlns:a="http://schemas.openxmlformats.org/drawingml/2006/main">
              <a:ext uri="{FF2B5EF4-FFF2-40B4-BE49-F238E27FC236}">
                <a16:creationId xmlns:a16="http://schemas.microsoft.com/office/drawing/2014/main" id="{143CEFC4-8C28-44E0-B7DB-ECE6E77B7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14550"/>
            <a:ext cx="1619250" cy="24193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6" name="text">
            <a:extLst xmlns:a="http://schemas.openxmlformats.org/drawingml/2006/main">
              <a:ext uri="{FF2B5EF4-FFF2-40B4-BE49-F238E27FC236}">
                <a16:creationId xmlns:a16="http://schemas.microsoft.com/office/drawing/2014/main" id="{A66B0C0B-F381-4A4E-AB7B-7DEA165DC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324100"/>
            <a:ext cx="533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7" name="text">
            <a:extLst xmlns:a="http://schemas.openxmlformats.org/drawingml/2006/main">
              <a:ext uri="{FF2B5EF4-FFF2-40B4-BE49-F238E27FC236}">
                <a16:creationId xmlns:a16="http://schemas.microsoft.com/office/drawing/2014/main" id="{B5C94991-5EA2-4BC3-B5AB-381AA22A0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876550"/>
            <a:ext cx="1295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模拟面试</a:t>
            </a:r>
          </a:p>
        </p:txBody>
      </p:sp>
      <p:sp>
        <p:nvSpPr>
          <p:cNvPr id="28" name="text">
            <a:extLst xmlns:a="http://schemas.openxmlformats.org/drawingml/2006/main">
              <a:ext uri="{FF2B5EF4-FFF2-40B4-BE49-F238E27FC236}">
                <a16:creationId xmlns:a16="http://schemas.microsoft.com/office/drawing/2014/main" id="{AE1E19D9-B408-43D7-BB2E-82B82638F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505200"/>
            <a:ext cx="1276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4 题作答与评分</a:t>
            </a:r>
          </a:p>
        </p:txBody>
      </p:sp>
      <p:sp>
        <p:nvSpPr>
          <p:cNvPr id="29" name="arrow">
            <a:extLst xmlns:a="http://schemas.openxmlformats.org/drawingml/2006/main">
              <a:ext uri="{FF2B5EF4-FFF2-40B4-BE49-F238E27FC236}">
                <a16:creationId xmlns:a16="http://schemas.microsoft.com/office/drawing/2014/main" id="{7B4C8658-EEB6-4F0F-9436-2157C72A1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067050"/>
            <a:ext cx="28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0" name="loop-5">
            <a:extLst xmlns:a="http://schemas.openxmlformats.org/drawingml/2006/main">
              <a:ext uri="{FF2B5EF4-FFF2-40B4-BE49-F238E27FC236}">
                <a16:creationId xmlns:a16="http://schemas.microsoft.com/office/drawing/2014/main" id="{1DA59FD5-7F88-4E94-A0FA-2216E2EEE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114550"/>
            <a:ext cx="1619250" cy="24193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1" name="text">
            <a:extLst xmlns:a="http://schemas.openxmlformats.org/drawingml/2006/main">
              <a:ext uri="{FF2B5EF4-FFF2-40B4-BE49-F238E27FC236}">
                <a16:creationId xmlns:a16="http://schemas.microsoft.com/office/drawing/2014/main" id="{E2A1795D-FEED-4CD9-9F62-1CD4AF62F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324100"/>
            <a:ext cx="533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32" name="text">
            <a:extLst xmlns:a="http://schemas.openxmlformats.org/drawingml/2006/main">
              <a:ext uri="{FF2B5EF4-FFF2-40B4-BE49-F238E27FC236}">
                <a16:creationId xmlns:a16="http://schemas.microsoft.com/office/drawing/2014/main" id="{0602627D-896F-41B7-8E27-34D556983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876550"/>
            <a:ext cx="1295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消息中心</a:t>
            </a:r>
          </a:p>
        </p:txBody>
      </p:sp>
      <p:sp>
        <p:nvSpPr>
          <p:cNvPr id="33" name="text">
            <a:extLst xmlns:a="http://schemas.openxmlformats.org/drawingml/2006/main">
              <a:ext uri="{FF2B5EF4-FFF2-40B4-BE49-F238E27FC236}">
                <a16:creationId xmlns:a16="http://schemas.microsoft.com/office/drawing/2014/main" id="{399032E5-9D42-4E7F-9BAC-D782E1B48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3505200"/>
            <a:ext cx="1276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异步通知、已读</a:t>
            </a:r>
          </a:p>
        </p:txBody>
      </p:sp>
      <p:sp>
        <p:nvSpPr>
          <p:cNvPr id="34" name="text">
            <a:extLst xmlns:a="http://schemas.openxmlformats.org/drawingml/2006/main">
              <a:ext uri="{FF2B5EF4-FFF2-40B4-BE49-F238E27FC236}">
                <a16:creationId xmlns:a16="http://schemas.microsoft.com/office/drawing/2014/main" id="{CE2CD665-745C-420F-9E07-F622A8F8E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105400"/>
            <a:ext cx="11277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业务数据在 MySQL 中沉淀，热点查询由 Redis 加速，投递事件经 RabbitMQ 驱动通知。</a:t>
            </a:r>
          </a:p>
        </p:txBody>
      </p:sp>
      <p:sp>
        <p:nvSpPr>
          <p:cNvPr id="35" name="text">
            <a:extLst xmlns:a="http://schemas.openxmlformats.org/drawingml/2006/main">
              <a:ext uri="{FF2B5EF4-FFF2-40B4-BE49-F238E27FC236}">
                <a16:creationId xmlns:a16="http://schemas.microsoft.com/office/drawing/2014/main" id="{42CF47F8-684F-499C-BF42-D1488B3B8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695950"/>
            <a:ext cx="11277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每位成员负责一个业务模块的前端页面、后端接口、数据表与测试。</a:t>
            </a:r>
          </a:p>
        </p:txBody>
      </p:sp>
    </p:spTree>
    <p:extLst>
      <p:ext uri="{BB962C8B-B14F-4D97-AF65-F5344CB8AC3E}">
        <p14:creationId xmlns:p14="http://schemas.microsoft.com/office/powerpoint/2010/main" val="31588911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-4">
            <a:extLst xmlns:a="http://schemas.openxmlformats.org/drawingml/2006/main">
              <a:ext uri="{FF2B5EF4-FFF2-40B4-BE49-F238E27FC236}">
                <a16:creationId xmlns:a16="http://schemas.microsoft.com/office/drawing/2014/main" id="{9468BDFA-8905-4F39-A176-FD45B791A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AI JOB RADAR · COURSE DEFENSE</a:t>
            </a:r>
          </a:p>
        </p:txBody>
      </p:sp>
      <p:sp>
        <p:nvSpPr>
          <p:cNvPr id="2" name="slide-title-4">
            <a:extLst xmlns:a="http://schemas.openxmlformats.org/drawingml/2006/main">
              <a:ext uri="{FF2B5EF4-FFF2-40B4-BE49-F238E27FC236}">
                <a16:creationId xmlns:a16="http://schemas.microsoft.com/office/drawing/2014/main" id="{81ADF1DA-7EFF-49F9-BA09-94B6E2444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085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所有必选技术都进入主业务链路，而不是只写在依赖里</a:t>
            </a:r>
          </a:p>
        </p:txBody>
      </p:sp>
      <p:sp>
        <p:nvSpPr>
          <p:cNvPr id="3" name="title-rule-4">
            <a:extLst xmlns:a="http://schemas.openxmlformats.org/drawingml/2006/main">
              <a:ext uri="{FF2B5EF4-FFF2-40B4-BE49-F238E27FC236}">
                <a16:creationId xmlns:a16="http://schemas.microsoft.com/office/drawing/2014/main" id="{57ACABA8-6B4B-4057-8AB7-CF6B604EB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3350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-4">
            <a:extLst xmlns:a="http://schemas.openxmlformats.org/drawingml/2006/main">
              <a:ext uri="{FF2B5EF4-FFF2-40B4-BE49-F238E27FC236}">
                <a16:creationId xmlns:a16="http://schemas.microsoft.com/office/drawing/2014/main" id="{A79A070E-FD4E-402F-B400-4BD92B289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238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5" name="stack-0">
            <a:extLst xmlns:a="http://schemas.openxmlformats.org/drawingml/2006/main">
              <a:ext uri="{FF2B5EF4-FFF2-40B4-BE49-F238E27FC236}">
                <a16:creationId xmlns:a16="http://schemas.microsoft.com/office/drawing/2014/main" id="{0371DEE0-3C7D-45B8-B2E5-154FCB1EE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76400"/>
            <a:ext cx="1127760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6" name="stack-accent-0">
            <a:extLst xmlns:a="http://schemas.openxmlformats.org/drawingml/2006/main">
              <a:ext uri="{FF2B5EF4-FFF2-40B4-BE49-F238E27FC236}">
                <a16:creationId xmlns:a16="http://schemas.microsoft.com/office/drawing/2014/main" id="{84333EC2-7723-4642-848F-413A5A07F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76400"/>
            <a:ext cx="1143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39E1827D-7722-4FF2-ABFD-137193456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478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前端交互层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647DA25F-E4D1-456A-9B02-5ADCED20B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819275"/>
            <a:ext cx="485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Vue 3 · Vite · Axios · Node.js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FAF19688-1848-4D2C-BFD5-C5F30109C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847850"/>
            <a:ext cx="3524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职位、投递、面试、消息中心</a:t>
            </a:r>
          </a:p>
        </p:txBody>
      </p:sp>
      <p:sp>
        <p:nvSpPr>
          <p:cNvPr id="10" name="stack-1">
            <a:extLst xmlns:a="http://schemas.openxmlformats.org/drawingml/2006/main">
              <a:ext uri="{FF2B5EF4-FFF2-40B4-BE49-F238E27FC236}">
                <a16:creationId xmlns:a16="http://schemas.microsoft.com/office/drawing/2014/main" id="{424957CF-E02A-4130-BDFF-47EBB4064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0"/>
            <a:ext cx="1127760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1" name="stack-accent-1">
            <a:extLst xmlns:a="http://schemas.openxmlformats.org/drawingml/2006/main">
              <a:ext uri="{FF2B5EF4-FFF2-40B4-BE49-F238E27FC236}">
                <a16:creationId xmlns:a16="http://schemas.microsoft.com/office/drawing/2014/main" id="{F07DE106-3C93-4268-B50F-A73F6E2BA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0"/>
            <a:ext cx="1143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F295513A-577B-4B0D-AF66-05F034C5F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146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6B6D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6B6D4"/>
                </a:solidFill>
                <a:latin typeface="Microsoft YaHei"/>
                <a:ea typeface="Microsoft YaHei"/>
                <a:cs typeface="Microsoft YaHei"/>
              </a:rPr>
              <a:t>统一入口层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C34B2EA0-6A20-493B-A0D6-389107B8D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886075"/>
            <a:ext cx="485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Spring Cloud Gateway · Nacos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56301D3D-5A8A-41AD-A06D-2DF3AEA3E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914650"/>
            <a:ext cx="3524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路由转发、服务发现、跨域</a:t>
            </a:r>
          </a:p>
        </p:txBody>
      </p:sp>
      <p:sp>
        <p:nvSpPr>
          <p:cNvPr id="15" name="stack-2">
            <a:extLst xmlns:a="http://schemas.openxmlformats.org/drawingml/2006/main">
              <a:ext uri="{FF2B5EF4-FFF2-40B4-BE49-F238E27FC236}">
                <a16:creationId xmlns:a16="http://schemas.microsoft.com/office/drawing/2014/main" id="{318AC919-D7CA-49CB-AF8A-EE4D3A279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10000"/>
            <a:ext cx="1127760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6" name="stack-accent-2">
            <a:extLst xmlns:a="http://schemas.openxmlformats.org/drawingml/2006/main">
              <a:ext uri="{FF2B5EF4-FFF2-40B4-BE49-F238E27FC236}">
                <a16:creationId xmlns:a16="http://schemas.microsoft.com/office/drawing/2014/main" id="{B0DDBA5C-05B8-4D69-9CA1-AC8D8EA27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10000"/>
            <a:ext cx="1143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B7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9E3EEFB9-EB35-4974-A96A-67D4E401E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814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B7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2B76A"/>
                </a:solidFill>
                <a:latin typeface="Microsoft YaHei"/>
                <a:ea typeface="Microsoft YaHei"/>
                <a:cs typeface="Microsoft YaHei"/>
              </a:rPr>
              <a:t>业务服务层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BFBB4FF0-EF32-42B9-84C2-84E545B30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952875"/>
            <a:ext cx="485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285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Spring Boot · Spring · Spring MVC · OpenFeign</a:t>
            </a:r>
          </a:p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B732D16A-F1AD-413E-8F43-1EFDFBB49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981450"/>
            <a:ext cx="3524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7 个服务协作完成求职闭环</a:t>
            </a:r>
          </a:p>
        </p:txBody>
      </p:sp>
      <p:sp>
        <p:nvSpPr>
          <p:cNvPr id="20" name="stack-3">
            <a:extLst xmlns:a="http://schemas.openxmlformats.org/drawingml/2006/main">
              <a:ext uri="{FF2B5EF4-FFF2-40B4-BE49-F238E27FC236}">
                <a16:creationId xmlns:a16="http://schemas.microsoft.com/office/drawing/2014/main" id="{B89286F4-D8D5-4BFC-922A-4DF28922E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76800"/>
            <a:ext cx="1127760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1" name="stack-accent-3">
            <a:extLst xmlns:a="http://schemas.openxmlformats.org/drawingml/2006/main">
              <a:ext uri="{FF2B5EF4-FFF2-40B4-BE49-F238E27FC236}">
                <a16:creationId xmlns:a16="http://schemas.microsoft.com/office/drawing/2014/main" id="{214248CB-C82E-439A-9A1E-CE7A5B1F6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76800"/>
            <a:ext cx="1143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90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208E9795-F4B7-45DA-BED4-CB87A33CA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482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rPr>
              <a:t>数据与消息层</a:t>
            </a:r>
          </a:p>
        </p:txBody>
      </p:sp>
      <p:sp>
        <p:nvSpPr>
          <p:cNvPr id="23" name="text">
            <a:extLst xmlns:a="http://schemas.openxmlformats.org/drawingml/2006/main">
              <a:ext uri="{FF2B5EF4-FFF2-40B4-BE49-F238E27FC236}">
                <a16:creationId xmlns:a16="http://schemas.microsoft.com/office/drawing/2014/main" id="{FA14CB6E-FA96-4BEA-9C7F-46205A19D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5019675"/>
            <a:ext cx="485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MyBatis Plus · MySQL · Redis · RabbitMQ</a:t>
            </a:r>
          </a:p>
        </p:txBody>
      </p:sp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F3B3E5B4-4F9D-4D02-BF1C-4082AF14F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5048250"/>
            <a:ext cx="3524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持久化、缓存、异步事件</a:t>
            </a:r>
          </a:p>
        </p:txBody>
      </p:sp>
      <p:sp>
        <p:nvSpPr>
          <p:cNvPr id="25" name="text">
            <a:extLst xmlns:a="http://schemas.openxmlformats.org/drawingml/2006/main">
              <a:ext uri="{FF2B5EF4-FFF2-40B4-BE49-F238E27FC236}">
                <a16:creationId xmlns:a16="http://schemas.microsoft.com/office/drawing/2014/main" id="{267FDD29-7D8C-427C-817B-8897DE7EC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53150"/>
            <a:ext cx="11277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技术取舍：未引入 Elasticsearch 与 Docker，减少答辩现场依赖，把稳定性留给必选技术。</a:t>
            </a:r>
          </a:p>
        </p:txBody>
      </p:sp>
    </p:spTree>
    <p:extLst>
      <p:ext uri="{BB962C8B-B14F-4D97-AF65-F5344CB8AC3E}">
        <p14:creationId xmlns:p14="http://schemas.microsoft.com/office/powerpoint/2010/main" val="108393603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-5">
            <a:extLst xmlns:a="http://schemas.openxmlformats.org/drawingml/2006/main">
              <a:ext uri="{FF2B5EF4-FFF2-40B4-BE49-F238E27FC236}">
                <a16:creationId xmlns:a16="http://schemas.microsoft.com/office/drawing/2014/main" id="{5B9BE40E-28DB-4212-9028-A1577FDAD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AI JOB RADAR · COURSE DEFENSE</a:t>
            </a:r>
          </a:p>
        </p:txBody>
      </p:sp>
      <p:sp>
        <p:nvSpPr>
          <p:cNvPr id="2" name="slide-title-5">
            <a:extLst xmlns:a="http://schemas.openxmlformats.org/drawingml/2006/main">
              <a:ext uri="{FF2B5EF4-FFF2-40B4-BE49-F238E27FC236}">
                <a16:creationId xmlns:a16="http://schemas.microsoft.com/office/drawing/2014/main" id="{E575DBF8-D26E-4B1E-83A1-5230ADB23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085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Gateway 统一入口，Nacos 发现服务，数据与消息各司其职</a:t>
            </a:r>
          </a:p>
        </p:txBody>
      </p:sp>
      <p:sp>
        <p:nvSpPr>
          <p:cNvPr id="3" name="title-rule-5">
            <a:extLst xmlns:a="http://schemas.openxmlformats.org/drawingml/2006/main">
              <a:ext uri="{FF2B5EF4-FFF2-40B4-BE49-F238E27FC236}">
                <a16:creationId xmlns:a16="http://schemas.microsoft.com/office/drawing/2014/main" id="{060B46C7-724D-43EF-A5EE-08D6DC814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3350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-5">
            <a:extLst xmlns:a="http://schemas.openxmlformats.org/drawingml/2006/main">
              <a:ext uri="{FF2B5EF4-FFF2-40B4-BE49-F238E27FC236}">
                <a16:creationId xmlns:a16="http://schemas.microsoft.com/office/drawing/2014/main" id="{7140E1FC-09DD-4355-94CA-9AC5BC9D3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238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5" name="frontend">
            <a:extLst xmlns:a="http://schemas.openxmlformats.org/drawingml/2006/main">
              <a:ext uri="{FF2B5EF4-FFF2-40B4-BE49-F238E27FC236}">
                <a16:creationId xmlns:a16="http://schemas.microsoft.com/office/drawing/2014/main" id="{546331CB-AA26-4236-8909-902113915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57375"/>
            <a:ext cx="18478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622AB7E1-C098-4853-AD43-367FFA466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95500"/>
            <a:ext cx="1276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Vue 3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F40C005E-FB6E-4F84-9A87-360DC1124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28900"/>
            <a:ext cx="1276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Node.js / Vite</a:t>
            </a:r>
          </a:p>
        </p:txBody>
      </p:sp>
      <p:sp>
        <p:nvSpPr>
          <p:cNvPr id="8" name="arrow">
            <a:extLst xmlns:a="http://schemas.openxmlformats.org/drawingml/2006/main">
              <a:ext uri="{FF2B5EF4-FFF2-40B4-BE49-F238E27FC236}">
                <a16:creationId xmlns:a16="http://schemas.microsoft.com/office/drawing/2014/main" id="{E3F7DFC5-FF3F-4A76-96BF-D739790D3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305050"/>
            <a:ext cx="685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gateway">
            <a:extLst xmlns:a="http://schemas.openxmlformats.org/drawingml/2006/main">
              <a:ext uri="{FF2B5EF4-FFF2-40B4-BE49-F238E27FC236}">
                <a16:creationId xmlns:a16="http://schemas.microsoft.com/office/drawing/2014/main" id="{21D8F865-9BA3-4AC6-A4EB-F1E413AA2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1857375"/>
            <a:ext cx="18478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0F9FF"/>
          </a:solidFill>
          <a:ln xmlns:a="http://schemas.openxmlformats.org/drawingml/2006/main" w="9525">
            <a:solidFill>
              <a:srgbClr val="06B6D4"/>
            </a:solidFill>
            <a:prstDash val="solid"/>
          </a:ln>
        </p:spPr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6FAC87F9-BDAE-40A7-95FD-E5097E7AC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095500"/>
            <a:ext cx="1276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6B6D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6B6D4"/>
                </a:solidFill>
                <a:latin typeface="Microsoft YaHei"/>
                <a:ea typeface="Microsoft YaHei"/>
                <a:cs typeface="Microsoft YaHei"/>
              </a:rPr>
              <a:t>Gateway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75361499-8123-40F0-AD8A-F7010818B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628900"/>
            <a:ext cx="1276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9000 · 7 条路由</a:t>
            </a:r>
          </a:p>
        </p:txBody>
      </p:sp>
      <p:sp>
        <p:nvSpPr>
          <p:cNvPr id="12" name="arrow">
            <a:extLst xmlns:a="http://schemas.openxmlformats.org/drawingml/2006/main">
              <a:ext uri="{FF2B5EF4-FFF2-40B4-BE49-F238E27FC236}">
                <a16:creationId xmlns:a16="http://schemas.microsoft.com/office/drawing/2014/main" id="{514CB1BD-FAE3-434B-84C6-D06220C0A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305050"/>
            <a:ext cx="685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3" name="services">
            <a:extLst xmlns:a="http://schemas.openxmlformats.org/drawingml/2006/main">
              <a:ext uri="{FF2B5EF4-FFF2-40B4-BE49-F238E27FC236}">
                <a16:creationId xmlns:a16="http://schemas.microsoft.com/office/drawing/2014/main" id="{A4D24C15-B37E-4BD9-964C-435CF4595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581150"/>
            <a:ext cx="5753100" cy="302895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8C713804-6AB1-4D38-9409-8D0A2F5DE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752600"/>
            <a:ext cx="525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Nacos 服务发现</a:t>
            </a:r>
          </a:p>
        </p:txBody>
      </p:sp>
      <p:sp>
        <p:nvSpPr>
          <p:cNvPr id="15" name="svc-0">
            <a:extLst xmlns:a="http://schemas.openxmlformats.org/drawingml/2006/main">
              <a:ext uri="{FF2B5EF4-FFF2-40B4-BE49-F238E27FC236}">
                <a16:creationId xmlns:a16="http://schemas.microsoft.com/office/drawing/2014/main" id="{850E1AD0-AB87-4A24-B351-DBB4F44FE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228850"/>
            <a:ext cx="14668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C1E7420F-2312-4A20-B3ED-257F0C71D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419350"/>
            <a:ext cx="123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user 9001</a:t>
            </a:r>
          </a:p>
        </p:txBody>
      </p:sp>
      <p:sp>
        <p:nvSpPr>
          <p:cNvPr id="17" name="svc-1">
            <a:extLst xmlns:a="http://schemas.openxmlformats.org/drawingml/2006/main">
              <a:ext uri="{FF2B5EF4-FFF2-40B4-BE49-F238E27FC236}">
                <a16:creationId xmlns:a16="http://schemas.microsoft.com/office/drawing/2014/main" id="{2874A7C7-D8C3-40BB-A761-D7AD4F3C7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228850"/>
            <a:ext cx="14668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ECA7CA37-C2B9-4387-81F5-BE88E46E6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419350"/>
            <a:ext cx="123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job 9002</a:t>
            </a:r>
          </a:p>
        </p:txBody>
      </p:sp>
      <p:sp>
        <p:nvSpPr>
          <p:cNvPr id="19" name="svc-2">
            <a:extLst xmlns:a="http://schemas.openxmlformats.org/drawingml/2006/main">
              <a:ext uri="{FF2B5EF4-FFF2-40B4-BE49-F238E27FC236}">
                <a16:creationId xmlns:a16="http://schemas.microsoft.com/office/drawing/2014/main" id="{6F3559F7-93A6-49CB-940D-8CE12D26D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228850"/>
            <a:ext cx="14668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9177F9DD-A613-48DD-B157-B839F5F0F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419350"/>
            <a:ext cx="123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match 9003</a:t>
            </a:r>
          </a:p>
        </p:txBody>
      </p:sp>
      <p:sp>
        <p:nvSpPr>
          <p:cNvPr id="21" name="svc-3">
            <a:extLst xmlns:a="http://schemas.openxmlformats.org/drawingml/2006/main">
              <a:ext uri="{FF2B5EF4-FFF2-40B4-BE49-F238E27FC236}">
                <a16:creationId xmlns:a16="http://schemas.microsoft.com/office/drawing/2014/main" id="{A8702189-F552-4904-9C55-6CAA4D77E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200400"/>
            <a:ext cx="14668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B1D50027-A1E7-4CEE-9385-979BEAB00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390900"/>
            <a:ext cx="123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7016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application 9004</a:t>
            </a:r>
          </a:p>
        </p:txBody>
      </p:sp>
      <p:sp>
        <p:nvSpPr>
          <p:cNvPr id="23" name="svc-4">
            <a:extLst xmlns:a="http://schemas.openxmlformats.org/drawingml/2006/main">
              <a:ext uri="{FF2B5EF4-FFF2-40B4-BE49-F238E27FC236}">
                <a16:creationId xmlns:a16="http://schemas.microsoft.com/office/drawing/2014/main" id="{7F29C5C5-5E2D-40B6-A082-AA5FA86D3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200400"/>
            <a:ext cx="14668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9CBA433C-2214-4631-885F-462C7DAF2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390900"/>
            <a:ext cx="123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interview 9005</a:t>
            </a:r>
          </a:p>
        </p:txBody>
      </p:sp>
      <p:sp>
        <p:nvSpPr>
          <p:cNvPr id="25" name="svc-5">
            <a:extLst xmlns:a="http://schemas.openxmlformats.org/drawingml/2006/main">
              <a:ext uri="{FF2B5EF4-FFF2-40B4-BE49-F238E27FC236}">
                <a16:creationId xmlns:a16="http://schemas.microsoft.com/office/drawing/2014/main" id="{D5356102-40D1-479B-8510-1CC3EC879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00400"/>
            <a:ext cx="14668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6" name="text">
            <a:extLst xmlns:a="http://schemas.openxmlformats.org/drawingml/2006/main">
              <a:ext uri="{FF2B5EF4-FFF2-40B4-BE49-F238E27FC236}">
                <a16:creationId xmlns:a16="http://schemas.microsoft.com/office/drawing/2014/main" id="{8C766F43-CC61-4325-888F-68DB13B7C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390900"/>
            <a:ext cx="123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4591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notification 9006</a:t>
            </a:r>
          </a:p>
        </p:txBody>
      </p:sp>
      <p:sp>
        <p:nvSpPr>
          <p:cNvPr id="27" name="text">
            <a:extLst xmlns:a="http://schemas.openxmlformats.org/drawingml/2006/main">
              <a:ext uri="{FF2B5EF4-FFF2-40B4-BE49-F238E27FC236}">
                <a16:creationId xmlns:a16="http://schemas.microsoft.com/office/drawing/2014/main" id="{4C541836-2E0D-4749-9E88-286EB5F53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52900"/>
            <a:ext cx="2686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OpenFeign：服务间调用</a:t>
            </a:r>
          </a:p>
        </p:txBody>
      </p:sp>
      <p:sp>
        <p:nvSpPr>
          <p:cNvPr id="28" name="data-0">
            <a:extLst xmlns:a="http://schemas.openxmlformats.org/drawingml/2006/main">
              <a:ext uri="{FF2B5EF4-FFF2-40B4-BE49-F238E27FC236}">
                <a16:creationId xmlns:a16="http://schemas.microsoft.com/office/drawing/2014/main" id="{1C8F470E-E781-4FB8-8846-B66A8B1D5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5219700"/>
            <a:ext cx="21145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29" name="text">
            <a:extLst xmlns:a="http://schemas.openxmlformats.org/drawingml/2006/main">
              <a:ext uri="{FF2B5EF4-FFF2-40B4-BE49-F238E27FC236}">
                <a16:creationId xmlns:a16="http://schemas.microsoft.com/office/drawing/2014/main" id="{816D4769-74B9-4AC8-9806-7BF2CB1F7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372100"/>
            <a:ext cx="1771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MySQL</a:t>
            </a:r>
          </a:p>
        </p:txBody>
      </p:sp>
      <p:sp>
        <p:nvSpPr>
          <p:cNvPr id="30" name="data-1">
            <a:extLst xmlns:a="http://schemas.openxmlformats.org/drawingml/2006/main">
              <a:ext uri="{FF2B5EF4-FFF2-40B4-BE49-F238E27FC236}">
                <a16:creationId xmlns:a16="http://schemas.microsoft.com/office/drawing/2014/main" id="{14806966-0E04-4CB8-BD1B-EDB2872D0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219700"/>
            <a:ext cx="21145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04438"/>
            </a:solidFill>
            <a:prstDash val="solid"/>
          </a:ln>
        </p:spPr>
      </p:sp>
      <p:sp>
        <p:nvSpPr>
          <p:cNvPr id="31" name="text">
            <a:extLst xmlns:a="http://schemas.openxmlformats.org/drawingml/2006/main">
              <a:ext uri="{FF2B5EF4-FFF2-40B4-BE49-F238E27FC236}">
                <a16:creationId xmlns:a16="http://schemas.microsoft.com/office/drawing/2014/main" id="{7960EB4C-7856-48CB-843F-07DE7707B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5372100"/>
            <a:ext cx="1771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044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04438"/>
                </a:solidFill>
                <a:latin typeface="Microsoft YaHei"/>
                <a:ea typeface="Microsoft YaHei"/>
                <a:cs typeface="Microsoft YaHei"/>
              </a:rPr>
              <a:t>Redis</a:t>
            </a:r>
          </a:p>
        </p:txBody>
      </p:sp>
      <p:sp>
        <p:nvSpPr>
          <p:cNvPr id="32" name="data-2">
            <a:extLst xmlns:a="http://schemas.openxmlformats.org/drawingml/2006/main">
              <a:ext uri="{FF2B5EF4-FFF2-40B4-BE49-F238E27FC236}">
                <a16:creationId xmlns:a16="http://schemas.microsoft.com/office/drawing/2014/main" id="{3856C806-359C-43A3-9BC4-7BDAE1829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219700"/>
            <a:ext cx="21145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79009"/>
            </a:solidFill>
            <a:prstDash val="solid"/>
          </a:ln>
        </p:spPr>
      </p:sp>
      <p:sp>
        <p:nvSpPr>
          <p:cNvPr id="33" name="text">
            <a:extLst xmlns:a="http://schemas.openxmlformats.org/drawingml/2006/main">
              <a:ext uri="{FF2B5EF4-FFF2-40B4-BE49-F238E27FC236}">
                <a16:creationId xmlns:a16="http://schemas.microsoft.com/office/drawing/2014/main" id="{FC6BA6E5-9900-410F-BA59-90768253B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5372100"/>
            <a:ext cx="1771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rPr>
              <a:t>RabbitMQ</a:t>
            </a:r>
          </a:p>
        </p:txBody>
      </p:sp>
      <p:sp>
        <p:nvSpPr>
          <p:cNvPr id="34" name="text">
            <a:extLst xmlns:a="http://schemas.openxmlformats.org/drawingml/2006/main">
              <a:ext uri="{FF2B5EF4-FFF2-40B4-BE49-F238E27FC236}">
                <a16:creationId xmlns:a16="http://schemas.microsoft.com/office/drawing/2014/main" id="{111DA53E-E148-41CF-B696-A798BC3F6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6000750"/>
            <a:ext cx="1657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持久化</a:t>
            </a:r>
          </a:p>
        </p:txBody>
      </p:sp>
      <p:sp>
        <p:nvSpPr>
          <p:cNvPr id="35" name="text">
            <a:extLst xmlns:a="http://schemas.openxmlformats.org/drawingml/2006/main">
              <a:ext uri="{FF2B5EF4-FFF2-40B4-BE49-F238E27FC236}">
                <a16:creationId xmlns:a16="http://schemas.microsoft.com/office/drawing/2014/main" id="{ADC91F28-56A0-46DC-AE61-EDC471A25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6000750"/>
            <a:ext cx="1657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热点缓存</a:t>
            </a:r>
          </a:p>
        </p:txBody>
      </p:sp>
      <p:sp>
        <p:nvSpPr>
          <p:cNvPr id="36" name="text">
            <a:extLst xmlns:a="http://schemas.openxmlformats.org/drawingml/2006/main">
              <a:ext uri="{FF2B5EF4-FFF2-40B4-BE49-F238E27FC236}">
                <a16:creationId xmlns:a16="http://schemas.microsoft.com/office/drawing/2014/main" id="{985A1B26-C866-476A-AFA8-50FB2E059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6000750"/>
            <a:ext cx="1657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异步解耦</a:t>
            </a:r>
          </a:p>
        </p:txBody>
      </p:sp>
    </p:spTree>
    <p:extLst>
      <p:ext uri="{BB962C8B-B14F-4D97-AF65-F5344CB8AC3E}">
        <p14:creationId xmlns:p14="http://schemas.microsoft.com/office/powerpoint/2010/main" val="203348642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-6">
            <a:extLst xmlns:a="http://schemas.openxmlformats.org/drawingml/2006/main">
              <a:ext uri="{FF2B5EF4-FFF2-40B4-BE49-F238E27FC236}">
                <a16:creationId xmlns:a16="http://schemas.microsoft.com/office/drawing/2014/main" id="{2B29BB84-C190-4EBB-9650-D40C0413C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AI JOB RADAR · COURSE DEFENSE</a:t>
            </a:r>
          </a:p>
        </p:txBody>
      </p:sp>
      <p:sp>
        <p:nvSpPr>
          <p:cNvPr id="2" name="slide-title-6">
            <a:extLst xmlns:a="http://schemas.openxmlformats.org/drawingml/2006/main">
              <a:ext uri="{FF2B5EF4-FFF2-40B4-BE49-F238E27FC236}">
                <a16:creationId xmlns:a16="http://schemas.microsoft.com/office/drawing/2014/main" id="{BF3BB672-8411-4218-B148-591F37D7C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085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六名成员按业务模块分工，每人都有前后端与测试成果</a:t>
            </a:r>
          </a:p>
        </p:txBody>
      </p:sp>
      <p:sp>
        <p:nvSpPr>
          <p:cNvPr id="3" name="title-rule-6">
            <a:extLst xmlns:a="http://schemas.openxmlformats.org/drawingml/2006/main">
              <a:ext uri="{FF2B5EF4-FFF2-40B4-BE49-F238E27FC236}">
                <a16:creationId xmlns:a16="http://schemas.microsoft.com/office/drawing/2014/main" id="{F7502872-683C-48E2-BCFA-8C12DEFD2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3350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-6">
            <a:extLst xmlns:a="http://schemas.openxmlformats.org/drawingml/2006/main">
              <a:ext uri="{FF2B5EF4-FFF2-40B4-BE49-F238E27FC236}">
                <a16:creationId xmlns:a16="http://schemas.microsoft.com/office/drawing/2014/main" id="{921379BD-4AE9-4D44-9673-1B519B7F6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238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5" name="module-0">
            <a:extLst xmlns:a="http://schemas.openxmlformats.org/drawingml/2006/main">
              <a:ext uri="{FF2B5EF4-FFF2-40B4-BE49-F238E27FC236}">
                <a16:creationId xmlns:a16="http://schemas.microsoft.com/office/drawing/2014/main" id="{4CA10E4A-3A68-42F7-A435-C703ECEEA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76400"/>
            <a:ext cx="3600450" cy="186690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6" name="module-accent-0">
            <a:extLst xmlns:a="http://schemas.openxmlformats.org/drawingml/2006/main">
              <a:ext uri="{FF2B5EF4-FFF2-40B4-BE49-F238E27FC236}">
                <a16:creationId xmlns:a16="http://schemas.microsoft.com/office/drawing/2014/main" id="{AFA4E022-E84F-4BC6-BD4A-EA281A4BC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76400"/>
            <a:ext cx="36004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F318465D-7F42-4A94-9373-A70B68F7F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240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成员一（队长）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9E16BA05-91B6-4899-9E98-3030CBC20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431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用户与画像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30120865-0A55-45AA-9F55-E0B4CA1A1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7655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登录 / JWT / 资料 / 偏好</a:t>
            </a:r>
          </a:p>
        </p:txBody>
      </p:sp>
      <p:sp>
        <p:nvSpPr>
          <p:cNvPr id="10" name="module-1">
            <a:extLst xmlns:a="http://schemas.openxmlformats.org/drawingml/2006/main">
              <a:ext uri="{FF2B5EF4-FFF2-40B4-BE49-F238E27FC236}">
                <a16:creationId xmlns:a16="http://schemas.microsoft.com/office/drawing/2014/main" id="{AFB66A20-EFDA-491A-8FCF-BF35E1FDB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676400"/>
            <a:ext cx="3600450" cy="186690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1" name="module-accent-1">
            <a:extLst xmlns:a="http://schemas.openxmlformats.org/drawingml/2006/main">
              <a:ext uri="{FF2B5EF4-FFF2-40B4-BE49-F238E27FC236}">
                <a16:creationId xmlns:a16="http://schemas.microsoft.com/office/drawing/2014/main" id="{C78EA3AD-9B6A-4841-9755-9F0EE4D20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676400"/>
            <a:ext cx="36004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F88AFF27-44E9-4FAB-898A-F6790B03F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9240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6B6D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6B6D4"/>
                </a:solidFill>
                <a:latin typeface="Microsoft YaHei"/>
                <a:ea typeface="Microsoft YaHei"/>
                <a:cs typeface="Microsoft YaHei"/>
              </a:rPr>
              <a:t>成员二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E24F71BC-2767-4374-BEEC-72971E314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3431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职位雷达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183666BA-9C85-4F0A-B569-37304219F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87655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检索 / 筛选 / 详情 / Redis</a:t>
            </a:r>
          </a:p>
        </p:txBody>
      </p:sp>
      <p:sp>
        <p:nvSpPr>
          <p:cNvPr id="15" name="module-2">
            <a:extLst xmlns:a="http://schemas.openxmlformats.org/drawingml/2006/main">
              <a:ext uri="{FF2B5EF4-FFF2-40B4-BE49-F238E27FC236}">
                <a16:creationId xmlns:a16="http://schemas.microsoft.com/office/drawing/2014/main" id="{BD87E7F4-C0D6-4270-8BB8-A7631C7AC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676400"/>
            <a:ext cx="3600450" cy="186690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6" name="module-accent-2">
            <a:extLst xmlns:a="http://schemas.openxmlformats.org/drawingml/2006/main">
              <a:ext uri="{FF2B5EF4-FFF2-40B4-BE49-F238E27FC236}">
                <a16:creationId xmlns:a16="http://schemas.microsoft.com/office/drawing/2014/main" id="{D35BB94F-D844-48D4-B042-D68D821B8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676400"/>
            <a:ext cx="36004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B7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8A70F0FF-EE90-43C9-99C0-8EDA9FDA4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9240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2B7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2B76A"/>
                </a:solidFill>
                <a:latin typeface="Microsoft YaHei"/>
                <a:ea typeface="Microsoft YaHei"/>
                <a:cs typeface="Microsoft YaHei"/>
              </a:rPr>
              <a:t>成员三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A97C25BE-03C0-4873-B779-1B49779A6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3431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智能匹配</a:t>
            </a:r>
          </a:p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3A58D8D0-3031-4798-BBB7-42C6735F5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87655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画像评分 / OpenFeign</a:t>
            </a:r>
          </a:p>
        </p:txBody>
      </p:sp>
      <p:sp>
        <p:nvSpPr>
          <p:cNvPr id="20" name="module-3">
            <a:extLst xmlns:a="http://schemas.openxmlformats.org/drawingml/2006/main">
              <a:ext uri="{FF2B5EF4-FFF2-40B4-BE49-F238E27FC236}">
                <a16:creationId xmlns:a16="http://schemas.microsoft.com/office/drawing/2014/main" id="{C1E4FCEE-F6F7-4630-A23A-CA3D8978A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10000"/>
            <a:ext cx="3600450" cy="186690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1" name="module-accent-3">
            <a:extLst xmlns:a="http://schemas.openxmlformats.org/drawingml/2006/main">
              <a:ext uri="{FF2B5EF4-FFF2-40B4-BE49-F238E27FC236}">
                <a16:creationId xmlns:a16="http://schemas.microsoft.com/office/drawing/2014/main" id="{90876642-1C11-4BF9-8A6A-12ECCE070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10000"/>
            <a:ext cx="36004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90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3C41D231-FFE7-405D-80E2-566519603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576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rPr>
              <a:t>成员四</a:t>
            </a:r>
          </a:p>
        </p:txBody>
      </p:sp>
      <p:sp>
        <p:nvSpPr>
          <p:cNvPr id="23" name="text">
            <a:extLst xmlns:a="http://schemas.openxmlformats.org/drawingml/2006/main">
              <a:ext uri="{FF2B5EF4-FFF2-40B4-BE49-F238E27FC236}">
                <a16:creationId xmlns:a16="http://schemas.microsoft.com/office/drawing/2014/main" id="{F19D1012-264B-49B6-8A79-72DB32692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767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求职行动</a:t>
            </a:r>
          </a:p>
        </p:txBody>
      </p:sp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9E27AD96-60DC-4C9E-965A-CBF15B710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1015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收藏 / 投递 / RabbitMQ 发布</a:t>
            </a:r>
          </a:p>
        </p:txBody>
      </p:sp>
      <p:sp>
        <p:nvSpPr>
          <p:cNvPr id="25" name="module-4">
            <a:extLst xmlns:a="http://schemas.openxmlformats.org/drawingml/2006/main">
              <a:ext uri="{FF2B5EF4-FFF2-40B4-BE49-F238E27FC236}">
                <a16:creationId xmlns:a16="http://schemas.microsoft.com/office/drawing/2014/main" id="{9974CECE-4ABA-4F82-B280-23072BED9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10000"/>
            <a:ext cx="3600450" cy="186690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6" name="module-accent-4">
            <a:extLst xmlns:a="http://schemas.openxmlformats.org/drawingml/2006/main">
              <a:ext uri="{FF2B5EF4-FFF2-40B4-BE49-F238E27FC236}">
                <a16:creationId xmlns:a16="http://schemas.microsoft.com/office/drawing/2014/main" id="{293D6752-ECE5-42CA-BA9A-C4EFF12D0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10000"/>
            <a:ext cx="36004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44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text">
            <a:extLst xmlns:a="http://schemas.openxmlformats.org/drawingml/2006/main">
              <a:ext uri="{FF2B5EF4-FFF2-40B4-BE49-F238E27FC236}">
                <a16:creationId xmlns:a16="http://schemas.microsoft.com/office/drawing/2014/main" id="{939D738D-06A2-42B9-92D4-56E7A29CA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0576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044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04438"/>
                </a:solidFill>
                <a:latin typeface="Microsoft YaHei"/>
                <a:ea typeface="Microsoft YaHei"/>
                <a:cs typeface="Microsoft YaHei"/>
              </a:rPr>
              <a:t>成员五</a:t>
            </a:r>
          </a:p>
        </p:txBody>
      </p:sp>
      <p:sp>
        <p:nvSpPr>
          <p:cNvPr id="28" name="text">
            <a:extLst xmlns:a="http://schemas.openxmlformats.org/drawingml/2006/main">
              <a:ext uri="{FF2B5EF4-FFF2-40B4-BE49-F238E27FC236}">
                <a16:creationId xmlns:a16="http://schemas.microsoft.com/office/drawing/2014/main" id="{A8244A59-8A23-43CD-A025-EE3668D16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4767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模拟面试</a:t>
            </a:r>
          </a:p>
        </p:txBody>
      </p:sp>
      <p:sp>
        <p:nvSpPr>
          <p:cNvPr id="29" name="text">
            <a:extLst xmlns:a="http://schemas.openxmlformats.org/drawingml/2006/main">
              <a:ext uri="{FF2B5EF4-FFF2-40B4-BE49-F238E27FC236}">
                <a16:creationId xmlns:a16="http://schemas.microsoft.com/office/drawing/2014/main" id="{29BEE0DE-D2B8-409F-BEFA-49665F39A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501015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四题流程 / 答案 / 评分</a:t>
            </a:r>
          </a:p>
        </p:txBody>
      </p:sp>
      <p:sp>
        <p:nvSpPr>
          <p:cNvPr id="30" name="module-5">
            <a:extLst xmlns:a="http://schemas.openxmlformats.org/drawingml/2006/main">
              <a:ext uri="{FF2B5EF4-FFF2-40B4-BE49-F238E27FC236}">
                <a16:creationId xmlns:a16="http://schemas.microsoft.com/office/drawing/2014/main" id="{64DB0E08-13B2-42DE-B8A6-3205880B3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810000"/>
            <a:ext cx="3600450" cy="186690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1" name="module-accent-5">
            <a:extLst xmlns:a="http://schemas.openxmlformats.org/drawingml/2006/main">
              <a:ext uri="{FF2B5EF4-FFF2-40B4-BE49-F238E27FC236}">
                <a16:creationId xmlns:a16="http://schemas.microsoft.com/office/drawing/2014/main" id="{43885CC2-46A3-414D-90A9-F9D99D396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810000"/>
            <a:ext cx="36004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56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">
            <a:extLst xmlns:a="http://schemas.openxmlformats.org/drawingml/2006/main">
              <a:ext uri="{FF2B5EF4-FFF2-40B4-BE49-F238E27FC236}">
                <a16:creationId xmlns:a16="http://schemas.microsoft.com/office/drawing/2014/main" id="{B5C46AA2-D526-4A65-ABB7-8652ED11E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0576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7F56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7F56D9"/>
                </a:solidFill>
                <a:latin typeface="Microsoft YaHei"/>
                <a:ea typeface="Microsoft YaHei"/>
                <a:cs typeface="Microsoft YaHei"/>
              </a:rPr>
              <a:t>成员六</a:t>
            </a:r>
          </a:p>
        </p:txBody>
      </p:sp>
      <p:sp>
        <p:nvSpPr>
          <p:cNvPr id="33" name="text">
            <a:extLst xmlns:a="http://schemas.openxmlformats.org/drawingml/2006/main">
              <a:ext uri="{FF2B5EF4-FFF2-40B4-BE49-F238E27FC236}">
                <a16:creationId xmlns:a16="http://schemas.microsoft.com/office/drawing/2014/main" id="{0E4471A4-C84F-4F77-A9FE-C7713881B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4767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消息中心</a:t>
            </a:r>
          </a:p>
        </p:txBody>
      </p:sp>
      <p:sp>
        <p:nvSpPr>
          <p:cNvPr id="34" name="text">
            <a:extLst xmlns:a="http://schemas.openxmlformats.org/drawingml/2006/main">
              <a:ext uri="{FF2B5EF4-FFF2-40B4-BE49-F238E27FC236}">
                <a16:creationId xmlns:a16="http://schemas.microsoft.com/office/drawing/2014/main" id="{B8BAB97A-99BD-4C7C-803B-25BF11BF3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01015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事件消费 / 未读 / 已读</a:t>
            </a:r>
          </a:p>
        </p:txBody>
      </p:sp>
      <p:sp>
        <p:nvSpPr>
          <p:cNvPr id="35" name="text">
            <a:extLst xmlns:a="http://schemas.openxmlformats.org/drawingml/2006/main">
              <a:ext uri="{FF2B5EF4-FFF2-40B4-BE49-F238E27FC236}">
                <a16:creationId xmlns:a16="http://schemas.microsoft.com/office/drawing/2014/main" id="{2014F1D2-123D-4798-AD26-685719E5E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34100"/>
            <a:ext cx="11277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044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04438"/>
                </a:solidFill>
                <a:latin typeface="Microsoft YaHei"/>
                <a:ea typeface="Microsoft YaHei"/>
                <a:cs typeface="Microsoft YaHei"/>
              </a:rPr>
              <a:t>注意：成员姓名为可编辑占位，答辩前替换为真实姓名，并由队长补充每人的 Git 提交截图。</a:t>
            </a:r>
          </a:p>
        </p:txBody>
      </p:sp>
    </p:spTree>
    <p:extLst>
      <p:ext uri="{BB962C8B-B14F-4D97-AF65-F5344CB8AC3E}">
        <p14:creationId xmlns:p14="http://schemas.microsoft.com/office/powerpoint/2010/main" val="174326956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-7">
            <a:extLst xmlns:a="http://schemas.openxmlformats.org/drawingml/2006/main">
              <a:ext uri="{FF2B5EF4-FFF2-40B4-BE49-F238E27FC236}">
                <a16:creationId xmlns:a16="http://schemas.microsoft.com/office/drawing/2014/main" id="{A534CC9E-C1D0-4859-91DA-47F844493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AI JOB RADAR · COURSE DEFENSE</a:t>
            </a:r>
          </a:p>
        </p:txBody>
      </p:sp>
      <p:sp>
        <p:nvSpPr>
          <p:cNvPr id="2" name="slide-title-7">
            <a:extLst xmlns:a="http://schemas.openxmlformats.org/drawingml/2006/main">
              <a:ext uri="{FF2B5EF4-FFF2-40B4-BE49-F238E27FC236}">
                <a16:creationId xmlns:a16="http://schemas.microsoft.com/office/drawing/2014/main" id="{2463203D-756A-4CEA-B52A-D3A673727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085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关键交互已补齐：状态看得见，四道面试题都能作答</a:t>
            </a:r>
          </a:p>
        </p:txBody>
      </p:sp>
      <p:sp>
        <p:nvSpPr>
          <p:cNvPr id="3" name="title-rule-7">
            <a:extLst xmlns:a="http://schemas.openxmlformats.org/drawingml/2006/main">
              <a:ext uri="{FF2B5EF4-FFF2-40B4-BE49-F238E27FC236}">
                <a16:creationId xmlns:a16="http://schemas.microsoft.com/office/drawing/2014/main" id="{0318FEA6-BCD4-4680-A5F6-6C3ECD3FC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3350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-7">
            <a:extLst xmlns:a="http://schemas.openxmlformats.org/drawingml/2006/main">
              <a:ext uri="{FF2B5EF4-FFF2-40B4-BE49-F238E27FC236}">
                <a16:creationId xmlns:a16="http://schemas.microsoft.com/office/drawing/2014/main" id="{81074260-D1A8-4261-9CEB-FC0190A7A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238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5" name="职位雷达页面-frame">
            <a:extLst xmlns:a="http://schemas.openxmlformats.org/drawingml/2006/main">
              <a:ext uri="{FF2B5EF4-FFF2-40B4-BE49-F238E27FC236}">
                <a16:creationId xmlns:a16="http://schemas.microsoft.com/office/drawing/2014/main" id="{6467E3ED-78D8-464E-9D8B-C7A32BD24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" y="1743075"/>
            <a:ext cx="5162550" cy="40005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18b22a16a74d27"/>
          <a:stretch xmlns:a="http://schemas.openxmlformats.org/drawingml/2006/main"/>
        </p:blipFill>
        <p:spPr>
          <a:xfrm xmlns:a="http://schemas.openxmlformats.org/drawingml/2006/main">
            <a:off x="991929" y="1752600"/>
            <a:ext cx="4074042" cy="3981450"/>
          </a:xfrm>
          <a:prstGeom xmlns:a="http://schemas.openxmlformats.org/drawingml/2006/main" prst="roundRect">
            <a:avLst>
              <a:gd name="adj" fmla="val 2871"/>
            </a:avLst>
          </a:prstGeom>
        </p:spPr>
      </p:pic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6DEEA00A-F80B-4028-B754-E10D215CD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867400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职位雷达｜收藏与已投递状态即时区分</a:t>
            </a:r>
          </a:p>
        </p:txBody>
      </p:sp>
      <p:sp>
        <p:nvSpPr>
          <p:cNvPr id="8" name="四题模拟面试-frame">
            <a:extLst xmlns:a="http://schemas.openxmlformats.org/drawingml/2006/main">
              <a:ext uri="{FF2B5EF4-FFF2-40B4-BE49-F238E27FC236}">
                <a16:creationId xmlns:a16="http://schemas.microsoft.com/office/drawing/2014/main" id="{8F105CC7-8C44-4A64-919B-F23C70530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1743075"/>
            <a:ext cx="5810250" cy="19431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bec60fafcd493c"/>
          <a:stretch xmlns:a="http://schemas.openxmlformats.org/drawingml/2006/main"/>
        </p:blipFill>
        <p:spPr>
          <a:xfrm xmlns:a="http://schemas.openxmlformats.org/drawingml/2006/main">
            <a:off x="7129984" y="1752600"/>
            <a:ext cx="3418432" cy="1924050"/>
          </a:xfrm>
          <a:prstGeom xmlns:a="http://schemas.openxmlformats.org/drawingml/2006/main" prst="roundRect">
            <a:avLst>
              <a:gd name="adj" fmla="val 5941"/>
            </a:avLst>
          </a:prstGeom>
        </p:spPr>
      </p:pic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4DFE7F67-943A-4B28-B480-FF539580E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790950"/>
            <a:ext cx="579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模拟面试｜题目 1–4 全部可见、可切换、可填写</a:t>
            </a:r>
          </a:p>
        </p:txBody>
      </p:sp>
      <p:sp>
        <p:nvSpPr>
          <p:cNvPr id="11" name="消息中心-frame">
            <a:extLst xmlns:a="http://schemas.openxmlformats.org/drawingml/2006/main">
              <a:ext uri="{FF2B5EF4-FFF2-40B4-BE49-F238E27FC236}">
                <a16:creationId xmlns:a16="http://schemas.microsoft.com/office/drawing/2014/main" id="{F3075FA2-AF51-44D3-A702-62F088CD7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4162425"/>
            <a:ext cx="5810250" cy="1581150"/>
          </a:xfrm>
          <a:prstGeom xmlns:a="http://schemas.openxmlformats.org/drawingml/2006/main" prst="roundRect">
            <a:avLst>
              <a:gd name="adj" fmla="val 72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a8513b4a484e8a"/>
          <a:stretch xmlns:a="http://schemas.openxmlformats.org/drawingml/2006/main"/>
        </p:blipFill>
        <p:spPr>
          <a:xfrm xmlns:a="http://schemas.openxmlformats.org/drawingml/2006/main">
            <a:off x="7450667" y="4171950"/>
            <a:ext cx="2777067" cy="1562100"/>
          </a:xfrm>
          <a:prstGeom xmlns:a="http://schemas.openxmlformats.org/drawingml/2006/main" prst="roundRect">
            <a:avLst>
              <a:gd name="adj" fmla="val 7317"/>
            </a:avLst>
          </a:prstGeom>
        </p:spPr>
      </p:pic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9C57DE1C-2CB9-4409-A8CF-144698D13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5867400"/>
            <a:ext cx="579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消息中心｜未读标识、单条已读与全部已读</a:t>
            </a:r>
          </a:p>
        </p:txBody>
      </p:sp>
    </p:spTree>
    <p:extLst>
      <p:ext uri="{BB962C8B-B14F-4D97-AF65-F5344CB8AC3E}">
        <p14:creationId xmlns:p14="http://schemas.microsoft.com/office/powerpoint/2010/main" val="129867152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-8">
            <a:extLst xmlns:a="http://schemas.openxmlformats.org/drawingml/2006/main">
              <a:ext uri="{FF2B5EF4-FFF2-40B4-BE49-F238E27FC236}">
                <a16:creationId xmlns:a16="http://schemas.microsoft.com/office/drawing/2014/main" id="{22755413-0C86-489B-B0C1-C366523C0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AI JOB RADAR · COURSE DEFENSE</a:t>
            </a:r>
          </a:p>
        </p:txBody>
      </p:sp>
      <p:sp>
        <p:nvSpPr>
          <p:cNvPr id="2" name="slide-title-8">
            <a:extLst xmlns:a="http://schemas.openxmlformats.org/drawingml/2006/main">
              <a:ext uri="{FF2B5EF4-FFF2-40B4-BE49-F238E27FC236}">
                <a16:creationId xmlns:a16="http://schemas.microsoft.com/office/drawing/2014/main" id="{32FEBF47-857D-4208-804D-882C5281C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085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Redis 缓存职位查询，把高频读请求留在内存中</a:t>
            </a:r>
          </a:p>
        </p:txBody>
      </p:sp>
      <p:sp>
        <p:nvSpPr>
          <p:cNvPr id="3" name="title-rule-8">
            <a:extLst xmlns:a="http://schemas.openxmlformats.org/drawingml/2006/main">
              <a:ext uri="{FF2B5EF4-FFF2-40B4-BE49-F238E27FC236}">
                <a16:creationId xmlns:a16="http://schemas.microsoft.com/office/drawing/2014/main" id="{090D97FC-536F-48A6-A3BA-21D2D2108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3350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-8">
            <a:extLst xmlns:a="http://schemas.openxmlformats.org/drawingml/2006/main">
              <a:ext uri="{FF2B5EF4-FFF2-40B4-BE49-F238E27FC236}">
                <a16:creationId xmlns:a16="http://schemas.microsoft.com/office/drawing/2014/main" id="{4319C908-A6A1-4439-A69E-2BEAFB5C2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238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5" name="redis-node-0">
            <a:extLst xmlns:a="http://schemas.openxmlformats.org/drawingml/2006/main">
              <a:ext uri="{FF2B5EF4-FFF2-40B4-BE49-F238E27FC236}">
                <a16:creationId xmlns:a16="http://schemas.microsoft.com/office/drawing/2014/main" id="{6FEB085F-7C5D-4C07-AFFC-4512EA8C0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14550"/>
            <a:ext cx="215265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E7DF47BB-9A31-47A1-B821-7FAC1E84B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43150"/>
            <a:ext cx="1771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浏览器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F1EE875D-5C0C-48A1-A555-A5A9D7BBA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3370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搜索 / 筛选</a:t>
            </a:r>
          </a:p>
        </p:txBody>
      </p:sp>
      <p:sp>
        <p:nvSpPr>
          <p:cNvPr id="8" name="arrow">
            <a:extLst xmlns:a="http://schemas.openxmlformats.org/drawingml/2006/main">
              <a:ext uri="{FF2B5EF4-FFF2-40B4-BE49-F238E27FC236}">
                <a16:creationId xmlns:a16="http://schemas.microsoft.com/office/drawing/2014/main" id="{EABEBD24-6478-4B91-8512-ABDB924CB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590800"/>
            <a:ext cx="514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redis-node-1">
            <a:extLst xmlns:a="http://schemas.openxmlformats.org/drawingml/2006/main">
              <a:ext uri="{FF2B5EF4-FFF2-40B4-BE49-F238E27FC236}">
                <a16:creationId xmlns:a16="http://schemas.microsoft.com/office/drawing/2014/main" id="{D7D0F980-2A9C-4F98-B68F-1ADE84426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114550"/>
            <a:ext cx="215265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ECF89999-094D-4920-988F-FFB5B3C2B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343150"/>
            <a:ext cx="1771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Job Service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1D95AEE4-5D32-470F-806C-B428FC9A1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93370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@Cacheable</a:t>
            </a:r>
          </a:p>
        </p:txBody>
      </p:sp>
      <p:sp>
        <p:nvSpPr>
          <p:cNvPr id="12" name="arrow">
            <a:extLst xmlns:a="http://schemas.openxmlformats.org/drawingml/2006/main">
              <a:ext uri="{FF2B5EF4-FFF2-40B4-BE49-F238E27FC236}">
                <a16:creationId xmlns:a16="http://schemas.microsoft.com/office/drawing/2014/main" id="{F016EB53-B9B8-4FBE-9CB1-AF0E001B8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590800"/>
            <a:ext cx="514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3" name="redis-node-2">
            <a:extLst xmlns:a="http://schemas.openxmlformats.org/drawingml/2006/main">
              <a:ext uri="{FF2B5EF4-FFF2-40B4-BE49-F238E27FC236}">
                <a16:creationId xmlns:a16="http://schemas.microsoft.com/office/drawing/2014/main" id="{EFDBFDF1-27BA-4127-BA49-1740B904F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114550"/>
            <a:ext cx="215265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EF3F2"/>
          </a:solidFill>
          <a:ln xmlns:a="http://schemas.openxmlformats.org/drawingml/2006/main" w="9525">
            <a:solidFill>
              <a:srgbClr val="F04438"/>
            </a:solidFill>
            <a:prstDash val="solid"/>
          </a:ln>
        </p:spPr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D87F0AD5-7A9D-418D-9C6F-3F681EC11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343150"/>
            <a:ext cx="1771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044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04438"/>
                </a:solidFill>
                <a:latin typeface="Microsoft YaHei"/>
                <a:ea typeface="Microsoft YaHei"/>
                <a:cs typeface="Microsoft YaHei"/>
              </a:rPr>
              <a:t>Redis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3EBA675A-7DA7-4C58-8A0E-00741EAA1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93370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radar:jobs:*</a:t>
            </a:r>
          </a:p>
        </p:txBody>
      </p:sp>
      <p:sp>
        <p:nvSpPr>
          <p:cNvPr id="16" name="arrow">
            <a:extLst xmlns:a="http://schemas.openxmlformats.org/drawingml/2006/main">
              <a:ext uri="{FF2B5EF4-FFF2-40B4-BE49-F238E27FC236}">
                <a16:creationId xmlns:a16="http://schemas.microsoft.com/office/drawing/2014/main" id="{B5075ACE-EA18-4AF5-B9B8-BDD0E1644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590800"/>
            <a:ext cx="514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7" name="redis-node-3">
            <a:extLst xmlns:a="http://schemas.openxmlformats.org/drawingml/2006/main">
              <a:ext uri="{FF2B5EF4-FFF2-40B4-BE49-F238E27FC236}">
                <a16:creationId xmlns:a16="http://schemas.microsoft.com/office/drawing/2014/main" id="{3D14EFDE-2075-4D85-9357-050A6AF43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114550"/>
            <a:ext cx="215265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1AFB3F20-98D2-49DF-A483-01A7E76E5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343150"/>
            <a:ext cx="1771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MySQL</a:t>
            </a:r>
          </a:p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85455B64-4166-474F-9439-AE220FA0D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93370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缓存未命中</a:t>
            </a:r>
          </a:p>
        </p:txBody>
      </p:sp>
      <p:sp>
        <p:nvSpPr>
          <p:cNvPr id="20" name="stat-JSON 缓存过期时间">
            <a:extLst xmlns:a="http://schemas.openxmlformats.org/drawingml/2006/main">
              <a:ext uri="{FF2B5EF4-FFF2-40B4-BE49-F238E27FC236}">
                <a16:creationId xmlns:a16="http://schemas.microsoft.com/office/drawing/2014/main" id="{087AB3C4-1417-4BF6-809A-2EC9A816F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343400"/>
            <a:ext cx="335280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1" name="stat-accent-JSON 缓存过期时间">
            <a:extLst xmlns:a="http://schemas.openxmlformats.org/drawingml/2006/main">
              <a:ext uri="{FF2B5EF4-FFF2-40B4-BE49-F238E27FC236}">
                <a16:creationId xmlns:a16="http://schemas.microsoft.com/office/drawing/2014/main" id="{32487C38-4CA7-4B29-A70E-7CDB001AE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34340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44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stat-value-JSON 缓存过期时间">
            <a:extLst xmlns:a="http://schemas.openxmlformats.org/drawingml/2006/main">
              <a:ext uri="{FF2B5EF4-FFF2-40B4-BE49-F238E27FC236}">
                <a16:creationId xmlns:a16="http://schemas.microsoft.com/office/drawing/2014/main" id="{213B4A4B-CE8E-44AD-988A-1A87218AD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14850"/>
            <a:ext cx="2971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10 min</a:t>
            </a:r>
          </a:p>
        </p:txBody>
      </p:sp>
      <p:sp>
        <p:nvSpPr>
          <p:cNvPr id="23" name="stat-label-JSON 缓存过期时间">
            <a:extLst xmlns:a="http://schemas.openxmlformats.org/drawingml/2006/main">
              <a:ext uri="{FF2B5EF4-FFF2-40B4-BE49-F238E27FC236}">
                <a16:creationId xmlns:a16="http://schemas.microsoft.com/office/drawing/2014/main" id="{B9DB2434-15E4-4193-819C-F66EFDDDE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2445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JSON 缓存过期时间</a:t>
            </a:r>
          </a:p>
        </p:txBody>
      </p:sp>
      <p:sp>
        <p:nvSpPr>
          <p:cNvPr id="24" name="stat-列表与详情缓存">
            <a:extLst xmlns:a="http://schemas.openxmlformats.org/drawingml/2006/main">
              <a:ext uri="{FF2B5EF4-FFF2-40B4-BE49-F238E27FC236}">
                <a16:creationId xmlns:a16="http://schemas.microsoft.com/office/drawing/2014/main" id="{2E3C2CB8-C16F-4AD1-9CF8-E7032197D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343400"/>
            <a:ext cx="335280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5" name="stat-accent-列表与详情缓存">
            <a:extLst xmlns:a="http://schemas.openxmlformats.org/drawingml/2006/main">
              <a:ext uri="{FF2B5EF4-FFF2-40B4-BE49-F238E27FC236}">
                <a16:creationId xmlns:a16="http://schemas.microsoft.com/office/drawing/2014/main" id="{AFBBE9FA-FAD7-459C-95E8-9FB034D42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34340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stat-value-列表与详情缓存">
            <a:extLst xmlns:a="http://schemas.openxmlformats.org/drawingml/2006/main">
              <a:ext uri="{FF2B5EF4-FFF2-40B4-BE49-F238E27FC236}">
                <a16:creationId xmlns:a16="http://schemas.microsoft.com/office/drawing/2014/main" id="{B579C426-95CB-4C36-9CC1-97FD67BB1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514850"/>
            <a:ext cx="2971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2 类</a:t>
            </a:r>
          </a:p>
        </p:txBody>
      </p:sp>
      <p:sp>
        <p:nvSpPr>
          <p:cNvPr id="27" name="stat-label-列表与详情缓存">
            <a:extLst xmlns:a="http://schemas.openxmlformats.org/drawingml/2006/main">
              <a:ext uri="{FF2B5EF4-FFF2-40B4-BE49-F238E27FC236}">
                <a16:creationId xmlns:a16="http://schemas.microsoft.com/office/drawing/2014/main" id="{BC4033D0-9A1F-4AD4-B730-BFB11E712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512445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列表与详情缓存</a:t>
            </a:r>
          </a:p>
        </p:txBody>
      </p:sp>
      <p:sp>
        <p:nvSpPr>
          <p:cNvPr id="28" name="stat-radar: 便于课堂演示">
            <a:extLst xmlns:a="http://schemas.openxmlformats.org/drawingml/2006/main">
              <a:ext uri="{FF2B5EF4-FFF2-40B4-BE49-F238E27FC236}">
                <a16:creationId xmlns:a16="http://schemas.microsoft.com/office/drawing/2014/main" id="{D570CAEA-0D0B-4B6D-A592-9186624B3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343400"/>
            <a:ext cx="400050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9" name="stat-accent-radar: 便于课堂演示">
            <a:extLst xmlns:a="http://schemas.openxmlformats.org/drawingml/2006/main">
              <a:ext uri="{FF2B5EF4-FFF2-40B4-BE49-F238E27FC236}">
                <a16:creationId xmlns:a16="http://schemas.microsoft.com/office/drawing/2014/main" id="{F35361CB-4606-4BEF-9EC1-B514AC034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34340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stat-value-radar: 便于课堂演示">
            <a:extLst xmlns:a="http://schemas.openxmlformats.org/drawingml/2006/main">
              <a:ext uri="{FF2B5EF4-FFF2-40B4-BE49-F238E27FC236}">
                <a16:creationId xmlns:a16="http://schemas.microsoft.com/office/drawing/2014/main" id="{97B4659B-1AFC-497D-9D47-2E78E8679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514850"/>
            <a:ext cx="3619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1 前缀</a:t>
            </a:r>
          </a:p>
        </p:txBody>
      </p:sp>
      <p:sp>
        <p:nvSpPr>
          <p:cNvPr id="31" name="stat-label-radar: 便于课堂演示">
            <a:extLst xmlns:a="http://schemas.openxmlformats.org/drawingml/2006/main">
              <a:ext uri="{FF2B5EF4-FFF2-40B4-BE49-F238E27FC236}">
                <a16:creationId xmlns:a16="http://schemas.microsoft.com/office/drawing/2014/main" id="{42989246-D3D6-40A8-ADDA-A5C2E0A09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512445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radar: 便于课堂演示</a:t>
            </a:r>
          </a:p>
        </p:txBody>
      </p:sp>
      <p:sp>
        <p:nvSpPr>
          <p:cNvPr id="32" name="text">
            <a:extLst xmlns:a="http://schemas.openxmlformats.org/drawingml/2006/main">
              <a:ext uri="{FF2B5EF4-FFF2-40B4-BE49-F238E27FC236}">
                <a16:creationId xmlns:a16="http://schemas.microsoft.com/office/drawing/2014/main" id="{4DAAC315-BC56-4EDA-9A03-16DBBDBB0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00750"/>
            <a:ext cx="11277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演示证据：连续查询后可用 redis-cli keys '*' 看到 radar:jobs::::null:1:3。</a:t>
            </a:r>
          </a:p>
        </p:txBody>
      </p:sp>
    </p:spTree>
    <p:extLst>
      <p:ext uri="{BB962C8B-B14F-4D97-AF65-F5344CB8AC3E}">
        <p14:creationId xmlns:p14="http://schemas.microsoft.com/office/powerpoint/2010/main" val="210720042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-9">
            <a:extLst xmlns:a="http://schemas.openxmlformats.org/drawingml/2006/main">
              <a:ext uri="{FF2B5EF4-FFF2-40B4-BE49-F238E27FC236}">
                <a16:creationId xmlns:a16="http://schemas.microsoft.com/office/drawing/2014/main" id="{334BC53E-458F-4504-B306-2543E8EC4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AI JOB RADAR · COURSE DEFENSE</a:t>
            </a:r>
          </a:p>
        </p:txBody>
      </p:sp>
      <p:sp>
        <p:nvSpPr>
          <p:cNvPr id="2" name="slide-title-9">
            <a:extLst xmlns:a="http://schemas.openxmlformats.org/drawingml/2006/main">
              <a:ext uri="{FF2B5EF4-FFF2-40B4-BE49-F238E27FC236}">
                <a16:creationId xmlns:a16="http://schemas.microsoft.com/office/drawing/2014/main" id="{7B08331D-224F-45B2-B445-5E6FE0271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085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RabbitMQ 把“投递成功”和“生成通知”解耦</a:t>
            </a:r>
          </a:p>
        </p:txBody>
      </p:sp>
      <p:sp>
        <p:nvSpPr>
          <p:cNvPr id="3" name="title-rule-9">
            <a:extLst xmlns:a="http://schemas.openxmlformats.org/drawingml/2006/main">
              <a:ext uri="{FF2B5EF4-FFF2-40B4-BE49-F238E27FC236}">
                <a16:creationId xmlns:a16="http://schemas.microsoft.com/office/drawing/2014/main" id="{029000E7-428A-43CF-B21C-EDEFFCE40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3350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-9">
            <a:extLst xmlns:a="http://schemas.openxmlformats.org/drawingml/2006/main">
              <a:ext uri="{FF2B5EF4-FFF2-40B4-BE49-F238E27FC236}">
                <a16:creationId xmlns:a16="http://schemas.microsoft.com/office/drawing/2014/main" id="{A8FA7648-73CC-428D-A64E-ED3A953CF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238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sp>
        <p:nvSpPr>
          <p:cNvPr id="5" name="mq-0">
            <a:extLst xmlns:a="http://schemas.openxmlformats.org/drawingml/2006/main">
              <a:ext uri="{FF2B5EF4-FFF2-40B4-BE49-F238E27FC236}">
                <a16:creationId xmlns:a16="http://schemas.microsoft.com/office/drawing/2014/main" id="{9DF4459C-18FD-49DD-9FA5-2FE3BDEFD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76450"/>
            <a:ext cx="23241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C06149A0-3C3C-4349-BFE7-EDD736E9A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2019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Application Service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D83FC05B-C791-45D6-8756-3DAA105F8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2019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保存投递 / 更新状态</a:t>
            </a:r>
          </a:p>
        </p:txBody>
      </p:sp>
      <p:sp>
        <p:nvSpPr>
          <p:cNvPr id="8" name="arrow">
            <a:extLst xmlns:a="http://schemas.openxmlformats.org/drawingml/2006/main">
              <a:ext uri="{FF2B5EF4-FFF2-40B4-BE49-F238E27FC236}">
                <a16:creationId xmlns:a16="http://schemas.microsoft.com/office/drawing/2014/main" id="{CE638BA3-4257-4E80-A7F3-B1E3F3EBF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609850"/>
            <a:ext cx="495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mq-1">
            <a:extLst xmlns:a="http://schemas.openxmlformats.org/drawingml/2006/main">
              <a:ext uri="{FF2B5EF4-FFF2-40B4-BE49-F238E27FC236}">
                <a16:creationId xmlns:a16="http://schemas.microsoft.com/office/drawing/2014/main" id="{ABEB2842-ACBF-4C6B-B4E0-50105FF59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076450"/>
            <a:ext cx="23241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79009"/>
            </a:solidFill>
            <a:prstDash val="solid"/>
          </a:ln>
        </p:spPr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28B61C00-A7BA-4C57-A06E-D85717CAD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305050"/>
            <a:ext cx="2019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rPr>
              <a:t>Exchange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B4102C2E-2629-4E04-BE29-C0CCEC01D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914650"/>
            <a:ext cx="2019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radar.application.exchange</a:t>
            </a:r>
          </a:p>
        </p:txBody>
      </p:sp>
      <p:sp>
        <p:nvSpPr>
          <p:cNvPr id="12" name="arrow">
            <a:extLst xmlns:a="http://schemas.openxmlformats.org/drawingml/2006/main">
              <a:ext uri="{FF2B5EF4-FFF2-40B4-BE49-F238E27FC236}">
                <a16:creationId xmlns:a16="http://schemas.microsoft.com/office/drawing/2014/main" id="{376601FB-35F7-4D4D-BFCC-106396E67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609850"/>
            <a:ext cx="495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3" name="mq-2">
            <a:extLst xmlns:a="http://schemas.openxmlformats.org/drawingml/2006/main">
              <a:ext uri="{FF2B5EF4-FFF2-40B4-BE49-F238E27FC236}">
                <a16:creationId xmlns:a16="http://schemas.microsoft.com/office/drawing/2014/main" id="{9EAF95C5-9372-42EA-ABEE-D31B57934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76450"/>
            <a:ext cx="23241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6B6D4"/>
            </a:solidFill>
            <a:prstDash val="solid"/>
          </a:ln>
        </p:spPr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06537A12-B884-4F75-B33A-7A79427A7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05050"/>
            <a:ext cx="2019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6B6D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06B6D4"/>
                </a:solidFill>
                <a:latin typeface="Microsoft YaHei"/>
                <a:ea typeface="Microsoft YaHei"/>
                <a:cs typeface="Microsoft YaHei"/>
              </a:rPr>
              <a:t>Queue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D76AB896-1D79-4B19-AC43-2CA5D5B54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914650"/>
            <a:ext cx="2019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radar.notification.queue</a:t>
            </a:r>
          </a:p>
        </p:txBody>
      </p:sp>
      <p:sp>
        <p:nvSpPr>
          <p:cNvPr id="16" name="arrow">
            <a:extLst xmlns:a="http://schemas.openxmlformats.org/drawingml/2006/main">
              <a:ext uri="{FF2B5EF4-FFF2-40B4-BE49-F238E27FC236}">
                <a16:creationId xmlns:a16="http://schemas.microsoft.com/office/drawing/2014/main" id="{EEB5008F-6C06-4DBD-BC05-9F6B8AE68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609850"/>
            <a:ext cx="495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7" name="mq-3">
            <a:extLst xmlns:a="http://schemas.openxmlformats.org/drawingml/2006/main">
              <a:ext uri="{FF2B5EF4-FFF2-40B4-BE49-F238E27FC236}">
                <a16:creationId xmlns:a16="http://schemas.microsoft.com/office/drawing/2014/main" id="{F54CAE0E-70D3-44DB-8F1E-69AA87645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076450"/>
            <a:ext cx="23241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2B76A"/>
            </a:solidFill>
            <a:prstDash val="solid"/>
          </a:ln>
        </p:spPr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103CDD01-657A-419E-9B8A-01AB847C9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305050"/>
            <a:ext cx="2019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2B7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2B76A"/>
                </a:solidFill>
                <a:latin typeface="Microsoft YaHei"/>
                <a:ea typeface="Microsoft YaHei"/>
                <a:cs typeface="Microsoft YaHei"/>
              </a:rPr>
              <a:t>Notification Service</a:t>
            </a:r>
          </a:p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17B40D00-BF2B-4BDF-8C44-F07453FFD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914650"/>
            <a:ext cx="2019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落库并展示消息</a:t>
            </a:r>
          </a:p>
        </p:txBody>
      </p:sp>
      <p:sp>
        <p:nvSpPr>
          <p:cNvPr id="20" name="mq-point-0">
            <a:extLst xmlns:a="http://schemas.openxmlformats.org/drawingml/2006/main">
              <a:ext uri="{FF2B5EF4-FFF2-40B4-BE49-F238E27FC236}">
                <a16:creationId xmlns:a16="http://schemas.microsoft.com/office/drawing/2014/main" id="{426BCBA5-6D48-44F0-84C4-CB48B6FE2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324350"/>
            <a:ext cx="354330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97DBB551-3B84-4978-A319-97E128777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14850"/>
            <a:ext cx="819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可靠</a:t>
            </a:r>
          </a:p>
        </p:txBody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80485DDA-D76B-46DF-A020-687CBA820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495800"/>
            <a:ext cx="2209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交换机、队列、路由键显式声明</a:t>
            </a:r>
          </a:p>
        </p:txBody>
      </p:sp>
      <p:sp>
        <p:nvSpPr>
          <p:cNvPr id="23" name="mq-point-1">
            <a:extLst xmlns:a="http://schemas.openxmlformats.org/drawingml/2006/main">
              <a:ext uri="{FF2B5EF4-FFF2-40B4-BE49-F238E27FC236}">
                <a16:creationId xmlns:a16="http://schemas.microsoft.com/office/drawing/2014/main" id="{04DC19D4-238E-405D-96F8-6120482AD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324350"/>
            <a:ext cx="354330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035A62AF-E92F-4A99-B06A-F12BF4CFE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514850"/>
            <a:ext cx="819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2B7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2B76A"/>
                </a:solidFill>
                <a:latin typeface="Microsoft YaHei"/>
                <a:ea typeface="Microsoft YaHei"/>
                <a:cs typeface="Microsoft YaHei"/>
              </a:rPr>
              <a:t>解耦</a:t>
            </a:r>
          </a:p>
        </p:txBody>
      </p:sp>
      <p:sp>
        <p:nvSpPr>
          <p:cNvPr id="25" name="text">
            <a:extLst xmlns:a="http://schemas.openxmlformats.org/drawingml/2006/main">
              <a:ext uri="{FF2B5EF4-FFF2-40B4-BE49-F238E27FC236}">
                <a16:creationId xmlns:a16="http://schemas.microsoft.com/office/drawing/2014/main" id="{75975B97-4D66-4CB4-823D-40B3ABD50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495800"/>
            <a:ext cx="2209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通知异常不阻塞核心投递操作</a:t>
            </a:r>
          </a:p>
        </p:txBody>
      </p:sp>
      <p:sp>
        <p:nvSpPr>
          <p:cNvPr id="26" name="mq-point-2">
            <a:extLst xmlns:a="http://schemas.openxmlformats.org/drawingml/2006/main">
              <a:ext uri="{FF2B5EF4-FFF2-40B4-BE49-F238E27FC236}">
                <a16:creationId xmlns:a16="http://schemas.microsoft.com/office/drawing/2014/main" id="{0B583569-8D28-48CD-ABCF-4AD408AA3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324350"/>
            <a:ext cx="354330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7" name="text">
            <a:extLst xmlns:a="http://schemas.openxmlformats.org/drawingml/2006/main">
              <a:ext uri="{FF2B5EF4-FFF2-40B4-BE49-F238E27FC236}">
                <a16:creationId xmlns:a16="http://schemas.microsoft.com/office/drawing/2014/main" id="{E2C6A3AB-A617-4907-BA71-DF2E6FCEF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514850"/>
            <a:ext cx="819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rPr>
              <a:t>可测</a:t>
            </a:r>
          </a:p>
        </p:txBody>
      </p:sp>
      <p:sp>
        <p:nvSpPr>
          <p:cNvPr id="28" name="text">
            <a:extLst xmlns:a="http://schemas.openxmlformats.org/drawingml/2006/main">
              <a:ext uri="{FF2B5EF4-FFF2-40B4-BE49-F238E27FC236}">
                <a16:creationId xmlns:a16="http://schemas.microsoft.com/office/drawing/2014/main" id="{9D1FF344-411F-481B-B632-099B26D11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4495800"/>
            <a:ext cx="2209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发布器与监听器均有单元测试</a:t>
            </a:r>
          </a:p>
        </p:txBody>
      </p:sp>
      <p:sp>
        <p:nvSpPr>
          <p:cNvPr id="29" name="text">
            <a:extLst xmlns:a="http://schemas.openxmlformats.org/drawingml/2006/main">
              <a:ext uri="{FF2B5EF4-FFF2-40B4-BE49-F238E27FC236}">
                <a16:creationId xmlns:a16="http://schemas.microsoft.com/office/drawing/2014/main" id="{A37345CC-2141-4AC7-888E-1C1C32327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19800"/>
            <a:ext cx="11277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本机已验证真实异步消费：投递状态更新为 OFFER 后，消息中心自动新增对应通知。</a:t>
            </a:r>
          </a:p>
        </p:txBody>
      </p:sp>
    </p:spTree>
    <p:extLst>
      <p:ext uri="{BB962C8B-B14F-4D97-AF65-F5344CB8AC3E}">
        <p14:creationId xmlns:p14="http://schemas.microsoft.com/office/powerpoint/2010/main" val="3701104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-10">
            <a:extLst xmlns:a="http://schemas.openxmlformats.org/drawingml/2006/main">
              <a:ext uri="{FF2B5EF4-FFF2-40B4-BE49-F238E27FC236}">
                <a16:creationId xmlns:a16="http://schemas.microsoft.com/office/drawing/2014/main" id="{2EA02F42-B232-41BE-AD56-DE39B687B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AI JOB RADAR · COURSE DEFENSE</a:t>
            </a:r>
          </a:p>
        </p:txBody>
      </p:sp>
      <p:sp>
        <p:nvSpPr>
          <p:cNvPr id="2" name="slide-title-10">
            <a:extLst xmlns:a="http://schemas.openxmlformats.org/drawingml/2006/main">
              <a:ext uri="{FF2B5EF4-FFF2-40B4-BE49-F238E27FC236}">
                <a16:creationId xmlns:a16="http://schemas.microsoft.com/office/drawing/2014/main" id="{3C478BAA-94BB-41B2-A252-68F406A29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085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四个工程细节，让微服务演示更稳定也更容易讲清楚</a:t>
            </a:r>
          </a:p>
        </p:txBody>
      </p:sp>
      <p:sp>
        <p:nvSpPr>
          <p:cNvPr id="3" name="title-rule-10">
            <a:extLst xmlns:a="http://schemas.openxmlformats.org/drawingml/2006/main">
              <a:ext uri="{FF2B5EF4-FFF2-40B4-BE49-F238E27FC236}">
                <a16:creationId xmlns:a16="http://schemas.microsoft.com/office/drawing/2014/main" id="{BB108D78-3768-4993-84BA-7063648AA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3350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-10">
            <a:extLst xmlns:a="http://schemas.openxmlformats.org/drawingml/2006/main">
              <a:ext uri="{FF2B5EF4-FFF2-40B4-BE49-F238E27FC236}">
                <a16:creationId xmlns:a16="http://schemas.microsoft.com/office/drawing/2014/main" id="{F3686D52-1C98-437A-9FFC-E39249DA0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238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5" name="eng-0">
            <a:extLst xmlns:a="http://schemas.openxmlformats.org/drawingml/2006/main">
              <a:ext uri="{FF2B5EF4-FFF2-40B4-BE49-F238E27FC236}">
                <a16:creationId xmlns:a16="http://schemas.microsoft.com/office/drawing/2014/main" id="{5C15F2CC-D852-4A23-AD78-655FC6C80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76400"/>
            <a:ext cx="5429250" cy="1847850"/>
          </a:xfrm>
          <a:prstGeom xmlns:a="http://schemas.openxmlformats.org/drawingml/2006/main" prst="roundRect">
            <a:avLst>
              <a:gd name="adj" fmla="val 61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12AD88B4-11AA-42FE-90F9-8061E3882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05000"/>
            <a:ext cx="590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F0074DFE-E328-4DF1-89A8-C14FF8C79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905000"/>
            <a:ext cx="400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JWT 身份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222AAC1D-5662-47B0-ADCF-B0FB5A387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476500"/>
            <a:ext cx="4000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Gateway 后的接口统一携带 Token，服务端解析用户身份。</a:t>
            </a:r>
          </a:p>
        </p:txBody>
      </p:sp>
      <p:sp>
        <p:nvSpPr>
          <p:cNvPr id="9" name="eng-1">
            <a:extLst xmlns:a="http://schemas.openxmlformats.org/drawingml/2006/main">
              <a:ext uri="{FF2B5EF4-FFF2-40B4-BE49-F238E27FC236}">
                <a16:creationId xmlns:a16="http://schemas.microsoft.com/office/drawing/2014/main" id="{D0E36B5B-8017-45F6-B0F0-1A9CEFDE4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676400"/>
            <a:ext cx="5429250" cy="1847850"/>
          </a:xfrm>
          <a:prstGeom xmlns:a="http://schemas.openxmlformats.org/drawingml/2006/main" prst="roundRect">
            <a:avLst>
              <a:gd name="adj" fmla="val 61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B4A9DAAC-7C63-41C9-878C-473B2FC29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905000"/>
            <a:ext cx="590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6B6D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06B6D4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9AA85C15-45B3-4A43-8DB1-637BD4DFA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905000"/>
            <a:ext cx="400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Long 字符串化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A7E2DE46-16B7-4F3C-83B9-7B34353D9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476500"/>
            <a:ext cx="4000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雪花 ID 在前端按字符串传递，避免 JavaScript 精度丢失。</a:t>
            </a:r>
          </a:p>
        </p:txBody>
      </p:sp>
      <p:sp>
        <p:nvSpPr>
          <p:cNvPr id="13" name="eng-2">
            <a:extLst xmlns:a="http://schemas.openxmlformats.org/drawingml/2006/main">
              <a:ext uri="{FF2B5EF4-FFF2-40B4-BE49-F238E27FC236}">
                <a16:creationId xmlns:a16="http://schemas.microsoft.com/office/drawing/2014/main" id="{84AF1CEA-9C90-4E1A-99A4-340B5F701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90950"/>
            <a:ext cx="5429250" cy="1847850"/>
          </a:xfrm>
          <a:prstGeom xmlns:a="http://schemas.openxmlformats.org/drawingml/2006/main" prst="roundRect">
            <a:avLst>
              <a:gd name="adj" fmla="val 6186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63224238-78E1-429D-A4EF-C833686D4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9550"/>
            <a:ext cx="590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2B7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2B76A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5461C5D7-3190-4FC3-AB0C-5F381588E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019550"/>
            <a:ext cx="400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统一响应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8054A9E5-F03B-4575-BDBA-DCC5757CC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591050"/>
            <a:ext cx="4000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CommonResult 统一 code、message、data，前端处理一致。</a:t>
            </a:r>
          </a:p>
        </p:txBody>
      </p:sp>
      <p:sp>
        <p:nvSpPr>
          <p:cNvPr id="17" name="eng-3">
            <a:extLst xmlns:a="http://schemas.openxmlformats.org/drawingml/2006/main">
              <a:ext uri="{FF2B5EF4-FFF2-40B4-BE49-F238E27FC236}">
                <a16:creationId xmlns:a16="http://schemas.microsoft.com/office/drawing/2014/main" id="{4CAF71CC-8B07-40FD-B46D-490FD9D4C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790950"/>
            <a:ext cx="5429250" cy="1847850"/>
          </a:xfrm>
          <a:prstGeom xmlns:a="http://schemas.openxmlformats.org/drawingml/2006/main" prst="roundRect">
            <a:avLst>
              <a:gd name="adj" fmla="val 6186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F1F2D152-4220-4F16-8FD2-9AC0C2454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19550"/>
            <a:ext cx="590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3E2490B5-4307-49A2-B3E8-6D56E8B63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019550"/>
            <a:ext cx="400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环境可配置</a:t>
            </a:r>
          </a:p>
        </p:txBody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494E115C-4C42-4AD0-9597-50FD8BFE1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591050"/>
            <a:ext cx="4000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MySQL、Redis、RabbitMQ 均支持环境变量并保留演示默认值。</a:t>
            </a:r>
          </a:p>
        </p:txBody>
      </p:sp>
    </p:spTree>
    <p:extLst>
      <p:ext uri="{BB962C8B-B14F-4D97-AF65-F5344CB8AC3E}">
        <p14:creationId xmlns:p14="http://schemas.microsoft.com/office/powerpoint/2010/main" val="151784634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-11">
            <a:extLst xmlns:a="http://schemas.openxmlformats.org/drawingml/2006/main">
              <a:ext uri="{FF2B5EF4-FFF2-40B4-BE49-F238E27FC236}">
                <a16:creationId xmlns:a16="http://schemas.microsoft.com/office/drawing/2014/main" id="{9345F2E0-EFD1-4EA4-A932-B147DF261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AI JOB RADAR · COURSE DEFENSE</a:t>
            </a:r>
          </a:p>
        </p:txBody>
      </p:sp>
      <p:sp>
        <p:nvSpPr>
          <p:cNvPr id="2" name="slide-title-11">
            <a:extLst xmlns:a="http://schemas.openxmlformats.org/drawingml/2006/main">
              <a:ext uri="{FF2B5EF4-FFF2-40B4-BE49-F238E27FC236}">
                <a16:creationId xmlns:a16="http://schemas.microsoft.com/office/drawing/2014/main" id="{BB1411AD-1154-4710-A03C-C12A59C12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085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答辩现场按 6 分钟脚本演示，先业务后技术证据</a:t>
            </a:r>
          </a:p>
        </p:txBody>
      </p:sp>
      <p:sp>
        <p:nvSpPr>
          <p:cNvPr id="3" name="title-rule-11">
            <a:extLst xmlns:a="http://schemas.openxmlformats.org/drawingml/2006/main">
              <a:ext uri="{FF2B5EF4-FFF2-40B4-BE49-F238E27FC236}">
                <a16:creationId xmlns:a16="http://schemas.microsoft.com/office/drawing/2014/main" id="{8ACB45E3-B598-4197-9A85-C59E1A816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3350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-11">
            <a:extLst xmlns:a="http://schemas.openxmlformats.org/drawingml/2006/main">
              <a:ext uri="{FF2B5EF4-FFF2-40B4-BE49-F238E27FC236}">
                <a16:creationId xmlns:a16="http://schemas.microsoft.com/office/drawing/2014/main" id="{E9300076-741E-44EB-A939-540EE573B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238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sp>
        <p:nvSpPr>
          <p:cNvPr id="5" name="timeline-line">
            <a:extLst xmlns:a="http://schemas.openxmlformats.org/drawingml/2006/main">
              <a:ext uri="{FF2B5EF4-FFF2-40B4-BE49-F238E27FC236}">
                <a16:creationId xmlns:a16="http://schemas.microsoft.com/office/drawing/2014/main" id="{3D10AEC5-2238-47DF-8126-641999EBA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81200"/>
            <a:ext cx="95250" cy="3371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imeline-dot-0">
            <a:extLst xmlns:a="http://schemas.openxmlformats.org/drawingml/2006/main">
              <a:ext uri="{FF2B5EF4-FFF2-40B4-BE49-F238E27FC236}">
                <a16:creationId xmlns:a16="http://schemas.microsoft.com/office/drawing/2014/main" id="{4D7BFEB3-36F9-4B49-BD8C-538AF35EA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933575"/>
            <a:ext cx="41910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87299E03-DE65-4EC8-99F6-0EF447ABE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0002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846A6030-2D7E-4F98-88C5-1C7B31601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90500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00:00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D6BB71C2-8EFD-46A8-9F79-C56AE75C6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1847850"/>
            <a:ext cx="3486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登录并进入职位雷达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806AD559-85E7-4CE7-8DD6-DA65EB710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866900"/>
            <a:ext cx="457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确认 Gateway 与 Nacos 路由</a:t>
            </a:r>
          </a:p>
        </p:txBody>
      </p:sp>
      <p:sp>
        <p:nvSpPr>
          <p:cNvPr id="11" name="timeline-dot-1">
            <a:extLst xmlns:a="http://schemas.openxmlformats.org/drawingml/2006/main">
              <a:ext uri="{FF2B5EF4-FFF2-40B4-BE49-F238E27FC236}">
                <a16:creationId xmlns:a16="http://schemas.microsoft.com/office/drawing/2014/main" id="{16802B4C-FAB4-4651-84EA-CCC3EE235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676525"/>
            <a:ext cx="41910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C59216E2-88CD-4341-AAA4-D712F7538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7432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70C95331-9BC2-4B7D-B4D0-8FC40A515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64795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01:00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6BC69D7C-8CC7-4E76-B701-C547EB7EC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590800"/>
            <a:ext cx="3486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搜索职位并收藏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B2FE55AD-AEB4-4BE2-9176-7E48BC918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609850"/>
            <a:ext cx="457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展示 Redis key 与收藏态</a:t>
            </a:r>
          </a:p>
        </p:txBody>
      </p:sp>
      <p:sp>
        <p:nvSpPr>
          <p:cNvPr id="16" name="timeline-dot-2">
            <a:extLst xmlns:a="http://schemas.openxmlformats.org/drawingml/2006/main">
              <a:ext uri="{FF2B5EF4-FFF2-40B4-BE49-F238E27FC236}">
                <a16:creationId xmlns:a16="http://schemas.microsoft.com/office/drawing/2014/main" id="{C455CC61-9944-4B2C-9B64-046DA3BCE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419475"/>
            <a:ext cx="41910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9044E2B1-28C4-4B6C-9EB5-E8769A0CC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4861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526B09F8-02E6-46F9-A68E-48564A0D8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39090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02:00</a:t>
            </a:r>
          </a:p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39C1B602-D2F7-426E-9DF5-6F135F460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333750"/>
            <a:ext cx="3486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点击投递</a:t>
            </a:r>
          </a:p>
        </p:txBody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831027C7-A35D-4081-A438-12CFB683B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352800"/>
            <a:ext cx="457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按钮变为“已投递”</a:t>
            </a:r>
          </a:p>
        </p:txBody>
      </p:sp>
      <p:sp>
        <p:nvSpPr>
          <p:cNvPr id="21" name="timeline-dot-3">
            <a:extLst xmlns:a="http://schemas.openxmlformats.org/drawingml/2006/main">
              <a:ext uri="{FF2B5EF4-FFF2-40B4-BE49-F238E27FC236}">
                <a16:creationId xmlns:a16="http://schemas.microsoft.com/office/drawing/2014/main" id="{B4D13538-3D57-47F6-9B72-F314A8B80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162425"/>
            <a:ext cx="41910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FABFC7FE-4BC0-4E8E-81BD-5B3E469EC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2291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3" name="text">
            <a:extLst xmlns:a="http://schemas.openxmlformats.org/drawingml/2006/main">
              <a:ext uri="{FF2B5EF4-FFF2-40B4-BE49-F238E27FC236}">
                <a16:creationId xmlns:a16="http://schemas.microsoft.com/office/drawing/2014/main" id="{8AF7F263-F979-45D0-AA26-74C965AFF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13385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03:00</a:t>
            </a:r>
          </a:p>
        </p:txBody>
      </p:sp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59D7D239-467C-46B9-9659-9B519B439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4076700"/>
            <a:ext cx="3486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打开消息中心</a:t>
            </a:r>
          </a:p>
        </p:txBody>
      </p:sp>
      <p:sp>
        <p:nvSpPr>
          <p:cNvPr id="25" name="text">
            <a:extLst xmlns:a="http://schemas.openxmlformats.org/drawingml/2006/main">
              <a:ext uri="{FF2B5EF4-FFF2-40B4-BE49-F238E27FC236}">
                <a16:creationId xmlns:a16="http://schemas.microsoft.com/office/drawing/2014/main" id="{40ABA085-5B42-4041-9DA8-8F557EFDB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095750"/>
            <a:ext cx="457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展示 RabbitMQ 通知链路</a:t>
            </a:r>
          </a:p>
        </p:txBody>
      </p:sp>
      <p:sp>
        <p:nvSpPr>
          <p:cNvPr id="26" name="timeline-dot-4">
            <a:extLst xmlns:a="http://schemas.openxmlformats.org/drawingml/2006/main">
              <a:ext uri="{FF2B5EF4-FFF2-40B4-BE49-F238E27FC236}">
                <a16:creationId xmlns:a16="http://schemas.microsoft.com/office/drawing/2014/main" id="{73D4E0A2-5D7C-4C45-9F90-39959C694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905375"/>
            <a:ext cx="41910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text">
            <a:extLst xmlns:a="http://schemas.openxmlformats.org/drawingml/2006/main">
              <a:ext uri="{FF2B5EF4-FFF2-40B4-BE49-F238E27FC236}">
                <a16:creationId xmlns:a16="http://schemas.microsoft.com/office/drawing/2014/main" id="{5152D426-597D-400C-B228-DAE77BAD7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9720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28" name="text">
            <a:extLst xmlns:a="http://schemas.openxmlformats.org/drawingml/2006/main">
              <a:ext uri="{FF2B5EF4-FFF2-40B4-BE49-F238E27FC236}">
                <a16:creationId xmlns:a16="http://schemas.microsoft.com/office/drawing/2014/main" id="{DF9E2364-6D9C-4060-948E-7E19C5878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87680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04:00</a:t>
            </a:r>
          </a:p>
        </p:txBody>
      </p:sp>
      <p:sp>
        <p:nvSpPr>
          <p:cNvPr id="29" name="text">
            <a:extLst xmlns:a="http://schemas.openxmlformats.org/drawingml/2006/main">
              <a:ext uri="{FF2B5EF4-FFF2-40B4-BE49-F238E27FC236}">
                <a16:creationId xmlns:a16="http://schemas.microsoft.com/office/drawing/2014/main" id="{CF68F469-AE1C-4C40-8628-1BCBA5995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4819650"/>
            <a:ext cx="3486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创建模拟面试</a:t>
            </a:r>
          </a:p>
        </p:txBody>
      </p:sp>
      <p:sp>
        <p:nvSpPr>
          <p:cNvPr id="30" name="text">
            <a:extLst xmlns:a="http://schemas.openxmlformats.org/drawingml/2006/main">
              <a:ext uri="{FF2B5EF4-FFF2-40B4-BE49-F238E27FC236}">
                <a16:creationId xmlns:a16="http://schemas.microsoft.com/office/drawing/2014/main" id="{3ACE7746-14EF-4445-8103-99245161B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838700"/>
            <a:ext cx="457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四道题可查看、作答</a:t>
            </a:r>
          </a:p>
        </p:txBody>
      </p:sp>
      <p:sp>
        <p:nvSpPr>
          <p:cNvPr id="31" name="timeline-dot-5">
            <a:extLst xmlns:a="http://schemas.openxmlformats.org/drawingml/2006/main">
              <a:ext uri="{FF2B5EF4-FFF2-40B4-BE49-F238E27FC236}">
                <a16:creationId xmlns:a16="http://schemas.microsoft.com/office/drawing/2014/main" id="{347EE76D-12A6-4483-BDBB-D3836AB35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648325"/>
            <a:ext cx="41910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12B7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">
            <a:extLst xmlns:a="http://schemas.openxmlformats.org/drawingml/2006/main">
              <a:ext uri="{FF2B5EF4-FFF2-40B4-BE49-F238E27FC236}">
                <a16:creationId xmlns:a16="http://schemas.microsoft.com/office/drawing/2014/main" id="{8695B6CB-AA91-48AB-A026-B7568D177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7150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33" name="text">
            <a:extLst xmlns:a="http://schemas.openxmlformats.org/drawingml/2006/main">
              <a:ext uri="{FF2B5EF4-FFF2-40B4-BE49-F238E27FC236}">
                <a16:creationId xmlns:a16="http://schemas.microsoft.com/office/drawing/2014/main" id="{C297290C-C242-4953-941A-6FF4886BE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561975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05:00</a:t>
            </a:r>
          </a:p>
        </p:txBody>
      </p:sp>
      <p:sp>
        <p:nvSpPr>
          <p:cNvPr id="34" name="text">
            <a:extLst xmlns:a="http://schemas.openxmlformats.org/drawingml/2006/main">
              <a:ext uri="{FF2B5EF4-FFF2-40B4-BE49-F238E27FC236}">
                <a16:creationId xmlns:a16="http://schemas.microsoft.com/office/drawing/2014/main" id="{176FEE32-121A-4A2D-8EEB-003258C74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5562600"/>
            <a:ext cx="3486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展示测试与 GitHub</a:t>
            </a:r>
          </a:p>
        </p:txBody>
      </p:sp>
      <p:sp>
        <p:nvSpPr>
          <p:cNvPr id="35" name="text">
            <a:extLst xmlns:a="http://schemas.openxmlformats.org/drawingml/2006/main">
              <a:ext uri="{FF2B5EF4-FFF2-40B4-BE49-F238E27FC236}">
                <a16:creationId xmlns:a16="http://schemas.microsoft.com/office/drawing/2014/main" id="{A73FBD87-C583-4EAD-AA45-3C801F9A4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581650"/>
            <a:ext cx="457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用证据收束课程技术</a:t>
            </a:r>
          </a:p>
        </p:txBody>
      </p:sp>
    </p:spTree>
    <p:extLst>
      <p:ext uri="{BB962C8B-B14F-4D97-AF65-F5344CB8AC3E}">
        <p14:creationId xmlns:p14="http://schemas.microsoft.com/office/powerpoint/2010/main" val="141169308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-12">
            <a:extLst xmlns:a="http://schemas.openxmlformats.org/drawingml/2006/main">
              <a:ext uri="{FF2B5EF4-FFF2-40B4-BE49-F238E27FC236}">
                <a16:creationId xmlns:a16="http://schemas.microsoft.com/office/drawing/2014/main" id="{F09E43EA-9EDA-4CA4-86E6-1E6D0184D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AI JOB RADAR · COURSE DEFENSE</a:t>
            </a:r>
          </a:p>
        </p:txBody>
      </p:sp>
      <p:sp>
        <p:nvSpPr>
          <p:cNvPr id="2" name="slide-title-12">
            <a:extLst xmlns:a="http://schemas.openxmlformats.org/drawingml/2006/main">
              <a:ext uri="{FF2B5EF4-FFF2-40B4-BE49-F238E27FC236}">
                <a16:creationId xmlns:a16="http://schemas.microsoft.com/office/drawing/2014/main" id="{D054B9D5-BB5A-49F9-B39F-9CD0B0BCD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085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测试、构建与运行证据共同保证现场可演示</a:t>
            </a:r>
          </a:p>
        </p:txBody>
      </p:sp>
      <p:sp>
        <p:nvSpPr>
          <p:cNvPr id="3" name="title-rule-12">
            <a:extLst xmlns:a="http://schemas.openxmlformats.org/drawingml/2006/main">
              <a:ext uri="{FF2B5EF4-FFF2-40B4-BE49-F238E27FC236}">
                <a16:creationId xmlns:a16="http://schemas.microsoft.com/office/drawing/2014/main" id="{E906FC20-70B1-4121-94D6-35FE44AC9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3350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-12">
            <a:extLst xmlns:a="http://schemas.openxmlformats.org/drawingml/2006/main">
              <a:ext uri="{FF2B5EF4-FFF2-40B4-BE49-F238E27FC236}">
                <a16:creationId xmlns:a16="http://schemas.microsoft.com/office/drawing/2014/main" id="{E918249F-F94A-40A5-AD7E-FEE23EAC0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238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5" name="stat-后端测试 · 0 失败">
            <a:extLst xmlns:a="http://schemas.openxmlformats.org/drawingml/2006/main">
              <a:ext uri="{FF2B5EF4-FFF2-40B4-BE49-F238E27FC236}">
                <a16:creationId xmlns:a16="http://schemas.microsoft.com/office/drawing/2014/main" id="{C7912E71-BB97-4318-A647-CEF0B3EA2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14500"/>
            <a:ext cx="257175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6" name="stat-accent-后端测试 · 0 失败">
            <a:extLst xmlns:a="http://schemas.openxmlformats.org/drawingml/2006/main">
              <a:ext uri="{FF2B5EF4-FFF2-40B4-BE49-F238E27FC236}">
                <a16:creationId xmlns:a16="http://schemas.microsoft.com/office/drawing/2014/main" id="{DE5F7560-0F02-41C4-8AE0-221F07DC4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1450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stat-value-后端测试 · 0 失败">
            <a:extLst xmlns:a="http://schemas.openxmlformats.org/drawingml/2006/main">
              <a:ext uri="{FF2B5EF4-FFF2-40B4-BE49-F238E27FC236}">
                <a16:creationId xmlns:a16="http://schemas.microsoft.com/office/drawing/2014/main" id="{05A78629-F4D6-489A-A509-943BEA8BD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85950"/>
            <a:ext cx="2190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33</a:t>
            </a:r>
          </a:p>
        </p:txBody>
      </p:sp>
      <p:sp>
        <p:nvSpPr>
          <p:cNvPr id="8" name="stat-label-后端测试 · 0 失败">
            <a:extLst xmlns:a="http://schemas.openxmlformats.org/drawingml/2006/main">
              <a:ext uri="{FF2B5EF4-FFF2-40B4-BE49-F238E27FC236}">
                <a16:creationId xmlns:a16="http://schemas.microsoft.com/office/drawing/2014/main" id="{C23F95C0-4E60-4510-A2DB-2700AB93C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95550"/>
            <a:ext cx="219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后端测试 · 0 失败</a:t>
            </a:r>
          </a:p>
        </p:txBody>
      </p:sp>
      <p:sp>
        <p:nvSpPr>
          <p:cNvPr id="9" name="stat-前端测试 · 0 失败">
            <a:extLst xmlns:a="http://schemas.openxmlformats.org/drawingml/2006/main">
              <a:ext uri="{FF2B5EF4-FFF2-40B4-BE49-F238E27FC236}">
                <a16:creationId xmlns:a16="http://schemas.microsoft.com/office/drawing/2014/main" id="{777ED24C-C8AE-4C28-8C9B-EA2C5069B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1714500"/>
            <a:ext cx="257175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0" name="stat-accent-前端测试 · 0 失败">
            <a:extLst xmlns:a="http://schemas.openxmlformats.org/drawingml/2006/main">
              <a:ext uri="{FF2B5EF4-FFF2-40B4-BE49-F238E27FC236}">
                <a16:creationId xmlns:a16="http://schemas.microsoft.com/office/drawing/2014/main" id="{C708E4F1-0C1C-4A40-8273-70EE3FBEC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171450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stat-value-前端测试 · 0 失败">
            <a:extLst xmlns:a="http://schemas.openxmlformats.org/drawingml/2006/main">
              <a:ext uri="{FF2B5EF4-FFF2-40B4-BE49-F238E27FC236}">
                <a16:creationId xmlns:a16="http://schemas.microsoft.com/office/drawing/2014/main" id="{83EB30D4-5EAC-46FA-9A18-C4E75B8EA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1885950"/>
            <a:ext cx="2190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12" name="stat-label-前端测试 · 0 失败">
            <a:extLst xmlns:a="http://schemas.openxmlformats.org/drawingml/2006/main">
              <a:ext uri="{FF2B5EF4-FFF2-40B4-BE49-F238E27FC236}">
                <a16:creationId xmlns:a16="http://schemas.microsoft.com/office/drawing/2014/main" id="{AC4DE60C-0D38-4334-986D-279DFE2C8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495550"/>
            <a:ext cx="219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前端测试 · 0 失败</a:t>
            </a:r>
          </a:p>
        </p:txBody>
      </p:sp>
      <p:sp>
        <p:nvSpPr>
          <p:cNvPr id="13" name="stat-后端服务端口 9000–9006">
            <a:extLst xmlns:a="http://schemas.openxmlformats.org/drawingml/2006/main">
              <a:ext uri="{FF2B5EF4-FFF2-40B4-BE49-F238E27FC236}">
                <a16:creationId xmlns:a16="http://schemas.microsoft.com/office/drawing/2014/main" id="{BDAA164C-0A08-429B-9D1C-956B36354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714500"/>
            <a:ext cx="257175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4" name="stat-accent-后端服务端口 9000–9006">
            <a:extLst xmlns:a="http://schemas.openxmlformats.org/drawingml/2006/main">
              <a:ext uri="{FF2B5EF4-FFF2-40B4-BE49-F238E27FC236}">
                <a16:creationId xmlns:a16="http://schemas.microsoft.com/office/drawing/2014/main" id="{62396B79-6900-46F7-A701-8F873E2A8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71450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B7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stat-value-后端服务端口 9000–9006">
            <a:extLst xmlns:a="http://schemas.openxmlformats.org/drawingml/2006/main">
              <a:ext uri="{FF2B5EF4-FFF2-40B4-BE49-F238E27FC236}">
                <a16:creationId xmlns:a16="http://schemas.microsoft.com/office/drawing/2014/main" id="{DAE11C59-A701-43D2-805F-8429CB559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85950"/>
            <a:ext cx="2190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16" name="stat-label-后端服务端口 9000–9006">
            <a:extLst xmlns:a="http://schemas.openxmlformats.org/drawingml/2006/main">
              <a:ext uri="{FF2B5EF4-FFF2-40B4-BE49-F238E27FC236}">
                <a16:creationId xmlns:a16="http://schemas.microsoft.com/office/drawing/2014/main" id="{691E9BE6-6033-4E1D-A130-38813EA41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495550"/>
            <a:ext cx="219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后端服务端口 9000–9006</a:t>
            </a:r>
          </a:p>
        </p:txBody>
      </p:sp>
      <p:sp>
        <p:nvSpPr>
          <p:cNvPr id="17" name="stat-演示职位数据">
            <a:extLst xmlns:a="http://schemas.openxmlformats.org/drawingml/2006/main">
              <a:ext uri="{FF2B5EF4-FFF2-40B4-BE49-F238E27FC236}">
                <a16:creationId xmlns:a16="http://schemas.microsoft.com/office/drawing/2014/main" id="{9A0E8416-9C70-4C7D-BAFB-48DE42B57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714500"/>
            <a:ext cx="299085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8" name="stat-accent-演示职位数据">
            <a:extLst xmlns:a="http://schemas.openxmlformats.org/drawingml/2006/main">
              <a:ext uri="{FF2B5EF4-FFF2-40B4-BE49-F238E27FC236}">
                <a16:creationId xmlns:a16="http://schemas.microsoft.com/office/drawing/2014/main" id="{76BC017B-B80C-425C-8357-9734DDB83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71450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90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stat-value-演示职位数据">
            <a:extLst xmlns:a="http://schemas.openxmlformats.org/drawingml/2006/main">
              <a:ext uri="{FF2B5EF4-FFF2-40B4-BE49-F238E27FC236}">
                <a16:creationId xmlns:a16="http://schemas.microsoft.com/office/drawing/2014/main" id="{8B5B1C6B-5949-4AD4-B45D-667D7CA4B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1885950"/>
            <a:ext cx="26098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20" name="stat-label-演示职位数据">
            <a:extLst xmlns:a="http://schemas.openxmlformats.org/drawingml/2006/main">
              <a:ext uri="{FF2B5EF4-FFF2-40B4-BE49-F238E27FC236}">
                <a16:creationId xmlns:a16="http://schemas.microsoft.com/office/drawing/2014/main" id="{317737F8-7224-4512-94AF-77A21133D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4955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演示职位数据</a:t>
            </a:r>
          </a:p>
        </p:txBody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4C221400-4167-4200-A2CC-C5A52CE8D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718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本机依赖检查</a:t>
            </a:r>
          </a:p>
        </p:txBody>
      </p:sp>
      <p:sp>
        <p:nvSpPr>
          <p:cNvPr id="22" name="dep-0">
            <a:extLst xmlns:a="http://schemas.openxmlformats.org/drawingml/2006/main">
              <a:ext uri="{FF2B5EF4-FFF2-40B4-BE49-F238E27FC236}">
                <a16:creationId xmlns:a16="http://schemas.microsoft.com/office/drawing/2014/main" id="{3A176518-2D05-43F0-AD38-058774769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905250"/>
            <a:ext cx="514350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3" name="text">
            <a:extLst xmlns:a="http://schemas.openxmlformats.org/drawingml/2006/main">
              <a:ext uri="{FF2B5EF4-FFF2-40B4-BE49-F238E27FC236}">
                <a16:creationId xmlns:a16="http://schemas.microsoft.com/office/drawing/2014/main" id="{821C80FD-30BD-4E40-BC79-8EA9137DB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814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MySQL 8.0</a:t>
            </a:r>
          </a:p>
        </p:txBody>
      </p:sp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CADF9D9D-2D91-4D6D-88FF-8167CB5C7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981450"/>
            <a:ext cx="2533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12B7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2B76A"/>
                </a:solidFill>
                <a:latin typeface="Microsoft YaHei"/>
                <a:ea typeface="Microsoft YaHei"/>
                <a:cs typeface="Microsoft YaHei"/>
              </a:rPr>
              <a:t>READY</a:t>
            </a:r>
          </a:p>
        </p:txBody>
      </p:sp>
      <p:sp>
        <p:nvSpPr>
          <p:cNvPr id="25" name="dep-1">
            <a:extLst xmlns:a="http://schemas.openxmlformats.org/drawingml/2006/main">
              <a:ext uri="{FF2B5EF4-FFF2-40B4-BE49-F238E27FC236}">
                <a16:creationId xmlns:a16="http://schemas.microsoft.com/office/drawing/2014/main" id="{1F5BF4D0-F6FD-48E5-BF26-DBA43050A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38650"/>
            <a:ext cx="514350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6" name="text">
            <a:extLst xmlns:a="http://schemas.openxmlformats.org/drawingml/2006/main">
              <a:ext uri="{FF2B5EF4-FFF2-40B4-BE49-F238E27FC236}">
                <a16:creationId xmlns:a16="http://schemas.microsoft.com/office/drawing/2014/main" id="{6F95A967-DCFC-4A7A-9F46-73F939517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148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Nacos 2.1.0</a:t>
            </a:r>
          </a:p>
        </p:txBody>
      </p:sp>
      <p:sp>
        <p:nvSpPr>
          <p:cNvPr id="27" name="text">
            <a:extLst xmlns:a="http://schemas.openxmlformats.org/drawingml/2006/main">
              <a:ext uri="{FF2B5EF4-FFF2-40B4-BE49-F238E27FC236}">
                <a16:creationId xmlns:a16="http://schemas.microsoft.com/office/drawing/2014/main" id="{EF3A4A64-FAA1-4A17-82D0-914325070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514850"/>
            <a:ext cx="2533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12B7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2B76A"/>
                </a:solidFill>
                <a:latin typeface="Microsoft YaHei"/>
                <a:ea typeface="Microsoft YaHei"/>
                <a:cs typeface="Microsoft YaHei"/>
              </a:rPr>
              <a:t>READY</a:t>
            </a:r>
          </a:p>
        </p:txBody>
      </p:sp>
      <p:sp>
        <p:nvSpPr>
          <p:cNvPr id="28" name="dep-2">
            <a:extLst xmlns:a="http://schemas.openxmlformats.org/drawingml/2006/main">
              <a:ext uri="{FF2B5EF4-FFF2-40B4-BE49-F238E27FC236}">
                <a16:creationId xmlns:a16="http://schemas.microsoft.com/office/drawing/2014/main" id="{C42B56A9-6720-4726-9612-273FFE5E0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972050"/>
            <a:ext cx="514350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9" name="text">
            <a:extLst xmlns:a="http://schemas.openxmlformats.org/drawingml/2006/main">
              <a:ext uri="{FF2B5EF4-FFF2-40B4-BE49-F238E27FC236}">
                <a16:creationId xmlns:a16="http://schemas.microsoft.com/office/drawing/2014/main" id="{4A6322E2-CDE9-42F7-953F-D56DBC44D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0482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Redis</a:t>
            </a:r>
          </a:p>
        </p:txBody>
      </p:sp>
      <p:sp>
        <p:nvSpPr>
          <p:cNvPr id="30" name="text">
            <a:extLst xmlns:a="http://schemas.openxmlformats.org/drawingml/2006/main">
              <a:ext uri="{FF2B5EF4-FFF2-40B4-BE49-F238E27FC236}">
                <a16:creationId xmlns:a16="http://schemas.microsoft.com/office/drawing/2014/main" id="{8C993F57-451C-495F-ADBD-F6D48EE0C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048250"/>
            <a:ext cx="2533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12B7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2B76A"/>
                </a:solidFill>
                <a:latin typeface="Microsoft YaHei"/>
                <a:ea typeface="Microsoft YaHei"/>
                <a:cs typeface="Microsoft YaHei"/>
              </a:rPr>
              <a:t>READY</a:t>
            </a:r>
          </a:p>
        </p:txBody>
      </p:sp>
      <p:sp>
        <p:nvSpPr>
          <p:cNvPr id="31" name="dep-3">
            <a:extLst xmlns:a="http://schemas.openxmlformats.org/drawingml/2006/main">
              <a:ext uri="{FF2B5EF4-FFF2-40B4-BE49-F238E27FC236}">
                <a16:creationId xmlns:a16="http://schemas.microsoft.com/office/drawing/2014/main" id="{40EDEF9B-0E01-45C7-9436-A67E4DF14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05450"/>
            <a:ext cx="514350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2" name="text">
            <a:extLst xmlns:a="http://schemas.openxmlformats.org/drawingml/2006/main">
              <a:ext uri="{FF2B5EF4-FFF2-40B4-BE49-F238E27FC236}">
                <a16:creationId xmlns:a16="http://schemas.microsoft.com/office/drawing/2014/main" id="{B156179D-79FC-456B-A914-E9913E7A5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816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RabbitMQ 4.3.2</a:t>
            </a:r>
          </a:p>
        </p:txBody>
      </p:sp>
      <p:sp>
        <p:nvSpPr>
          <p:cNvPr id="33" name="text">
            <a:extLst xmlns:a="http://schemas.openxmlformats.org/drawingml/2006/main">
              <a:ext uri="{FF2B5EF4-FFF2-40B4-BE49-F238E27FC236}">
                <a16:creationId xmlns:a16="http://schemas.microsoft.com/office/drawing/2014/main" id="{B82B80F9-0489-419A-A55F-C93B136E0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581650"/>
            <a:ext cx="2533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12B7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2B76A"/>
                </a:solidFill>
                <a:latin typeface="Microsoft YaHei"/>
                <a:ea typeface="Microsoft YaHei"/>
                <a:cs typeface="Microsoft YaHei"/>
              </a:rPr>
              <a:t>READY</a:t>
            </a:r>
          </a:p>
        </p:txBody>
      </p:sp>
      <p:sp>
        <p:nvSpPr>
          <p:cNvPr id="34" name="verification-box">
            <a:extLst xmlns:a="http://schemas.openxmlformats.org/drawingml/2006/main">
              <a:ext uri="{FF2B5EF4-FFF2-40B4-BE49-F238E27FC236}">
                <a16:creationId xmlns:a16="http://schemas.microsoft.com/office/drawing/2014/main" id="{E2F33889-9D48-404A-A4DD-3576F72D3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371850"/>
            <a:ext cx="5676900" cy="268605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5" name="text">
            <a:extLst xmlns:a="http://schemas.openxmlformats.org/drawingml/2006/main">
              <a:ext uri="{FF2B5EF4-FFF2-40B4-BE49-F238E27FC236}">
                <a16:creationId xmlns:a16="http://schemas.microsoft.com/office/drawing/2014/main" id="{179F171E-94F3-481C-A107-D8FC0D680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638550"/>
            <a:ext cx="5105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一键演示准备</a:t>
            </a:r>
          </a:p>
        </p:txBody>
      </p:sp>
      <p:sp>
        <p:nvSpPr>
          <p:cNvPr id="36" name="text">
            <a:extLst xmlns:a="http://schemas.openxmlformats.org/drawingml/2006/main">
              <a:ext uri="{FF2B5EF4-FFF2-40B4-BE49-F238E27FC236}">
                <a16:creationId xmlns:a16="http://schemas.microsoft.com/office/drawing/2014/main" id="{C29B9D96-EA01-463D-B2DF-67364A66B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171950"/>
            <a:ext cx="4953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1. scripts/start-rabbitmq.ps1</a:t>
            </a:r>
          </a:p>
          <a:p xmlns:a="http://schemas.openxmlformats.org/drawingml/2006/main">
            <a:pPr algn="l">
              <a:def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2. scripts/check-environment.ps1</a:t>
            </a:r>
          </a:p>
          <a:p xmlns:a="http://schemas.openxmlformats.org/drawingml/2006/main">
            <a:pPr algn="l">
              <a:def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3. 导入 sql/ai_job_radar.sql</a:t>
            </a:r>
          </a:p>
          <a:p xmlns:a="http://schemas.openxmlformats.org/drawingml/2006/main">
            <a:pPr algn="l">
              <a:def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4. scripts/start-backend.ps1</a:t>
            </a:r>
          </a:p>
          <a:p xmlns:a="http://schemas.openxmlformats.org/drawingml/2006/main">
            <a:pPr algn="l">
              <a:def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5. npm install &amp;&amp; npm run dev</a:t>
            </a:r>
          </a:p>
        </p:txBody>
      </p:sp>
      <p:sp>
        <p:nvSpPr>
          <p:cNvPr id="37" name="pill-mvn test ✓">
            <a:extLst xmlns:a="http://schemas.openxmlformats.org/drawingml/2006/main">
              <a:ext uri="{FF2B5EF4-FFF2-40B4-BE49-F238E27FC236}">
                <a16:creationId xmlns:a16="http://schemas.microsoft.com/office/drawing/2014/main" id="{818E2FEB-CB51-4708-8BDE-655CAA588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619750"/>
            <a:ext cx="12954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CFD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pill-text-mvn test ✓">
            <a:extLst xmlns:a="http://schemas.openxmlformats.org/drawingml/2006/main">
              <a:ext uri="{FF2B5EF4-FFF2-40B4-BE49-F238E27FC236}">
                <a16:creationId xmlns:a16="http://schemas.microsoft.com/office/drawing/2014/main" id="{4C247305-2EC3-44A4-9E0C-6EC45F3B6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5657850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2B7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2B76A"/>
                </a:solidFill>
                <a:latin typeface="Microsoft YaHei"/>
                <a:ea typeface="Microsoft YaHei"/>
                <a:cs typeface="Microsoft YaHei"/>
              </a:rPr>
              <a:t>mvn test ✓</a:t>
            </a:r>
          </a:p>
        </p:txBody>
      </p:sp>
      <p:sp>
        <p:nvSpPr>
          <p:cNvPr id="39" name="pill-npm test ✓">
            <a:extLst xmlns:a="http://schemas.openxmlformats.org/drawingml/2006/main">
              <a:ext uri="{FF2B5EF4-FFF2-40B4-BE49-F238E27FC236}">
                <a16:creationId xmlns:a16="http://schemas.microsoft.com/office/drawing/2014/main" id="{7AD4B65B-5513-4B06-B5DA-367EC051B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5619750"/>
            <a:ext cx="12954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CFD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pill-text-npm test ✓">
            <a:extLst xmlns:a="http://schemas.openxmlformats.org/drawingml/2006/main">
              <a:ext uri="{FF2B5EF4-FFF2-40B4-BE49-F238E27FC236}">
                <a16:creationId xmlns:a16="http://schemas.microsoft.com/office/drawing/2014/main" id="{299910C7-9723-47B6-A3D6-8B4291010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5657850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2B7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2B76A"/>
                </a:solidFill>
                <a:latin typeface="Microsoft YaHei"/>
                <a:ea typeface="Microsoft YaHei"/>
                <a:cs typeface="Microsoft YaHei"/>
              </a:rPr>
              <a:t>npm test ✓</a:t>
            </a:r>
          </a:p>
        </p:txBody>
      </p:sp>
      <p:sp>
        <p:nvSpPr>
          <p:cNvPr id="41" name="pill-vite build ✓">
            <a:extLst xmlns:a="http://schemas.openxmlformats.org/drawingml/2006/main">
              <a:ext uri="{FF2B5EF4-FFF2-40B4-BE49-F238E27FC236}">
                <a16:creationId xmlns:a16="http://schemas.microsoft.com/office/drawing/2014/main" id="{D8752B2B-0CC9-48DF-ABE9-FAF575C71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5619750"/>
            <a:ext cx="13716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CFD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pill-text-vite build ✓">
            <a:extLst xmlns:a="http://schemas.openxmlformats.org/drawingml/2006/main">
              <a:ext uri="{FF2B5EF4-FFF2-40B4-BE49-F238E27FC236}">
                <a16:creationId xmlns:a16="http://schemas.microsoft.com/office/drawing/2014/main" id="{D377B55D-80E4-4848-A868-A385C25F3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657850"/>
            <a:ext cx="1219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2B7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2B76A"/>
                </a:solidFill>
                <a:latin typeface="Microsoft YaHei"/>
                <a:ea typeface="Microsoft YaHei"/>
                <a:cs typeface="Microsoft YaHei"/>
              </a:rPr>
              <a:t>vite build ✓</a:t>
            </a:r>
          </a:p>
        </p:txBody>
      </p:sp>
    </p:spTree>
    <p:extLst>
      <p:ext uri="{BB962C8B-B14F-4D97-AF65-F5344CB8AC3E}">
        <p14:creationId xmlns:p14="http://schemas.microsoft.com/office/powerpoint/2010/main" val="83169830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-13">
            <a:extLst xmlns:a="http://schemas.openxmlformats.org/drawingml/2006/main">
              <a:ext uri="{FF2B5EF4-FFF2-40B4-BE49-F238E27FC236}">
                <a16:creationId xmlns:a16="http://schemas.microsoft.com/office/drawing/2014/main" id="{ECC6B7E8-18D4-4344-A358-26898C694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AI JOB RADAR · COURSE DEFENSE</a:t>
            </a:r>
          </a:p>
        </p:txBody>
      </p:sp>
      <p:sp>
        <p:nvSpPr>
          <p:cNvPr id="2" name="slide-title-13">
            <a:extLst xmlns:a="http://schemas.openxmlformats.org/drawingml/2006/main">
              <a:ext uri="{FF2B5EF4-FFF2-40B4-BE49-F238E27FC236}">
                <a16:creationId xmlns:a16="http://schemas.microsoft.com/office/drawing/2014/main" id="{F359EE73-9877-4461-A4E8-50374C586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085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公开 Git 仓库保留按功能拆分的真实提交记录</a:t>
            </a:r>
          </a:p>
        </p:txBody>
      </p:sp>
      <p:sp>
        <p:nvSpPr>
          <p:cNvPr id="3" name="title-rule-13">
            <a:extLst xmlns:a="http://schemas.openxmlformats.org/drawingml/2006/main">
              <a:ext uri="{FF2B5EF4-FFF2-40B4-BE49-F238E27FC236}">
                <a16:creationId xmlns:a16="http://schemas.microsoft.com/office/drawing/2014/main" id="{252D4C65-90C6-4A90-9F14-59A54A24C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3350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-13">
            <a:extLst xmlns:a="http://schemas.openxmlformats.org/drawingml/2006/main">
              <a:ext uri="{FF2B5EF4-FFF2-40B4-BE49-F238E27FC236}">
                <a16:creationId xmlns:a16="http://schemas.microsoft.com/office/drawing/2014/main" id="{17F12FFB-4EA7-462B-B03D-8A6E3D2B7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238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sp>
        <p:nvSpPr>
          <p:cNvPr id="5" name="GitHub 提交记录-frame">
            <a:extLst xmlns:a="http://schemas.openxmlformats.org/drawingml/2006/main">
              <a:ext uri="{FF2B5EF4-FFF2-40B4-BE49-F238E27FC236}">
                <a16:creationId xmlns:a16="http://schemas.microsoft.com/office/drawing/2014/main" id="{60E40D1A-5126-4026-AE4F-87B8111F7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" y="1685925"/>
            <a:ext cx="7772400" cy="4476750"/>
          </a:xfrm>
          <a:prstGeom xmlns:a="http://schemas.openxmlformats.org/drawingml/2006/main" prst="roundRect">
            <a:avLst>
              <a:gd name="adj" fmla="val 25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12b7a7b2764d9e"/>
          <a:srcRect xmlns:a="http://schemas.openxmlformats.org/drawingml/2006/main" l="0" t="8604" r="0" b="86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1695450"/>
            <a:ext cx="7753350" cy="4457700"/>
          </a:xfrm>
          <a:prstGeom xmlns:a="http://schemas.openxmlformats.org/drawingml/2006/main" prst="roundRect">
            <a:avLst>
              <a:gd name="adj" fmla="val 2564"/>
            </a:avLst>
          </a:prstGeom>
        </p:spPr>
      </p:pic>
      <p:sp>
        <p:nvSpPr>
          <p:cNvPr id="7" name="git-notes">
            <a:extLst xmlns:a="http://schemas.openxmlformats.org/drawingml/2006/main">
              <a:ext uri="{FF2B5EF4-FFF2-40B4-BE49-F238E27FC236}">
                <a16:creationId xmlns:a16="http://schemas.microsoft.com/office/drawing/2014/main" id="{3C9335FA-8D8A-4041-8211-89B67A5A7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695450"/>
            <a:ext cx="3219450" cy="4457700"/>
          </a:xfrm>
          <a:prstGeom xmlns:a="http://schemas.openxmlformats.org/drawingml/2006/main" prst="roundRect">
            <a:avLst>
              <a:gd name="adj" fmla="val 3550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71F26B70-4AB1-4F4F-B7CA-5D65B8072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962150"/>
            <a:ext cx="2686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证据要点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6C759250-D79F-43E5-9FDC-B3AA37C4A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64795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4DF82A72-0580-4E9F-BA05-894156401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609850"/>
            <a:ext cx="2152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公开仓库：wda131/ai-job-radar-course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C78AC420-4607-407E-9725-0BC9A0133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3528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802CA01B-BF90-4676-AAA6-38AC67299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314700"/>
            <a:ext cx="2152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feat / fix / docs / chore 分类清晰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B78E2E06-0BF0-458B-A25D-CB62BF359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405765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E64DB253-2BA3-4B1C-A4E5-CF7D63C42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019550"/>
            <a:ext cx="2152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Redis、RabbitMQ、通知中心独立提交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41BAA72A-2319-485A-AB61-84A230A99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47625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0A724D94-DBD4-4145-9867-43B184C11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724400"/>
            <a:ext cx="2152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044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04438"/>
                </a:solidFill>
                <a:latin typeface="Microsoft YaHei"/>
                <a:ea typeface="Microsoft YaHei"/>
                <a:cs typeface="Microsoft YaHei"/>
              </a:rPr>
              <a:t>答辩前每人以姓名拼音账号提交</a:t>
            </a:r>
          </a:p>
        </p:txBody>
      </p:sp>
      <p:sp>
        <p:nvSpPr>
          <p:cNvPr id="17" name="pill-Public">
            <a:extLst xmlns:a="http://schemas.openxmlformats.org/drawingml/2006/main">
              <a:ext uri="{FF2B5EF4-FFF2-40B4-BE49-F238E27FC236}">
                <a16:creationId xmlns:a16="http://schemas.microsoft.com/office/drawing/2014/main" id="{0082E053-8CFD-4AA7-82E2-C8E1C8A62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5505450"/>
            <a:ext cx="9144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CFD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pill-text-Public">
            <a:extLst xmlns:a="http://schemas.openxmlformats.org/drawingml/2006/main">
              <a:ext uri="{FF2B5EF4-FFF2-40B4-BE49-F238E27FC236}">
                <a16:creationId xmlns:a16="http://schemas.microsoft.com/office/drawing/2014/main" id="{2E4E33AE-3FAE-4857-B88B-140F567F2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543550"/>
            <a:ext cx="76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2B7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2B76A"/>
                </a:solidFill>
                <a:latin typeface="Microsoft YaHei"/>
                <a:ea typeface="Microsoft YaHei"/>
                <a:cs typeface="Microsoft YaHei"/>
              </a:rPr>
              <a:t>Public</a:t>
            </a:r>
          </a:p>
        </p:txBody>
      </p:sp>
      <p:sp>
        <p:nvSpPr>
          <p:cNvPr id="19" name="pill-main">
            <a:extLst xmlns:a="http://schemas.openxmlformats.org/drawingml/2006/main">
              <a:ext uri="{FF2B5EF4-FFF2-40B4-BE49-F238E27FC236}">
                <a16:creationId xmlns:a16="http://schemas.microsoft.com/office/drawing/2014/main" id="{D2978F7A-C1DA-44F9-992E-B3DEF7AAC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505450"/>
            <a:ext cx="781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pill-text-main">
            <a:extLst xmlns:a="http://schemas.openxmlformats.org/drawingml/2006/main">
              <a:ext uri="{FF2B5EF4-FFF2-40B4-BE49-F238E27FC236}">
                <a16:creationId xmlns:a16="http://schemas.microsoft.com/office/drawing/2014/main" id="{7D19641B-4174-4D4E-B8C2-2BB528B04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5543550"/>
            <a:ext cx="628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main</a:t>
            </a:r>
          </a:p>
        </p:txBody>
      </p:sp>
    </p:spTree>
    <p:extLst>
      <p:ext uri="{BB962C8B-B14F-4D97-AF65-F5344CB8AC3E}">
        <p14:creationId xmlns:p14="http://schemas.microsoft.com/office/powerpoint/2010/main" val="168359705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-14">
            <a:extLst xmlns:a="http://schemas.openxmlformats.org/drawingml/2006/main">
              <a:ext uri="{FF2B5EF4-FFF2-40B4-BE49-F238E27FC236}">
                <a16:creationId xmlns:a16="http://schemas.microsoft.com/office/drawing/2014/main" id="{433B82A7-0C40-4435-A627-A4B403CDF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AI JOB RADAR · COURSE DEFENSE</a:t>
            </a:r>
          </a:p>
        </p:txBody>
      </p:sp>
      <p:sp>
        <p:nvSpPr>
          <p:cNvPr id="2" name="slide-title-14">
            <a:extLst xmlns:a="http://schemas.openxmlformats.org/drawingml/2006/main">
              <a:ext uri="{FF2B5EF4-FFF2-40B4-BE49-F238E27FC236}">
                <a16:creationId xmlns:a16="http://schemas.microsoft.com/office/drawing/2014/main" id="{4629C502-854A-4F10-88FD-827618237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085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六人分工以业务闭环为边界，模块数量等于团队人数</a:t>
            </a:r>
          </a:p>
        </p:txBody>
      </p:sp>
      <p:sp>
        <p:nvSpPr>
          <p:cNvPr id="3" name="title-rule-14">
            <a:extLst xmlns:a="http://schemas.openxmlformats.org/drawingml/2006/main">
              <a:ext uri="{FF2B5EF4-FFF2-40B4-BE49-F238E27FC236}">
                <a16:creationId xmlns:a16="http://schemas.microsoft.com/office/drawing/2014/main" id="{F8975D86-97AB-493B-80B9-5AC912BF3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3350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-14">
            <a:extLst xmlns:a="http://schemas.openxmlformats.org/drawingml/2006/main">
              <a:ext uri="{FF2B5EF4-FFF2-40B4-BE49-F238E27FC236}">
                <a16:creationId xmlns:a16="http://schemas.microsoft.com/office/drawing/2014/main" id="{BC4254C4-3B6E-4CD3-A488-6196F0CF0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238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  <p:sp>
        <p:nvSpPr>
          <p:cNvPr id="5" name="team-header">
            <a:extLst xmlns:a="http://schemas.openxmlformats.org/drawingml/2006/main">
              <a:ext uri="{FF2B5EF4-FFF2-40B4-BE49-F238E27FC236}">
                <a16:creationId xmlns:a16="http://schemas.microsoft.com/office/drawing/2014/main" id="{D58C5228-1A55-404E-8065-B55A13377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14500"/>
            <a:ext cx="112776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48E1E068-2FE4-48A2-8626-4632AB8EF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47850"/>
            <a:ext cx="1676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成员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7DDACF51-77C8-4883-B7A2-20B92C0A9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1847850"/>
            <a:ext cx="1847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业务模块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10CADF9E-30A3-47A6-A9E1-B9A49F6C3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1847850"/>
            <a:ext cx="3314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主要工作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99BEA15A-23B1-4BEC-BC4F-39375BDA7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847850"/>
            <a:ext cx="3371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交付要求</a:t>
            </a:r>
          </a:p>
        </p:txBody>
      </p:sp>
      <p:sp>
        <p:nvSpPr>
          <p:cNvPr id="10" name="team-row-0">
            <a:extLst xmlns:a="http://schemas.openxmlformats.org/drawingml/2006/main">
              <a:ext uri="{FF2B5EF4-FFF2-40B4-BE49-F238E27FC236}">
                <a16:creationId xmlns:a16="http://schemas.microsoft.com/office/drawing/2014/main" id="{9A98760D-6ACC-49C8-B3AA-FC4F884E6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24100"/>
            <a:ext cx="112776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2D9F3EED-7E93-4A11-BFCB-8DD46875A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19350"/>
            <a:ext cx="1676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成员一（队长）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1BDB7E54-376A-4FA7-ACDD-1AD4EC992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419350"/>
            <a:ext cx="1847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用户与画像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49ABCBAC-29D5-4229-9A7D-F17148945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419350"/>
            <a:ext cx="3314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登录、资料、JWT、偏好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0793BAEE-121B-4711-BF97-A54AB9834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419350"/>
            <a:ext cx="3371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统筹 / 联调 / 答辩</a:t>
            </a:r>
          </a:p>
        </p:txBody>
      </p:sp>
      <p:sp>
        <p:nvSpPr>
          <p:cNvPr id="15" name="team-row-1">
            <a:extLst xmlns:a="http://schemas.openxmlformats.org/drawingml/2006/main">
              <a:ext uri="{FF2B5EF4-FFF2-40B4-BE49-F238E27FC236}">
                <a16:creationId xmlns:a16="http://schemas.microsoft.com/office/drawing/2014/main" id="{1CC83E3D-687D-401F-8275-E51740A17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14650"/>
            <a:ext cx="112776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45006F0C-BD1E-4721-8C63-6EE48E536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09900"/>
            <a:ext cx="1676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成员二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17D13B2E-1A80-4B86-A432-89CA9E4B5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009900"/>
            <a:ext cx="1847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职位雷达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0B854729-D6EC-4D8D-A38B-DE3242B3D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009900"/>
            <a:ext cx="3314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检索、详情、Redis 缓存</a:t>
            </a:r>
          </a:p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C4EDAA2F-6AAE-41F8-97D1-F44A334AE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009900"/>
            <a:ext cx="3371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页面 + 接口 + 测试</a:t>
            </a:r>
          </a:p>
        </p:txBody>
      </p:sp>
      <p:sp>
        <p:nvSpPr>
          <p:cNvPr id="20" name="team-row-2">
            <a:extLst xmlns:a="http://schemas.openxmlformats.org/drawingml/2006/main">
              <a:ext uri="{FF2B5EF4-FFF2-40B4-BE49-F238E27FC236}">
                <a16:creationId xmlns:a16="http://schemas.microsoft.com/office/drawing/2014/main" id="{66E289A2-84A8-4CA4-A5C1-3D9FDF272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505200"/>
            <a:ext cx="112776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26E8DA91-C9AF-4390-A9BB-02E1549D8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00450"/>
            <a:ext cx="1676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成员三</a:t>
            </a:r>
          </a:p>
        </p:txBody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A4185A33-2EE7-4F9E-B38F-90E094B20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600450"/>
            <a:ext cx="1847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智能匹配</a:t>
            </a:r>
          </a:p>
        </p:txBody>
      </p:sp>
      <p:sp>
        <p:nvSpPr>
          <p:cNvPr id="23" name="text">
            <a:extLst xmlns:a="http://schemas.openxmlformats.org/drawingml/2006/main">
              <a:ext uri="{FF2B5EF4-FFF2-40B4-BE49-F238E27FC236}">
                <a16:creationId xmlns:a16="http://schemas.microsoft.com/office/drawing/2014/main" id="{BECC9A48-10B3-453D-BBBE-87BC078D2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600450"/>
            <a:ext cx="3314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匹配评分、OpenFeign</a:t>
            </a:r>
          </a:p>
        </p:txBody>
      </p:sp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6A2AFFBE-FA7A-405B-A880-BBC204AA8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600450"/>
            <a:ext cx="3371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页面 + 接口 + 测试</a:t>
            </a:r>
          </a:p>
        </p:txBody>
      </p:sp>
      <p:sp>
        <p:nvSpPr>
          <p:cNvPr id="25" name="team-row-3">
            <a:extLst xmlns:a="http://schemas.openxmlformats.org/drawingml/2006/main">
              <a:ext uri="{FF2B5EF4-FFF2-40B4-BE49-F238E27FC236}">
                <a16:creationId xmlns:a16="http://schemas.microsoft.com/office/drawing/2014/main" id="{2CB5B75F-6260-4CCE-B53C-D2783E243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95750"/>
            <a:ext cx="112776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6" name="text">
            <a:extLst xmlns:a="http://schemas.openxmlformats.org/drawingml/2006/main">
              <a:ext uri="{FF2B5EF4-FFF2-40B4-BE49-F238E27FC236}">
                <a16:creationId xmlns:a16="http://schemas.microsoft.com/office/drawing/2014/main" id="{9BB044DF-5625-435D-80A6-8AB449306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91000"/>
            <a:ext cx="1676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成员四</a:t>
            </a:r>
          </a:p>
        </p:txBody>
      </p:sp>
      <p:sp>
        <p:nvSpPr>
          <p:cNvPr id="27" name="text">
            <a:extLst xmlns:a="http://schemas.openxmlformats.org/drawingml/2006/main">
              <a:ext uri="{FF2B5EF4-FFF2-40B4-BE49-F238E27FC236}">
                <a16:creationId xmlns:a16="http://schemas.microsoft.com/office/drawing/2014/main" id="{B2E782EB-BADE-426C-A9AA-58342C963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191000"/>
            <a:ext cx="1847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求职行动</a:t>
            </a:r>
          </a:p>
        </p:txBody>
      </p:sp>
      <p:sp>
        <p:nvSpPr>
          <p:cNvPr id="28" name="text">
            <a:extLst xmlns:a="http://schemas.openxmlformats.org/drawingml/2006/main">
              <a:ext uri="{FF2B5EF4-FFF2-40B4-BE49-F238E27FC236}">
                <a16:creationId xmlns:a16="http://schemas.microsoft.com/office/drawing/2014/main" id="{B7E84BE4-29F1-4204-A069-52CF11FC8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191000"/>
            <a:ext cx="3314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收藏、投递、RabbitMQ</a:t>
            </a:r>
          </a:p>
        </p:txBody>
      </p:sp>
      <p:sp>
        <p:nvSpPr>
          <p:cNvPr id="29" name="text">
            <a:extLst xmlns:a="http://schemas.openxmlformats.org/drawingml/2006/main">
              <a:ext uri="{FF2B5EF4-FFF2-40B4-BE49-F238E27FC236}">
                <a16:creationId xmlns:a16="http://schemas.microsoft.com/office/drawing/2014/main" id="{D091F92D-4E74-420F-85C6-A5CB5D9CB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191000"/>
            <a:ext cx="3371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页面 + 接口 + 测试</a:t>
            </a:r>
          </a:p>
        </p:txBody>
      </p:sp>
      <p:sp>
        <p:nvSpPr>
          <p:cNvPr id="30" name="team-row-4">
            <a:extLst xmlns:a="http://schemas.openxmlformats.org/drawingml/2006/main">
              <a:ext uri="{FF2B5EF4-FFF2-40B4-BE49-F238E27FC236}">
                <a16:creationId xmlns:a16="http://schemas.microsoft.com/office/drawing/2014/main" id="{4A5B02D5-CABD-48F6-B6F6-ED0A41136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86300"/>
            <a:ext cx="112776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1" name="text">
            <a:extLst xmlns:a="http://schemas.openxmlformats.org/drawingml/2006/main">
              <a:ext uri="{FF2B5EF4-FFF2-40B4-BE49-F238E27FC236}">
                <a16:creationId xmlns:a16="http://schemas.microsoft.com/office/drawing/2014/main" id="{E93D19B3-3507-4080-AB65-FFB99DC6B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781550"/>
            <a:ext cx="1676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成员五</a:t>
            </a:r>
          </a:p>
        </p:txBody>
      </p:sp>
      <p:sp>
        <p:nvSpPr>
          <p:cNvPr id="32" name="text">
            <a:extLst xmlns:a="http://schemas.openxmlformats.org/drawingml/2006/main">
              <a:ext uri="{FF2B5EF4-FFF2-40B4-BE49-F238E27FC236}">
                <a16:creationId xmlns:a16="http://schemas.microsoft.com/office/drawing/2014/main" id="{2629242F-FED3-476B-9AA4-9BC090153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781550"/>
            <a:ext cx="1847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模拟面试</a:t>
            </a:r>
          </a:p>
        </p:txBody>
      </p:sp>
      <p:sp>
        <p:nvSpPr>
          <p:cNvPr id="33" name="text">
            <a:extLst xmlns:a="http://schemas.openxmlformats.org/drawingml/2006/main">
              <a:ext uri="{FF2B5EF4-FFF2-40B4-BE49-F238E27FC236}">
                <a16:creationId xmlns:a16="http://schemas.microsoft.com/office/drawing/2014/main" id="{E0C7151E-2A59-42C7-81EB-F1B34FC36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781550"/>
            <a:ext cx="3314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四题流程、答案、评分</a:t>
            </a:r>
          </a:p>
        </p:txBody>
      </p:sp>
      <p:sp>
        <p:nvSpPr>
          <p:cNvPr id="34" name="text">
            <a:extLst xmlns:a="http://schemas.openxmlformats.org/drawingml/2006/main">
              <a:ext uri="{FF2B5EF4-FFF2-40B4-BE49-F238E27FC236}">
                <a16:creationId xmlns:a16="http://schemas.microsoft.com/office/drawing/2014/main" id="{006D7326-011B-4E32-9874-01BBCBC43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781550"/>
            <a:ext cx="3371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页面 + 接口 + 测试</a:t>
            </a:r>
          </a:p>
        </p:txBody>
      </p:sp>
      <p:sp>
        <p:nvSpPr>
          <p:cNvPr id="35" name="team-row-5">
            <a:extLst xmlns:a="http://schemas.openxmlformats.org/drawingml/2006/main">
              <a:ext uri="{FF2B5EF4-FFF2-40B4-BE49-F238E27FC236}">
                <a16:creationId xmlns:a16="http://schemas.microsoft.com/office/drawing/2014/main" id="{6F2AEB98-D347-411E-A97F-C77A65681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76850"/>
            <a:ext cx="112776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6" name="text">
            <a:extLst xmlns:a="http://schemas.openxmlformats.org/drawingml/2006/main">
              <a:ext uri="{FF2B5EF4-FFF2-40B4-BE49-F238E27FC236}">
                <a16:creationId xmlns:a16="http://schemas.microsoft.com/office/drawing/2014/main" id="{FC72DDBA-76E6-4A19-9D81-FC119F0DE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372100"/>
            <a:ext cx="1676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成员六</a:t>
            </a:r>
          </a:p>
        </p:txBody>
      </p:sp>
      <p:sp>
        <p:nvSpPr>
          <p:cNvPr id="37" name="text">
            <a:extLst xmlns:a="http://schemas.openxmlformats.org/drawingml/2006/main">
              <a:ext uri="{FF2B5EF4-FFF2-40B4-BE49-F238E27FC236}">
                <a16:creationId xmlns:a16="http://schemas.microsoft.com/office/drawing/2014/main" id="{1C2FF6AD-AA16-44E8-AA0C-8A11022E6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5372100"/>
            <a:ext cx="1847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消息中心</a:t>
            </a:r>
          </a:p>
        </p:txBody>
      </p:sp>
      <p:sp>
        <p:nvSpPr>
          <p:cNvPr id="38" name="text">
            <a:extLst xmlns:a="http://schemas.openxmlformats.org/drawingml/2006/main">
              <a:ext uri="{FF2B5EF4-FFF2-40B4-BE49-F238E27FC236}">
                <a16:creationId xmlns:a16="http://schemas.microsoft.com/office/drawing/2014/main" id="{ACCFAD34-ECBD-46FE-87C4-97B548A69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5372100"/>
            <a:ext cx="3314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消费事件、未读、已读</a:t>
            </a:r>
          </a:p>
        </p:txBody>
      </p:sp>
      <p:sp>
        <p:nvSpPr>
          <p:cNvPr id="39" name="text">
            <a:extLst xmlns:a="http://schemas.openxmlformats.org/drawingml/2006/main">
              <a:ext uri="{FF2B5EF4-FFF2-40B4-BE49-F238E27FC236}">
                <a16:creationId xmlns:a16="http://schemas.microsoft.com/office/drawing/2014/main" id="{B8DE3F4E-FB72-47F3-91A8-27ADDCCDC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372100"/>
            <a:ext cx="3371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页面 + 接口 + 测试</a:t>
            </a:r>
          </a:p>
        </p:txBody>
      </p:sp>
      <p:sp>
        <p:nvSpPr>
          <p:cNvPr id="40" name="team-warning">
            <a:extLst xmlns:a="http://schemas.openxmlformats.org/drawingml/2006/main">
              <a:ext uri="{FF2B5EF4-FFF2-40B4-BE49-F238E27FC236}">
                <a16:creationId xmlns:a16="http://schemas.microsoft.com/office/drawing/2014/main" id="{792706A3-BB36-42E8-B4AB-74EAE3B1A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57900"/>
            <a:ext cx="112776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EF3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text">
            <a:extLst xmlns:a="http://schemas.openxmlformats.org/drawingml/2006/main">
              <a:ext uri="{FF2B5EF4-FFF2-40B4-BE49-F238E27FC236}">
                <a16:creationId xmlns:a16="http://schemas.microsoft.com/office/drawing/2014/main" id="{831BFD42-BA60-43DC-B250-4FC4BBBE6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115050"/>
            <a:ext cx="10934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044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04438"/>
                </a:solidFill>
                <a:latin typeface="Microsoft YaHei"/>
                <a:ea typeface="Microsoft YaHei"/>
                <a:cs typeface="Microsoft YaHei"/>
              </a:rPr>
              <a:t>答辩前：替换真实姓名；每人至少 2 次有效提交；队长汇总 Git 截图与演示顺序。</a:t>
            </a:r>
          </a:p>
        </p:txBody>
      </p:sp>
    </p:spTree>
    <p:extLst>
      <p:ext uri="{BB962C8B-B14F-4D97-AF65-F5344CB8AC3E}">
        <p14:creationId xmlns:p14="http://schemas.microsoft.com/office/powerpoint/2010/main" val="78219723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">
            <a:extLst xmlns:a="http://schemas.openxmlformats.org/drawingml/2006/main">
              <a:ext uri="{FF2B5EF4-FFF2-40B4-BE49-F238E27FC236}">
                <a16:creationId xmlns:a16="http://schemas.microsoft.com/office/drawing/2014/main" id="{A2B53315-E94F-468E-A23B-083303A7C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AI 求职雷达 · 课程项目答辩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F08A1044-00F8-41B6-BDA5-643903AE2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57350"/>
            <a:ext cx="9334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6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功能形成闭环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698641D0-5DCC-49A5-ACA2-54E13322E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14600"/>
            <a:ext cx="9334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6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技术进入主链路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8AD72801-8BC2-4700-9EA6-C3F6B1630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71850"/>
            <a:ext cx="9334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6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证据支撑答辩</a:t>
            </a:r>
          </a:p>
        </p:txBody>
      </p:sp>
      <p:sp>
        <p:nvSpPr>
          <p:cNvPr id="5" name="close-accent">
            <a:extLst xmlns:a="http://schemas.openxmlformats.org/drawingml/2006/main">
              <a:ext uri="{FF2B5EF4-FFF2-40B4-BE49-F238E27FC236}">
                <a16:creationId xmlns:a16="http://schemas.microsoft.com/office/drawing/2014/main" id="{C9E92D0B-762E-457A-BC36-B033F8996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33900"/>
            <a:ext cx="9144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ABC5B4AB-DF81-4879-AB1F-B2271A66A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048250"/>
            <a:ext cx="590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谢谢观看 · 欢迎提问</a:t>
            </a:r>
          </a:p>
        </p:txBody>
      </p:sp>
      <p:sp>
        <p:nvSpPr>
          <p:cNvPr id="7" name="pill-Spring Cloud">
            <a:extLst xmlns:a="http://schemas.openxmlformats.org/drawingml/2006/main">
              <a:ext uri="{FF2B5EF4-FFF2-40B4-BE49-F238E27FC236}">
                <a16:creationId xmlns:a16="http://schemas.microsoft.com/office/drawing/2014/main" id="{F4206768-F9DF-403A-AFF2-ABAC1FF0C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05500"/>
            <a:ext cx="13716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ill-text-Spring Cloud">
            <a:extLst xmlns:a="http://schemas.openxmlformats.org/drawingml/2006/main">
              <a:ext uri="{FF2B5EF4-FFF2-40B4-BE49-F238E27FC236}">
                <a16:creationId xmlns:a16="http://schemas.microsoft.com/office/drawing/2014/main" id="{8EA4528D-8B8C-4114-BC2A-B2DCDE9B9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43600"/>
            <a:ext cx="1219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Spring Cloud</a:t>
            </a:r>
          </a:p>
        </p:txBody>
      </p:sp>
      <p:sp>
        <p:nvSpPr>
          <p:cNvPr id="9" name="pill-Vue 3">
            <a:extLst xmlns:a="http://schemas.openxmlformats.org/drawingml/2006/main">
              <a:ext uri="{FF2B5EF4-FFF2-40B4-BE49-F238E27FC236}">
                <a16:creationId xmlns:a16="http://schemas.microsoft.com/office/drawing/2014/main" id="{C860A64D-4981-4C2E-A612-D96BABABE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905500"/>
            <a:ext cx="8953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CFD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ill-text-Vue 3">
            <a:extLst xmlns:a="http://schemas.openxmlformats.org/drawingml/2006/main">
              <a:ext uri="{FF2B5EF4-FFF2-40B4-BE49-F238E27FC236}">
                <a16:creationId xmlns:a16="http://schemas.microsoft.com/office/drawing/2014/main" id="{2DEA6CBC-CFF1-4B89-9E99-377E3C5EE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5943600"/>
            <a:ext cx="742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2B7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2B76A"/>
                </a:solidFill>
                <a:latin typeface="Microsoft YaHei"/>
                <a:ea typeface="Microsoft YaHei"/>
                <a:cs typeface="Microsoft YaHei"/>
              </a:rPr>
              <a:t>Vue 3</a:t>
            </a:r>
          </a:p>
        </p:txBody>
      </p:sp>
      <p:sp>
        <p:nvSpPr>
          <p:cNvPr id="11" name="pill-Redis">
            <a:extLst xmlns:a="http://schemas.openxmlformats.org/drawingml/2006/main">
              <a:ext uri="{FF2B5EF4-FFF2-40B4-BE49-F238E27FC236}">
                <a16:creationId xmlns:a16="http://schemas.microsoft.com/office/drawing/2014/main" id="{E8E34A9B-8F1B-48F1-B35F-20C22ABB5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905500"/>
            <a:ext cx="8953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EF3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ill-text-Redis">
            <a:extLst xmlns:a="http://schemas.openxmlformats.org/drawingml/2006/main">
              <a:ext uri="{FF2B5EF4-FFF2-40B4-BE49-F238E27FC236}">
                <a16:creationId xmlns:a16="http://schemas.microsoft.com/office/drawing/2014/main" id="{BF761B09-1E86-42BE-9240-A779BE20C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943600"/>
            <a:ext cx="742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044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04438"/>
                </a:solidFill>
                <a:latin typeface="Microsoft YaHei"/>
                <a:ea typeface="Microsoft YaHei"/>
                <a:cs typeface="Microsoft YaHei"/>
              </a:rPr>
              <a:t>Redis</a:t>
            </a:r>
          </a:p>
        </p:txBody>
      </p:sp>
      <p:sp>
        <p:nvSpPr>
          <p:cNvPr id="13" name="pill-RabbitMQ">
            <a:extLst xmlns:a="http://schemas.openxmlformats.org/drawingml/2006/main">
              <a:ext uri="{FF2B5EF4-FFF2-40B4-BE49-F238E27FC236}">
                <a16:creationId xmlns:a16="http://schemas.microsoft.com/office/drawing/2014/main" id="{1228BD42-67B6-4087-A23E-F9B6D15FA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5905500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FA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pill-text-RabbitMQ">
            <a:extLst xmlns:a="http://schemas.openxmlformats.org/drawingml/2006/main">
              <a:ext uri="{FF2B5EF4-FFF2-40B4-BE49-F238E27FC236}">
                <a16:creationId xmlns:a16="http://schemas.microsoft.com/office/drawing/2014/main" id="{C8B96B80-8A7A-4B2D-834A-D1F6D7D2E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5943600"/>
            <a:ext cx="971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rPr>
              <a:t>RabbitMQ</a:t>
            </a:r>
          </a:p>
        </p:txBody>
      </p:sp>
    </p:spTree>
    <p:extLst>
      <p:ext uri="{BB962C8B-B14F-4D97-AF65-F5344CB8AC3E}">
        <p14:creationId xmlns:p14="http://schemas.microsoft.com/office/powerpoint/2010/main" val="130093338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2026-07-14T14:50:58.0900000Z</dcterms:created>
  <dcterms:modified xsi:type="dcterms:W3CDTF">2026-07-14T14:50:58.0900000Z</dcterms:modified>
</coreProperties>
</file>