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7222b08a654727" /><Relationship Type="http://schemas.openxmlformats.org/officeDocument/2006/relationships/extended-properties" Target="/docProps/app.xml" Id="Ra0696caebafa46cb" /><Relationship Type="http://schemas.openxmlformats.org/officeDocument/2006/relationships/officeDocument" Target="/ppt/presentation.xml" Id="Ref541f43b1164ff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778a741432f47ac"/>
  </p:sldMasterIdLst>
  <p:notesMasterIdLst>
    <p:notesMasterId xmlns:r="http://schemas.openxmlformats.org/officeDocument/2006/relationships" r:id="Rb4997a8427a14561"/>
  </p:notesMasterIdLst>
  <p:sldIdLst>
    <p:sldId xmlns:r="http://schemas.openxmlformats.org/officeDocument/2006/relationships" id="256" r:id="R8043d7178a2e4659"/>
    <p:sldId xmlns:r="http://schemas.openxmlformats.org/officeDocument/2006/relationships" id="257" r:id="R10fce1b9af6848ed"/>
    <p:sldId xmlns:r="http://schemas.openxmlformats.org/officeDocument/2006/relationships" id="258" r:id="R26e07229b12445ac"/>
    <p:sldId xmlns:r="http://schemas.openxmlformats.org/officeDocument/2006/relationships" id="259" r:id="R4689c5ffed394040"/>
    <p:sldId xmlns:r="http://schemas.openxmlformats.org/officeDocument/2006/relationships" id="260" r:id="R93c4e304e8e14814"/>
    <p:sldId xmlns:r="http://schemas.openxmlformats.org/officeDocument/2006/relationships" id="261" r:id="Rfe2cc2cadd1640e7"/>
    <p:sldId xmlns:r="http://schemas.openxmlformats.org/officeDocument/2006/relationships" id="262" r:id="Re0f7c4e4330f45b2"/>
    <p:sldId xmlns:r="http://schemas.openxmlformats.org/officeDocument/2006/relationships" id="263" r:id="R85057740fb08486d"/>
    <p:sldId xmlns:r="http://schemas.openxmlformats.org/officeDocument/2006/relationships" id="264" r:id="R915ac79152a94645"/>
    <p:sldId xmlns:r="http://schemas.openxmlformats.org/officeDocument/2006/relationships" id="265" r:id="R00c7348129144042"/>
    <p:sldId xmlns:r="http://schemas.openxmlformats.org/officeDocument/2006/relationships" id="266" r:id="R56daa4e37eab40ef"/>
    <p:sldId xmlns:r="http://schemas.openxmlformats.org/officeDocument/2006/relationships" id="267" r:id="R5bf7607d8cd149d3"/>
    <p:sldId xmlns:r="http://schemas.openxmlformats.org/officeDocument/2006/relationships" id="268" r:id="Rc91fc3c49ad04e5c"/>
    <p:sldId xmlns:r="http://schemas.openxmlformats.org/officeDocument/2006/relationships" id="269" r:id="R266409b43fa94db3"/>
    <p:sldId xmlns:r="http://schemas.openxmlformats.org/officeDocument/2006/relationships" id="270" r:id="R49d72c078236443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90bee4296a4177" /><Relationship Type="http://schemas.openxmlformats.org/officeDocument/2006/relationships/slideMaster" Target="/ppt/slideMasters/slideMaster1.xml" Id="Re778a741432f47ac" /><Relationship Type="http://schemas.openxmlformats.org/officeDocument/2006/relationships/notesMaster" Target="/ppt/notesMasters/notesMaster1.xml" Id="Rb4997a8427a14561" /><Relationship Type="http://schemas.openxmlformats.org/officeDocument/2006/relationships/presProps" Target="/ppt/presProps.xml" Id="Re40ac50e5f824665" /><Relationship Type="http://schemas.openxmlformats.org/officeDocument/2006/relationships/tableStyles" Target="/ppt/tableStyles.xml" Id="Re9c54c9119674d5e" /><Relationship Type="http://schemas.openxmlformats.org/officeDocument/2006/relationships/slide" Target="/ppt/slides/slide1.xml" Id="R8043d7178a2e4659" /><Relationship Type="http://schemas.openxmlformats.org/officeDocument/2006/relationships/slide" Target="/ppt/slides/slide2.xml" Id="R10fce1b9af6848ed" /><Relationship Type="http://schemas.openxmlformats.org/officeDocument/2006/relationships/slide" Target="/ppt/slides/slide3.xml" Id="R26e07229b12445ac" /><Relationship Type="http://schemas.openxmlformats.org/officeDocument/2006/relationships/slide" Target="/ppt/slides/slide4.xml" Id="R4689c5ffed394040" /><Relationship Type="http://schemas.openxmlformats.org/officeDocument/2006/relationships/slide" Target="/ppt/slides/slide5.xml" Id="R93c4e304e8e14814" /><Relationship Type="http://schemas.openxmlformats.org/officeDocument/2006/relationships/slide" Target="/ppt/slides/slide6.xml" Id="Rfe2cc2cadd1640e7" /><Relationship Type="http://schemas.openxmlformats.org/officeDocument/2006/relationships/slide" Target="/ppt/slides/slide7.xml" Id="Re0f7c4e4330f45b2" /><Relationship Type="http://schemas.openxmlformats.org/officeDocument/2006/relationships/slide" Target="/ppt/slides/slide8.xml" Id="R85057740fb08486d" /><Relationship Type="http://schemas.openxmlformats.org/officeDocument/2006/relationships/slide" Target="/ppt/slides/slide9.xml" Id="R915ac79152a94645" /><Relationship Type="http://schemas.openxmlformats.org/officeDocument/2006/relationships/slide" Target="/ppt/slides/slide10.xml" Id="R00c7348129144042" /><Relationship Type="http://schemas.openxmlformats.org/officeDocument/2006/relationships/slide" Target="/ppt/slides/slide11.xml" Id="R56daa4e37eab40ef" /><Relationship Type="http://schemas.openxmlformats.org/officeDocument/2006/relationships/slide" Target="/ppt/slides/slide12.xml" Id="R5bf7607d8cd149d3" /><Relationship Type="http://schemas.openxmlformats.org/officeDocument/2006/relationships/slide" Target="/ppt/slides/slide13.xml" Id="Rc91fc3c49ad04e5c" /><Relationship Type="http://schemas.openxmlformats.org/officeDocument/2006/relationships/slide" Target="/ppt/slides/slide14.xml" Id="R266409b43fa94db3" /><Relationship Type="http://schemas.openxmlformats.org/officeDocument/2006/relationships/slide" Target="/ppt/slides/slide15.xml" Id="R49d72c07823644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c83228879574c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ece4ffaf95463d" /><Relationship Type="http://schemas.openxmlformats.org/officeDocument/2006/relationships/notesMaster" Target="/ppt/notesMasters/notesMaster1.xml" Id="R128fed6064ed46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c375e82e544bd2" /><Relationship Type="http://schemas.openxmlformats.org/officeDocument/2006/relationships/notesMaster" Target="/ppt/notesMasters/notesMaster1.xml" Id="Rf8d503c0584248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2bccd2fcad645af" /><Relationship Type="http://schemas.openxmlformats.org/officeDocument/2006/relationships/notesMaster" Target="/ppt/notesMasters/notesMaster1.xml" Id="R9b121a40b1ed48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23430761515432e" /><Relationship Type="http://schemas.openxmlformats.org/officeDocument/2006/relationships/notesMaster" Target="/ppt/notesMasters/notesMaster1.xml" Id="R742bc134195c46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940d1ea2e94d96" /><Relationship Type="http://schemas.openxmlformats.org/officeDocument/2006/relationships/notesMaster" Target="/ppt/notesMasters/notesMaster1.xml" Id="R77781fde820b48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19f7c5e48784bd4" /><Relationship Type="http://schemas.openxmlformats.org/officeDocument/2006/relationships/notesMaster" Target="/ppt/notesMasters/notesMaster1.xml" Id="R56694f3408294e0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f253840663040ca" /><Relationship Type="http://schemas.openxmlformats.org/officeDocument/2006/relationships/notesMaster" Target="/ppt/notesMasters/notesMaster1.xml" Id="R7b19ec80672549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10f8e4337844a7d" /><Relationship Type="http://schemas.openxmlformats.org/officeDocument/2006/relationships/notesMaster" Target="/ppt/notesMasters/notesMaster1.xml" Id="R3f12e7e5461a4f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e472f2176e49fe" /><Relationship Type="http://schemas.openxmlformats.org/officeDocument/2006/relationships/notesMaster" Target="/ppt/notesMasters/notesMaster1.xml" Id="Rec671835a8854be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4633a4b190d4cb5" /><Relationship Type="http://schemas.openxmlformats.org/officeDocument/2006/relationships/notesMaster" Target="/ppt/notesMasters/notesMaster1.xml" Id="Re6eca2254e2c46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52f1914ae343cb" /><Relationship Type="http://schemas.openxmlformats.org/officeDocument/2006/relationships/notesMaster" Target="/ppt/notesMasters/notesMaster1.xml" Id="R93757b3dee2d417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098836b60d4e47" /><Relationship Type="http://schemas.openxmlformats.org/officeDocument/2006/relationships/notesMaster" Target="/ppt/notesMasters/notesMaster1.xml" Id="Rf586dc79e0f1498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9caac4fcab4a35" /><Relationship Type="http://schemas.openxmlformats.org/officeDocument/2006/relationships/notesMaster" Target="/ppt/notesMasters/notesMaster1.xml" Id="Rfc17f449faa64c5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715d0a8ad4e4feb" /><Relationship Type="http://schemas.openxmlformats.org/officeDocument/2006/relationships/notesMaster" Target="/ppt/notesMasters/notesMaster1.xml" Id="R392aedd22e484ad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6d5458e86c142de" /><Relationship Type="http://schemas.openxmlformats.org/officeDocument/2006/relationships/notesMaster" Target="/ppt/notesMasters/notesMaster1.xml" Id="Rcd1c080942624c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9cf804274c4f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dab92aa7c74edb" /><Relationship Type="http://schemas.openxmlformats.org/officeDocument/2006/relationships/slideLayout" Target="/ppt/slideLayouts/slideLayout1.xml" Id="R2b71fb57d745479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b71fb57d745479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1217df9b14b5c" /><Relationship Type="http://schemas.openxmlformats.org/officeDocument/2006/relationships/notesSlide" Target="/ppt/notesSlides/notesSlide1.xml" Id="R28d2bad044524d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cf2eb336641d4" /><Relationship Type="http://schemas.openxmlformats.org/officeDocument/2006/relationships/notesSlide" Target="/ppt/notesSlides/notesSlide2.xml" Id="R1e979f69f1b941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7f79321e9435a" /><Relationship Type="http://schemas.openxmlformats.org/officeDocument/2006/relationships/notesSlide" Target="/ppt/notesSlides/notesSlide3.xml" Id="R7b11f00f8de34b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c586b24a7495d" /><Relationship Type="http://schemas.openxmlformats.org/officeDocument/2006/relationships/notesSlide" Target="/ppt/notesSlides/notesSlide4.xml" Id="R4349870c76144d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1d41d6b4f4212" /><Relationship Type="http://schemas.openxmlformats.org/officeDocument/2006/relationships/notesSlide" Target="/ppt/notesSlides/notesSlide5.xml" Id="Rbe8fc6a6874a4c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904aad93c404a" /><Relationship Type="http://schemas.openxmlformats.org/officeDocument/2006/relationships/notesSlide" Target="/ppt/notesSlides/notesSlide6.xml" Id="R7efecac8300f4d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5ac05ba760408d" /><Relationship Type="http://schemas.openxmlformats.org/officeDocument/2006/relationships/image" Target="/ppt/media/image.jpeg" Id="Rc672fe6c01ca49dc" /><Relationship Type="http://schemas.openxmlformats.org/officeDocument/2006/relationships/image" Target="/ppt/media/image2.jpeg" Id="R43ed7d8818f24987" /><Relationship Type="http://schemas.openxmlformats.org/officeDocument/2006/relationships/image" Target="/ppt/media/image3.jpeg" Id="R040a3895ddef48a0" /><Relationship Type="http://schemas.openxmlformats.org/officeDocument/2006/relationships/notesSlide" Target="/ppt/notesSlides/notesSlide7.xml" Id="R0c3a027e32ce4c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447039fbec4878" /><Relationship Type="http://schemas.openxmlformats.org/officeDocument/2006/relationships/notesSlide" Target="/ppt/notesSlides/notesSlide8.xml" Id="R5043a7abe4eb45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9a0e27bc44f6f" /><Relationship Type="http://schemas.openxmlformats.org/officeDocument/2006/relationships/notesSlide" Target="/ppt/notesSlides/notesSlide9.xml" Id="Rf062e480ba0543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4eda966044bf3" /><Relationship Type="http://schemas.openxmlformats.org/officeDocument/2006/relationships/notesSlide" Target="/ppt/notesSlides/notesSlide10.xml" Id="Rda6b4db596a841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16e4ec1a44425" /><Relationship Type="http://schemas.openxmlformats.org/officeDocument/2006/relationships/notesSlide" Target="/ppt/notesSlides/notesSlide11.xml" Id="Rcec4b0c2cf6b4ce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3feb3085e4403d" /><Relationship Type="http://schemas.openxmlformats.org/officeDocument/2006/relationships/notesSlide" Target="/ppt/notesSlides/notesSlide12.xml" Id="Rbcd15115803c4a7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85641596504c16" /><Relationship Type="http://schemas.openxmlformats.org/officeDocument/2006/relationships/image" Target="/ppt/media/image.png" Id="R1c8eacda05e0487f" /><Relationship Type="http://schemas.openxmlformats.org/officeDocument/2006/relationships/notesSlide" Target="/ppt/notesSlides/notesSlide13.xml" Id="R6330b97dc1d7407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5bda261ed4af6" /><Relationship Type="http://schemas.openxmlformats.org/officeDocument/2006/relationships/notesSlide" Target="/ppt/notesSlides/notesSlide14.xml" Id="R927eaf750d134d9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4b7fc7174546ec" /><Relationship Type="http://schemas.openxmlformats.org/officeDocument/2006/relationships/notesSlide" Target="/ppt/notesSlides/notesSlide15.xml" Id="R2a40ce977ea44e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038E2D7F-4881-4036-99D0-F8D0ADC6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SPRING CLOUD 课程项目 · 2026</a:t>
            </a:r>
          </a:p>
        </p:txBody>
      </p:sp>
      <p:sp>
        <p:nvSpPr>
          <p:cNvPr id="2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8C8C679C-572B-410D-A004-D6F051C10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914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D5BC7BCA-4252-46E4-A6E7-57B1FF4B1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81150"/>
            <a:ext cx="9334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4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AI 求职雷达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E8C6D0D-F45F-46B8-ABF7-39432F8E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8605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课程框架重制版</a:t>
            </a:r>
          </a:p>
        </p:txBody>
      </p:sp>
      <p:sp>
        <p:nvSpPr>
          <p:cNvPr id="5" name="cover-desc">
            <a:extLst xmlns:a="http://schemas.openxmlformats.org/drawingml/2006/main">
              <a:ext uri="{FF2B5EF4-FFF2-40B4-BE49-F238E27FC236}">
                <a16:creationId xmlns:a16="http://schemas.microsoft.com/office/drawing/2014/main" id="{01124C07-D354-472D-94E9-9ED84BB3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0"/>
            <a:ext cx="7810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从职位发现、智能匹配到投递、模拟面试与异步通知的完整求职闭环</a:t>
            </a:r>
          </a:p>
        </p:txBody>
      </p:sp>
      <p:sp>
        <p:nvSpPr>
          <p:cNvPr id="6" name="pill-7 个微服务">
            <a:extLst xmlns:a="http://schemas.openxmlformats.org/drawingml/2006/main">
              <a:ext uri="{FF2B5EF4-FFF2-40B4-BE49-F238E27FC236}">
                <a16:creationId xmlns:a16="http://schemas.microsoft.com/office/drawing/2014/main" id="{3BCCA7A4-C9BA-4164-B674-2BB4D091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19700"/>
            <a:ext cx="1276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ill-text-7 个微服务">
            <a:extLst xmlns:a="http://schemas.openxmlformats.org/drawingml/2006/main">
              <a:ext uri="{FF2B5EF4-FFF2-40B4-BE49-F238E27FC236}">
                <a16:creationId xmlns:a16="http://schemas.microsoft.com/office/drawing/2014/main" id="{073D04DA-23B5-4866-B504-815398FA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57800"/>
            <a:ext cx="1123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7 个微服务</a:t>
            </a:r>
          </a:p>
        </p:txBody>
      </p:sp>
      <p:sp>
        <p:nvSpPr>
          <p:cNvPr id="8" name="pill-6 个业务模块">
            <a:extLst xmlns:a="http://schemas.openxmlformats.org/drawingml/2006/main">
              <a:ext uri="{FF2B5EF4-FFF2-40B4-BE49-F238E27FC236}">
                <a16:creationId xmlns:a16="http://schemas.microsoft.com/office/drawing/2014/main" id="{84784AED-CB86-4B05-BB6F-B87E644B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219700"/>
            <a:ext cx="1428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ill-text-6 个业务模块">
            <a:extLst xmlns:a="http://schemas.openxmlformats.org/drawingml/2006/main">
              <a:ext uri="{FF2B5EF4-FFF2-40B4-BE49-F238E27FC236}">
                <a16:creationId xmlns:a16="http://schemas.microsoft.com/office/drawing/2014/main" id="{DA8F26EC-6422-4CCD-BFA0-98B5FB34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257800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6 个业务模块</a:t>
            </a:r>
          </a:p>
        </p:txBody>
      </p:sp>
      <p:sp>
        <p:nvSpPr>
          <p:cNvPr id="10" name="pill-36 项自动化测试">
            <a:extLst xmlns:a="http://schemas.openxmlformats.org/drawingml/2006/main">
              <a:ext uri="{FF2B5EF4-FFF2-40B4-BE49-F238E27FC236}">
                <a16:creationId xmlns:a16="http://schemas.microsoft.com/office/drawing/2014/main" id="{6823EF3C-62F7-4FFC-8BDA-406229CBD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219700"/>
            <a:ext cx="1638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ill-text-36 项自动化测试">
            <a:extLst xmlns:a="http://schemas.openxmlformats.org/drawingml/2006/main">
              <a:ext uri="{FF2B5EF4-FFF2-40B4-BE49-F238E27FC236}">
                <a16:creationId xmlns:a16="http://schemas.microsoft.com/office/drawing/2014/main" id="{D963D5B2-9C90-4DD3-B6AE-5B8CDD76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25780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36 项自动化测试</a:t>
            </a:r>
          </a:p>
        </p:txBody>
      </p:sp>
      <p:sp>
        <p:nvSpPr>
          <p:cNvPr id="12" name="cover-team">
            <a:extLst xmlns:a="http://schemas.openxmlformats.org/drawingml/2006/main">
              <a:ext uri="{FF2B5EF4-FFF2-40B4-BE49-F238E27FC236}">
                <a16:creationId xmlns:a16="http://schemas.microsoft.com/office/drawing/2014/main" id="{9763AF67-103E-4D2C-8C4E-8615125C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019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答辩小组｜成员一（队长） · 成员二 · 成员三 · 成员四 · 成员五 · 成员六</a:t>
            </a:r>
          </a:p>
        </p:txBody>
      </p:sp>
    </p:spTree>
    <p:extLst>
      <p:ext uri="{BB962C8B-B14F-4D97-AF65-F5344CB8AC3E}">
        <p14:creationId xmlns:p14="http://schemas.microsoft.com/office/powerpoint/2010/main" val="12808588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2">
            <a:extLst xmlns:a="http://schemas.openxmlformats.org/drawingml/2006/main">
              <a:ext uri="{FF2B5EF4-FFF2-40B4-BE49-F238E27FC236}">
                <a16:creationId xmlns:a16="http://schemas.microsoft.com/office/drawing/2014/main" id="{088275D0-8456-406B-8F46-F45C8653E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32AE9D85-ABF4-4AF7-9FDB-12910528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不是功能堆砌，而是一条可现场演示的求职闭环</a:t>
            </a:r>
          </a:p>
        </p:txBody>
      </p:sp>
      <p:sp>
        <p:nvSpPr>
          <p:cNvPr id="3" name="title-rule-2">
            <a:extLst xmlns:a="http://schemas.openxmlformats.org/drawingml/2006/main">
              <a:ext uri="{FF2B5EF4-FFF2-40B4-BE49-F238E27FC236}">
                <a16:creationId xmlns:a16="http://schemas.microsoft.com/office/drawing/2014/main" id="{ED51FBFA-560C-44B0-BA77-6B8A1BCC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2">
            <a:extLst xmlns:a="http://schemas.openxmlformats.org/drawingml/2006/main">
              <a:ext uri="{FF2B5EF4-FFF2-40B4-BE49-F238E27FC236}">
                <a16:creationId xmlns:a16="http://schemas.microsoft.com/office/drawing/2014/main" id="{5F73B3D3-CC9E-49A9-B1DF-27B45C2E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49A582EE-C672-40F3-8E87-B9784F3F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533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课程考查的核心，是把业务问题落到课堂技术路线中。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D3DBBD04-A097-4C3D-A984-5A8CFC1D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52700"/>
            <a:ext cx="4953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我们保留原项目最有价值的体验，并主动收敛功能范围：每个页面都能找到对应服务、数据与技术证据。</a:t>
            </a:r>
          </a:p>
        </p:txBody>
      </p:sp>
      <p:sp>
        <p:nvSpPr>
          <p:cNvPr id="7" name="pill-可演示">
            <a:extLst xmlns:a="http://schemas.openxmlformats.org/drawingml/2006/main">
              <a:ext uri="{FF2B5EF4-FFF2-40B4-BE49-F238E27FC236}">
                <a16:creationId xmlns:a16="http://schemas.microsoft.com/office/drawing/2014/main" id="{6D9A1772-0D8F-45CF-95E5-3E819D92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990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ill-text-可演示">
            <a:extLst xmlns:a="http://schemas.openxmlformats.org/drawingml/2006/main">
              <a:ext uri="{FF2B5EF4-FFF2-40B4-BE49-F238E27FC236}">
                <a16:creationId xmlns:a16="http://schemas.microsoft.com/office/drawing/2014/main" id="{9A8FF669-C964-4B3A-90BC-1CCD0409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338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可演示</a:t>
            </a:r>
          </a:p>
        </p:txBody>
      </p:sp>
      <p:sp>
        <p:nvSpPr>
          <p:cNvPr id="9" name="pill-可解释">
            <a:extLst xmlns:a="http://schemas.openxmlformats.org/drawingml/2006/main">
              <a:ext uri="{FF2B5EF4-FFF2-40B4-BE49-F238E27FC236}">
                <a16:creationId xmlns:a16="http://schemas.microsoft.com/office/drawing/2014/main" id="{5D19743D-D63B-4341-A3A4-729CEA37A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95750"/>
            <a:ext cx="990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ll-text-可解释">
            <a:extLst xmlns:a="http://schemas.openxmlformats.org/drawingml/2006/main">
              <a:ext uri="{FF2B5EF4-FFF2-40B4-BE49-F238E27FC236}">
                <a16:creationId xmlns:a16="http://schemas.microsoft.com/office/drawing/2014/main" id="{733029C5-4894-4D96-8D1F-B2C65008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1338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可解释</a:t>
            </a:r>
          </a:p>
        </p:txBody>
      </p:sp>
      <p:sp>
        <p:nvSpPr>
          <p:cNvPr id="11" name="pill-可分工">
            <a:extLst xmlns:a="http://schemas.openxmlformats.org/drawingml/2006/main">
              <a:ext uri="{FF2B5EF4-FFF2-40B4-BE49-F238E27FC236}">
                <a16:creationId xmlns:a16="http://schemas.microsoft.com/office/drawing/2014/main" id="{893D9B50-0D1D-4672-A77F-B716E6D1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990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ill-text-可分工">
            <a:extLst xmlns:a="http://schemas.openxmlformats.org/drawingml/2006/main">
              <a:ext uri="{FF2B5EF4-FFF2-40B4-BE49-F238E27FC236}">
                <a16:creationId xmlns:a16="http://schemas.microsoft.com/office/drawing/2014/main" id="{EFE2387B-2F62-4713-A16D-B1E661E0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1338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可分工</a:t>
            </a:r>
          </a:p>
        </p:txBody>
      </p:sp>
      <p:sp>
        <p:nvSpPr>
          <p:cNvPr id="13" name="pain-0">
            <a:extLst xmlns:a="http://schemas.openxmlformats.org/drawingml/2006/main">
              <a:ext uri="{FF2B5EF4-FFF2-40B4-BE49-F238E27FC236}">
                <a16:creationId xmlns:a16="http://schemas.microsoft.com/office/drawing/2014/main" id="{DC4AC86D-2D8D-4FAD-9602-E2F118EF7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76400"/>
            <a:ext cx="55054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2496218-9C9D-4B38-A7BB-2F22BE7B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669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37DDD38A-C4E0-4FA2-A072-E084E271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47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职位信息分散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E143005-896F-4233-AAB8-60FDEAD2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搜索与条件筛选统一入口</a:t>
            </a:r>
          </a:p>
        </p:txBody>
      </p:sp>
      <p:sp>
        <p:nvSpPr>
          <p:cNvPr id="17" name="pain-1">
            <a:extLst xmlns:a="http://schemas.openxmlformats.org/drawingml/2006/main">
              <a:ext uri="{FF2B5EF4-FFF2-40B4-BE49-F238E27FC236}">
                <a16:creationId xmlns:a16="http://schemas.microsoft.com/office/drawing/2014/main" id="{FBC50A52-1058-4F9D-825D-F2B5ABF1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28950"/>
            <a:ext cx="55054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26416B7-7062-487A-96EB-4FC3F054F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1945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7F4B88C4-B631-4E08-BB21-274EEF3E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004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求职决策缺少反馈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A038A6C7-0962-453C-A036-5E05F9E0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6004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匹配度、收藏和投递状态可追踪</a:t>
            </a:r>
          </a:p>
        </p:txBody>
      </p:sp>
      <p:sp>
        <p:nvSpPr>
          <p:cNvPr id="21" name="pain-2">
            <a:extLst xmlns:a="http://schemas.openxmlformats.org/drawingml/2006/main">
              <a:ext uri="{FF2B5EF4-FFF2-40B4-BE49-F238E27FC236}">
                <a16:creationId xmlns:a16="http://schemas.microsoft.com/office/drawing/2014/main" id="{2BFD6DD4-1284-42FA-8AC6-94F8F99D2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381500"/>
            <a:ext cx="55054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657B155F-5AB5-42AD-B51E-2AC7D8A3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572000"/>
            <a:ext cx="552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78C2B87E-F227-4AB1-B180-4F64EFEF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552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练习与结果割裂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39844C7C-24BE-4BD4-8530-5D09DDC9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9530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四题模拟面试与通知闭环</a:t>
            </a:r>
          </a:p>
        </p:txBody>
      </p:sp>
    </p:spTree>
    <p:extLst>
      <p:ext uri="{BB962C8B-B14F-4D97-AF65-F5344CB8AC3E}">
        <p14:creationId xmlns:p14="http://schemas.microsoft.com/office/powerpoint/2010/main" val="13849057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3">
            <a:extLst xmlns:a="http://schemas.openxmlformats.org/drawingml/2006/main">
              <a:ext uri="{FF2B5EF4-FFF2-40B4-BE49-F238E27FC236}">
                <a16:creationId xmlns:a16="http://schemas.microsoft.com/office/drawing/2014/main" id="{5739C469-ED22-401E-A719-36F576200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3AEDD966-919E-4691-8F9C-D5BA7549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六步业务闭环，正好对应六个端到端模块</a:t>
            </a:r>
          </a:p>
        </p:txBody>
      </p:sp>
      <p:sp>
        <p:nvSpPr>
          <p:cNvPr id="3" name="title-rule-3">
            <a:extLst xmlns:a="http://schemas.openxmlformats.org/drawingml/2006/main">
              <a:ext uri="{FF2B5EF4-FFF2-40B4-BE49-F238E27FC236}">
                <a16:creationId xmlns:a16="http://schemas.microsoft.com/office/drawing/2014/main" id="{B4D13BDA-6A87-48C6-A81E-8108B2DE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3">
            <a:extLst xmlns:a="http://schemas.openxmlformats.org/drawingml/2006/main">
              <a:ext uri="{FF2B5EF4-FFF2-40B4-BE49-F238E27FC236}">
                <a16:creationId xmlns:a16="http://schemas.microsoft.com/office/drawing/2014/main" id="{5939AEEF-49F6-40A6-A514-A5DB5A20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loop-0">
            <a:extLst xmlns:a="http://schemas.openxmlformats.org/drawingml/2006/main">
              <a:ext uri="{FF2B5EF4-FFF2-40B4-BE49-F238E27FC236}">
                <a16:creationId xmlns:a16="http://schemas.microsoft.com/office/drawing/2014/main" id="{7E8C2C2D-C4ED-42A1-A339-9AFFFC83A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477C8EB3-E169-4F66-B83A-D9481506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6A7B398-083B-4482-B1C0-D170937C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用户画像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8361070B-0FE6-4629-9455-42FF88E8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登录、资料、求职偏好</a:t>
            </a:r>
          </a:p>
        </p:txBody>
      </p:sp>
      <p:sp>
        <p:nvSpPr>
          <p:cNvPr id="9" name="arrow">
            <a:extLst xmlns:a="http://schemas.openxmlformats.org/drawingml/2006/main">
              <a:ext uri="{FF2B5EF4-FFF2-40B4-BE49-F238E27FC236}">
                <a16:creationId xmlns:a16="http://schemas.microsoft.com/office/drawing/2014/main" id="{FA898550-4F97-4EAD-AE01-077BB89F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loop-1">
            <a:extLst xmlns:a="http://schemas.openxmlformats.org/drawingml/2006/main">
              <a:ext uri="{FF2B5EF4-FFF2-40B4-BE49-F238E27FC236}">
                <a16:creationId xmlns:a16="http://schemas.microsoft.com/office/drawing/2014/main" id="{91317720-E127-4EB3-A22C-002281F25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789E025-02F6-4E8B-9946-DF4DA670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D5A501E-0F91-405D-ACE1-EFBBDD7D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F09B5680-A99C-41BA-9428-002AAFED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搜索、筛选、详情</a:t>
            </a:r>
          </a:p>
        </p:txBody>
      </p:sp>
      <p:sp>
        <p:nvSpPr>
          <p:cNvPr id="14" name="arrow">
            <a:extLst xmlns:a="http://schemas.openxmlformats.org/drawingml/2006/main">
              <a:ext uri="{FF2B5EF4-FFF2-40B4-BE49-F238E27FC236}">
                <a16:creationId xmlns:a16="http://schemas.microsoft.com/office/drawing/2014/main" id="{6A64CF60-0F38-4F71-9E5C-83C3B11E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loop-2">
            <a:extLst xmlns:a="http://schemas.openxmlformats.org/drawingml/2006/main">
              <a:ext uri="{FF2B5EF4-FFF2-40B4-BE49-F238E27FC236}">
                <a16:creationId xmlns:a16="http://schemas.microsoft.com/office/drawing/2014/main" id="{D1889FCA-1000-43ED-A9F6-6313D858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D9F01555-1C93-4125-8701-DF544DE6A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1AE5F7D-C798-4A0F-AF94-7DAC9559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智能匹配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AB3FDD43-D023-4A42-8DD3-12B4670E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画像与职位评分</a:t>
            </a:r>
          </a:p>
        </p:txBody>
      </p:sp>
      <p:sp>
        <p:nvSpPr>
          <p:cNvPr id="19" name="arrow">
            <a:extLst xmlns:a="http://schemas.openxmlformats.org/drawingml/2006/main">
              <a:ext uri="{FF2B5EF4-FFF2-40B4-BE49-F238E27FC236}">
                <a16:creationId xmlns:a16="http://schemas.microsoft.com/office/drawing/2014/main" id="{2FEB8FBF-140A-453C-871A-5E4E4A40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loop-3">
            <a:extLst xmlns:a="http://schemas.openxmlformats.org/drawingml/2006/main">
              <a:ext uri="{FF2B5EF4-FFF2-40B4-BE49-F238E27FC236}">
                <a16:creationId xmlns:a16="http://schemas.microsoft.com/office/drawing/2014/main" id="{34346C90-C93F-4020-A00A-E758F0A4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F76FAA7D-EB5B-4BB4-A2B6-FF89899F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855B55C-DB57-4D98-B384-989A3110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求职行动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E0D3BA6F-7AB7-4385-92E0-EECD305D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收藏、投递、状态</a:t>
            </a:r>
          </a:p>
        </p:txBody>
      </p:sp>
      <p:sp>
        <p:nvSpPr>
          <p:cNvPr id="24" name="arrow">
            <a:extLst xmlns:a="http://schemas.openxmlformats.org/drawingml/2006/main">
              <a:ext uri="{FF2B5EF4-FFF2-40B4-BE49-F238E27FC236}">
                <a16:creationId xmlns:a16="http://schemas.microsoft.com/office/drawing/2014/main" id="{1FEAE618-FA6D-4FD3-BD3D-7D464F25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loop-4">
            <a:extLst xmlns:a="http://schemas.openxmlformats.org/drawingml/2006/main">
              <a:ext uri="{FF2B5EF4-FFF2-40B4-BE49-F238E27FC236}">
                <a16:creationId xmlns:a16="http://schemas.microsoft.com/office/drawing/2014/main" id="{547B7DA9-CCF4-4C47-913F-4279FD8AF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2FF596BC-E73A-4DE3-989A-22DD5F693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AF926B48-E84C-4B63-A389-179AB107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BC31A600-95F3-4D3F-899A-DD9488C8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 题作答与评分</a:t>
            </a:r>
          </a:p>
        </p:txBody>
      </p:sp>
      <p:sp>
        <p:nvSpPr>
          <p:cNvPr id="29" name="arrow">
            <a:extLst xmlns:a="http://schemas.openxmlformats.org/drawingml/2006/main">
              <a:ext uri="{FF2B5EF4-FFF2-40B4-BE49-F238E27FC236}">
                <a16:creationId xmlns:a16="http://schemas.microsoft.com/office/drawing/2014/main" id="{9E7918DD-F661-458A-8A4D-42F2BCA5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6705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loop-5">
            <a:extLst xmlns:a="http://schemas.openxmlformats.org/drawingml/2006/main">
              <a:ext uri="{FF2B5EF4-FFF2-40B4-BE49-F238E27FC236}">
                <a16:creationId xmlns:a16="http://schemas.microsoft.com/office/drawing/2014/main" id="{5CDBAF21-9B21-4F8C-93BB-BAE2E8173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114550"/>
            <a:ext cx="1619250" cy="24193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9E2E218E-309E-4A4B-9776-E96E3A63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324100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066EEB30-21FB-4D09-830C-D6C7E01F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876550"/>
            <a:ext cx="129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4449CB89-A6E4-4ABD-839D-F292F1073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3505200"/>
            <a:ext cx="1276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异步通知、已读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A8AD3ABD-4287-42C1-A5C0-35356F89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05400"/>
            <a:ext cx="1127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业务数据在 MySQL 中沉淀，热点查询由 Redis 加速，投递事件经 RabbitMQ 驱动通知。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41774052-DD09-42A5-BFF8-3491BC3F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9595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每位成员负责一个业务模块的前端页面、后端接口、数据表与测试。</a:t>
            </a:r>
          </a:p>
        </p:txBody>
      </p:sp>
    </p:spTree>
    <p:extLst>
      <p:ext uri="{BB962C8B-B14F-4D97-AF65-F5344CB8AC3E}">
        <p14:creationId xmlns:p14="http://schemas.microsoft.com/office/powerpoint/2010/main" val="13567387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4">
            <a:extLst xmlns:a="http://schemas.openxmlformats.org/drawingml/2006/main">
              <a:ext uri="{FF2B5EF4-FFF2-40B4-BE49-F238E27FC236}">
                <a16:creationId xmlns:a16="http://schemas.microsoft.com/office/drawing/2014/main" id="{51444706-8F89-46B2-9271-ADCF7810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C6F4C125-09B3-41D5-B901-DFCD484D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所有必选技术都进入主业务链路，而不是只写在依赖里</a:t>
            </a:r>
          </a:p>
        </p:txBody>
      </p:sp>
      <p:sp>
        <p:nvSpPr>
          <p:cNvPr id="3" name="title-rule-4">
            <a:extLst xmlns:a="http://schemas.openxmlformats.org/drawingml/2006/main">
              <a:ext uri="{FF2B5EF4-FFF2-40B4-BE49-F238E27FC236}">
                <a16:creationId xmlns:a16="http://schemas.microsoft.com/office/drawing/2014/main" id="{53D88DBC-3613-439C-B58F-B52A625E6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4">
            <a:extLst xmlns:a="http://schemas.openxmlformats.org/drawingml/2006/main">
              <a:ext uri="{FF2B5EF4-FFF2-40B4-BE49-F238E27FC236}">
                <a16:creationId xmlns:a16="http://schemas.microsoft.com/office/drawing/2014/main" id="{57F05E0C-29D3-406C-84C3-1AF00C0B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stack-0">
            <a:extLst xmlns:a="http://schemas.openxmlformats.org/drawingml/2006/main">
              <a:ext uri="{FF2B5EF4-FFF2-40B4-BE49-F238E27FC236}">
                <a16:creationId xmlns:a16="http://schemas.microsoft.com/office/drawing/2014/main" id="{AEDC15EF-91C1-4566-9211-09E070AB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stack-accent-0">
            <a:extLst xmlns:a="http://schemas.openxmlformats.org/drawingml/2006/main">
              <a:ext uri="{FF2B5EF4-FFF2-40B4-BE49-F238E27FC236}">
                <a16:creationId xmlns:a16="http://schemas.microsoft.com/office/drawing/2014/main" id="{99099C54-DF11-4B7C-BFCA-96C47B98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C0E7CF9-36FE-4328-9935-9D64833A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前端交互层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C37A4317-71CC-40D1-8DB0-A8978881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192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Vue 3 · Vite · Axios · Node.js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A864DD2-FFF2-4276-9179-4AF848CA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478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职位、投递、面试、消息中心</a:t>
            </a:r>
          </a:p>
        </p:txBody>
      </p:sp>
      <p:sp>
        <p:nvSpPr>
          <p:cNvPr id="10" name="stack-1">
            <a:extLst xmlns:a="http://schemas.openxmlformats.org/drawingml/2006/main">
              <a:ext uri="{FF2B5EF4-FFF2-40B4-BE49-F238E27FC236}">
                <a16:creationId xmlns:a16="http://schemas.microsoft.com/office/drawing/2014/main" id="{2796F496-033A-478C-BE74-397C08E4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stack-accent-1">
            <a:extLst xmlns:a="http://schemas.openxmlformats.org/drawingml/2006/main">
              <a:ext uri="{FF2B5EF4-FFF2-40B4-BE49-F238E27FC236}">
                <a16:creationId xmlns:a16="http://schemas.microsoft.com/office/drawing/2014/main" id="{BDF894A3-768F-4DD9-B820-F18AD4E9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432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9DA2A312-87CE-4ABE-86C9-3BCBC773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统一入口层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2CEEAA9-07EC-4B23-874F-966FD7F0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860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Spring Cloud Gateway · Nacos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A7324FF-CE92-40AA-94E5-49CB027F2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9146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路由转发、服务发现、跨域</a:t>
            </a:r>
          </a:p>
        </p:txBody>
      </p:sp>
      <p:sp>
        <p:nvSpPr>
          <p:cNvPr id="15" name="stack-2">
            <a:extLst xmlns:a="http://schemas.openxmlformats.org/drawingml/2006/main">
              <a:ext uri="{FF2B5EF4-FFF2-40B4-BE49-F238E27FC236}">
                <a16:creationId xmlns:a16="http://schemas.microsoft.com/office/drawing/2014/main" id="{95536C6B-A692-4510-9916-3ABA0F6B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stack-accent-2">
            <a:extLst xmlns:a="http://schemas.openxmlformats.org/drawingml/2006/main">
              <a:ext uri="{FF2B5EF4-FFF2-40B4-BE49-F238E27FC236}">
                <a16:creationId xmlns:a16="http://schemas.microsoft.com/office/drawing/2014/main" id="{C03A5B64-5424-4F31-8321-29F2FEB27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6FFE6DD4-3E95-42C6-BD9A-0F73F301B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业务服务层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72913388-A709-4619-A40F-E3610806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9528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85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Spring Boot · Spring · Spring MVC · OpenFeign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BE38AEE-DCFA-4DEA-8C5B-B1D29DC1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9814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7 个服务协作完成求职闭环</a:t>
            </a:r>
          </a:p>
        </p:txBody>
      </p:sp>
      <p:sp>
        <p:nvSpPr>
          <p:cNvPr id="20" name="stack-3">
            <a:extLst xmlns:a="http://schemas.openxmlformats.org/drawingml/2006/main">
              <a:ext uri="{FF2B5EF4-FFF2-40B4-BE49-F238E27FC236}">
                <a16:creationId xmlns:a16="http://schemas.microsoft.com/office/drawing/2014/main" id="{8342EB0D-32D8-4A10-A9F4-9D885247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76800"/>
            <a:ext cx="112776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stack-accent-3">
            <a:extLst xmlns:a="http://schemas.openxmlformats.org/drawingml/2006/main">
              <a:ext uri="{FF2B5EF4-FFF2-40B4-BE49-F238E27FC236}">
                <a16:creationId xmlns:a16="http://schemas.microsoft.com/office/drawing/2014/main" id="{32626BFB-4168-44FC-AC40-555686FB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76800"/>
            <a:ext cx="1143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DB4E1649-FA09-4C88-91D9-FF122E3B3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482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数据与消息层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100ACC53-940F-4BA9-99D0-20D22F6E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0196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MyBatis Plus · MySQL · Redis · RabbitMQ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7EEB3053-206E-43C0-B74C-508DCB7E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048250"/>
            <a:ext cx="352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持久化、缓存、异步事件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37833EC-2B2D-45D9-A362-3C5185DF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531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技术取舍：未引入 Elasticsearch 与 Docker，减少答辩现场依赖，把稳定性留给必选技术。</a:t>
            </a:r>
          </a:p>
        </p:txBody>
      </p:sp>
    </p:spTree>
    <p:extLst>
      <p:ext uri="{BB962C8B-B14F-4D97-AF65-F5344CB8AC3E}">
        <p14:creationId xmlns:p14="http://schemas.microsoft.com/office/powerpoint/2010/main" val="149767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5">
            <a:extLst xmlns:a="http://schemas.openxmlformats.org/drawingml/2006/main">
              <a:ext uri="{FF2B5EF4-FFF2-40B4-BE49-F238E27FC236}">
                <a16:creationId xmlns:a16="http://schemas.microsoft.com/office/drawing/2014/main" id="{448062E7-90C0-4011-A54F-1D2323AD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9ADC1108-92AF-4EBA-A3CF-6ED907A1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Gateway 统一入口，Nacos 发现服务，数据与消息各司其职</a:t>
            </a:r>
          </a:p>
        </p:txBody>
      </p:sp>
      <p:sp>
        <p:nvSpPr>
          <p:cNvPr id="3" name="title-rule-5">
            <a:extLst xmlns:a="http://schemas.openxmlformats.org/drawingml/2006/main">
              <a:ext uri="{FF2B5EF4-FFF2-40B4-BE49-F238E27FC236}">
                <a16:creationId xmlns:a16="http://schemas.microsoft.com/office/drawing/2014/main" id="{E0D7E62C-C1D5-4A7F-899C-8BA947833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5">
            <a:extLst xmlns:a="http://schemas.openxmlformats.org/drawingml/2006/main">
              <a:ext uri="{FF2B5EF4-FFF2-40B4-BE49-F238E27FC236}">
                <a16:creationId xmlns:a16="http://schemas.microsoft.com/office/drawing/2014/main" id="{10A8536E-90C2-4E9E-9E82-AEA20F5C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frontend">
            <a:extLst xmlns:a="http://schemas.openxmlformats.org/drawingml/2006/main">
              <a:ext uri="{FF2B5EF4-FFF2-40B4-BE49-F238E27FC236}">
                <a16:creationId xmlns:a16="http://schemas.microsoft.com/office/drawing/2014/main" id="{A1166EF6-D1C4-42BF-A592-87FF500B9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57375"/>
            <a:ext cx="18478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F6FC8DEF-32B9-4747-8334-8A1BA374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Vue 3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9ED2B0E8-13D9-494F-8003-9CA9BB3A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Node.js / Vite</a:t>
            </a:r>
          </a:p>
        </p:txBody>
      </p:sp>
      <p:sp>
        <p:nvSpPr>
          <p:cNvPr id="8" name="arrow">
            <a:extLst xmlns:a="http://schemas.openxmlformats.org/drawingml/2006/main">
              <a:ext uri="{FF2B5EF4-FFF2-40B4-BE49-F238E27FC236}">
                <a16:creationId xmlns:a16="http://schemas.microsoft.com/office/drawing/2014/main" id="{B0C2B682-9A91-4E28-BFA6-D5CD9F3D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0505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gateway">
            <a:extLst xmlns:a="http://schemas.openxmlformats.org/drawingml/2006/main">
              <a:ext uri="{FF2B5EF4-FFF2-40B4-BE49-F238E27FC236}">
                <a16:creationId xmlns:a16="http://schemas.microsoft.com/office/drawing/2014/main" id="{282B34CC-B206-4DCA-8385-71EB4A1A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857375"/>
            <a:ext cx="18478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0F9FF"/>
          </a:solidFill>
          <a:ln xmlns:a="http://schemas.openxmlformats.org/drawingml/2006/main" w="9525">
            <a:solidFill>
              <a:srgbClr val="06B6D4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4C41D855-5FE3-4670-A24B-C120CDDA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1276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E18AAC33-6931-4ADB-AA17-C87B68A68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28900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9000 · 7 条路由</a:t>
            </a:r>
          </a:p>
        </p:txBody>
      </p:sp>
      <p:sp>
        <p:nvSpPr>
          <p:cNvPr id="12" name="arrow">
            <a:extLst xmlns:a="http://schemas.openxmlformats.org/drawingml/2006/main">
              <a:ext uri="{FF2B5EF4-FFF2-40B4-BE49-F238E27FC236}">
                <a16:creationId xmlns:a16="http://schemas.microsoft.com/office/drawing/2014/main" id="{AA74A0D1-05A3-46AE-8D07-5F51EDE2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05050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services">
            <a:extLst xmlns:a="http://schemas.openxmlformats.org/drawingml/2006/main">
              <a:ext uri="{FF2B5EF4-FFF2-40B4-BE49-F238E27FC236}">
                <a16:creationId xmlns:a16="http://schemas.microsoft.com/office/drawing/2014/main" id="{6C69C3D6-E8A0-4EBF-B8CA-50B57561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581150"/>
            <a:ext cx="5753100" cy="302895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103C37FA-1CAA-49AD-854C-4A14EBAD9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52600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Nacos 服务发现</a:t>
            </a:r>
          </a:p>
        </p:txBody>
      </p:sp>
      <p:sp>
        <p:nvSpPr>
          <p:cNvPr id="15" name="svc-0">
            <a:extLst xmlns:a="http://schemas.openxmlformats.org/drawingml/2006/main">
              <a:ext uri="{FF2B5EF4-FFF2-40B4-BE49-F238E27FC236}">
                <a16:creationId xmlns:a16="http://schemas.microsoft.com/office/drawing/2014/main" id="{C37F4840-D454-41DE-BE43-A341C699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2885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1DB7505F-2B3F-4654-A726-C4BDBB04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user 9001</a:t>
            </a:r>
          </a:p>
        </p:txBody>
      </p:sp>
      <p:sp>
        <p:nvSpPr>
          <p:cNvPr id="17" name="svc-1">
            <a:extLst xmlns:a="http://schemas.openxmlformats.org/drawingml/2006/main">
              <a:ext uri="{FF2B5EF4-FFF2-40B4-BE49-F238E27FC236}">
                <a16:creationId xmlns:a16="http://schemas.microsoft.com/office/drawing/2014/main" id="{29B88697-7C2E-4918-87C1-4F93AAB2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00C6DB9-9831-457D-82CC-92CFF968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job 9002</a:t>
            </a:r>
          </a:p>
        </p:txBody>
      </p:sp>
      <p:sp>
        <p:nvSpPr>
          <p:cNvPr id="19" name="svc-2">
            <a:extLst xmlns:a="http://schemas.openxmlformats.org/drawingml/2006/main">
              <a:ext uri="{FF2B5EF4-FFF2-40B4-BE49-F238E27FC236}">
                <a16:creationId xmlns:a16="http://schemas.microsoft.com/office/drawing/2014/main" id="{FCA12BC6-18D4-4897-A0FB-CFE00120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22885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92E77AFF-700D-46D0-B37E-66CE1E7E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match 9003</a:t>
            </a:r>
          </a:p>
        </p:txBody>
      </p:sp>
      <p:sp>
        <p:nvSpPr>
          <p:cNvPr id="21" name="svc-3">
            <a:extLst xmlns:a="http://schemas.openxmlformats.org/drawingml/2006/main">
              <a:ext uri="{FF2B5EF4-FFF2-40B4-BE49-F238E27FC236}">
                <a16:creationId xmlns:a16="http://schemas.microsoft.com/office/drawing/2014/main" id="{5324F200-8BDC-4313-9CF9-06591B36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0040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88E5609-65B6-4D4E-876F-96A22C24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909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16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application 9004</a:t>
            </a:r>
          </a:p>
        </p:txBody>
      </p:sp>
      <p:sp>
        <p:nvSpPr>
          <p:cNvPr id="23" name="svc-4">
            <a:extLst xmlns:a="http://schemas.openxmlformats.org/drawingml/2006/main">
              <a:ext uri="{FF2B5EF4-FFF2-40B4-BE49-F238E27FC236}">
                <a16:creationId xmlns:a16="http://schemas.microsoft.com/office/drawing/2014/main" id="{A187ABC0-F2CB-48D7-87C0-8A9C9465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0040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2E5C008F-3367-4584-8F06-7BA720EF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909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interview 9005</a:t>
            </a:r>
          </a:p>
        </p:txBody>
      </p:sp>
      <p:sp>
        <p:nvSpPr>
          <p:cNvPr id="25" name="svc-5">
            <a:extLst xmlns:a="http://schemas.openxmlformats.org/drawingml/2006/main">
              <a:ext uri="{FF2B5EF4-FFF2-40B4-BE49-F238E27FC236}">
                <a16:creationId xmlns:a16="http://schemas.microsoft.com/office/drawing/2014/main" id="{37FBD6F5-7E08-4D77-8D95-5176EE03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00400"/>
            <a:ext cx="14668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ABFFB977-94C7-4524-BAF7-7A095A28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390900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4591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notification 9006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55FFA33A-174B-43F5-AC8F-5BB32088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529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OpenFeign：服务间调用</a:t>
            </a:r>
          </a:p>
        </p:txBody>
      </p:sp>
      <p:sp>
        <p:nvSpPr>
          <p:cNvPr id="28" name="data-0">
            <a:extLst xmlns:a="http://schemas.openxmlformats.org/drawingml/2006/main">
              <a:ext uri="{FF2B5EF4-FFF2-40B4-BE49-F238E27FC236}">
                <a16:creationId xmlns:a16="http://schemas.microsoft.com/office/drawing/2014/main" id="{32D5ABFA-077B-4FC4-A579-AB0EDA9EB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219700"/>
            <a:ext cx="2114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27365362-EA55-4D7E-B72C-7CB276BB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7210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MySQL</a:t>
            </a:r>
          </a:p>
        </p:txBody>
      </p:sp>
      <p:sp>
        <p:nvSpPr>
          <p:cNvPr id="30" name="data-1">
            <a:extLst xmlns:a="http://schemas.openxmlformats.org/drawingml/2006/main">
              <a:ext uri="{FF2B5EF4-FFF2-40B4-BE49-F238E27FC236}">
                <a16:creationId xmlns:a16="http://schemas.microsoft.com/office/drawing/2014/main" id="{D0599B9F-C4F7-4B18-960A-AA50CF1B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219700"/>
            <a:ext cx="2114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04438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3301F2B2-84B9-455C-99F7-3DCD0542E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537210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32" name="data-2">
            <a:extLst xmlns:a="http://schemas.openxmlformats.org/drawingml/2006/main">
              <a:ext uri="{FF2B5EF4-FFF2-40B4-BE49-F238E27FC236}">
                <a16:creationId xmlns:a16="http://schemas.microsoft.com/office/drawing/2014/main" id="{3E797FA3-7FFE-4776-9DBD-5A81F94A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19700"/>
            <a:ext cx="21145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79009"/>
            </a:solidFill>
            <a:prstDash val="solid"/>
          </a:ln>
        </p:spPr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D774F07D-6707-49CA-9D6D-4727CC342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37210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RabbitMQ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4B78C3DE-6AE3-4D7F-85A6-9540EDB7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6000750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持久化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F977EA74-7069-422D-94A4-EB17033D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6000750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热点缓存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9A7EFE9D-CC73-4A51-A906-694D48F8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000750"/>
            <a:ext cx="1657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异步解耦</a:t>
            </a:r>
          </a:p>
        </p:txBody>
      </p:sp>
    </p:spTree>
    <p:extLst>
      <p:ext uri="{BB962C8B-B14F-4D97-AF65-F5344CB8AC3E}">
        <p14:creationId xmlns:p14="http://schemas.microsoft.com/office/powerpoint/2010/main" val="9355831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6">
            <a:extLst xmlns:a="http://schemas.openxmlformats.org/drawingml/2006/main">
              <a:ext uri="{FF2B5EF4-FFF2-40B4-BE49-F238E27FC236}">
                <a16:creationId xmlns:a16="http://schemas.microsoft.com/office/drawing/2014/main" id="{7C4624EF-4924-4D66-AC55-3D0D336B5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866B7FA2-068E-46F1-BC89-384F32D3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六名成员按业务模块分工，每人都有前后端与测试成果</a:t>
            </a:r>
          </a:p>
        </p:txBody>
      </p:sp>
      <p:sp>
        <p:nvSpPr>
          <p:cNvPr id="3" name="title-rule-6">
            <a:extLst xmlns:a="http://schemas.openxmlformats.org/drawingml/2006/main">
              <a:ext uri="{FF2B5EF4-FFF2-40B4-BE49-F238E27FC236}">
                <a16:creationId xmlns:a16="http://schemas.microsoft.com/office/drawing/2014/main" id="{F964DAC0-574D-43FB-A883-D3A95EB1C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6">
            <a:extLst xmlns:a="http://schemas.openxmlformats.org/drawingml/2006/main">
              <a:ext uri="{FF2B5EF4-FFF2-40B4-BE49-F238E27FC236}">
                <a16:creationId xmlns:a16="http://schemas.microsoft.com/office/drawing/2014/main" id="{881C5828-A81E-4C9B-82A8-2D38549E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module-0">
            <a:extLst xmlns:a="http://schemas.openxmlformats.org/drawingml/2006/main">
              <a:ext uri="{FF2B5EF4-FFF2-40B4-BE49-F238E27FC236}">
                <a16:creationId xmlns:a16="http://schemas.microsoft.com/office/drawing/2014/main" id="{4E79F905-FC55-4709-B818-FA4E9177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module-accent-0">
            <a:extLst xmlns:a="http://schemas.openxmlformats.org/drawingml/2006/main">
              <a:ext uri="{FF2B5EF4-FFF2-40B4-BE49-F238E27FC236}">
                <a16:creationId xmlns:a16="http://schemas.microsoft.com/office/drawing/2014/main" id="{1853F04C-6979-44C7-B78E-235C2F99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3BE1ECBD-104B-4588-BA36-616F1DBB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成员一（队长）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9A480C9A-64C2-4B52-BE6A-122612F4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43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用户与画像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FE51CF9-694C-4968-BAA5-DECFC26F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登录 / JWT / 资料 / 偏好</a:t>
            </a:r>
          </a:p>
        </p:txBody>
      </p:sp>
      <p:sp>
        <p:nvSpPr>
          <p:cNvPr id="10" name="module-1">
            <a:extLst xmlns:a="http://schemas.openxmlformats.org/drawingml/2006/main">
              <a:ext uri="{FF2B5EF4-FFF2-40B4-BE49-F238E27FC236}">
                <a16:creationId xmlns:a16="http://schemas.microsoft.com/office/drawing/2014/main" id="{6F0A4327-C2CD-4187-9992-CB63496D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764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module-accent-1">
            <a:extLst xmlns:a="http://schemas.openxmlformats.org/drawingml/2006/main">
              <a:ext uri="{FF2B5EF4-FFF2-40B4-BE49-F238E27FC236}">
                <a16:creationId xmlns:a16="http://schemas.microsoft.com/office/drawing/2014/main" id="{0CE90E5D-0DE0-43F1-82A9-CF8A40F9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764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3763CAB6-BAA1-48BE-9587-F828A631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9240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成员二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667C023-B02B-4CD1-9516-02CF3620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43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DD71E331-A8BF-48B9-B19C-24758AAC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765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检索 / 筛选 / 详情 / Redis</a:t>
            </a:r>
          </a:p>
        </p:txBody>
      </p:sp>
      <p:sp>
        <p:nvSpPr>
          <p:cNvPr id="15" name="module-2">
            <a:extLst xmlns:a="http://schemas.openxmlformats.org/drawingml/2006/main">
              <a:ext uri="{FF2B5EF4-FFF2-40B4-BE49-F238E27FC236}">
                <a16:creationId xmlns:a16="http://schemas.microsoft.com/office/drawing/2014/main" id="{00E2E252-E192-4988-BB0E-FED57FC5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module-accent-2">
            <a:extLst xmlns:a="http://schemas.openxmlformats.org/drawingml/2006/main">
              <a:ext uri="{FF2B5EF4-FFF2-40B4-BE49-F238E27FC236}">
                <a16:creationId xmlns:a16="http://schemas.microsoft.com/office/drawing/2014/main" id="{44DC402D-7E33-4E0F-9F54-3E9AE63A1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34F3CB2-A8F7-49D4-AEEF-DB8D1898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240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成员三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FA8C8CAE-CD87-4E69-BF42-E18E2975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431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智能匹配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9D32AB8C-94C8-43C4-877F-9A291D2F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8765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画像评分 / OpenFeign</a:t>
            </a:r>
          </a:p>
        </p:txBody>
      </p:sp>
      <p:sp>
        <p:nvSpPr>
          <p:cNvPr id="20" name="module-3">
            <a:extLst xmlns:a="http://schemas.openxmlformats.org/drawingml/2006/main">
              <a:ext uri="{FF2B5EF4-FFF2-40B4-BE49-F238E27FC236}">
                <a16:creationId xmlns:a16="http://schemas.microsoft.com/office/drawing/2014/main" id="{772EDE16-1428-4D61-8870-A1038AAB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module-accent-3">
            <a:extLst xmlns:a="http://schemas.openxmlformats.org/drawingml/2006/main">
              <a:ext uri="{FF2B5EF4-FFF2-40B4-BE49-F238E27FC236}">
                <a16:creationId xmlns:a16="http://schemas.microsoft.com/office/drawing/2014/main" id="{2653484C-A558-4476-825A-5254FCD3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F03CA5B7-DEF6-45A8-9A93-B08E59A0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576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成员四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3C306510-154C-4632-8D8D-2F9E0488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求职行动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83A246F1-64A8-413D-AD73-3B2E84ED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收藏 / 投递 / RabbitMQ 发布</a:t>
            </a:r>
          </a:p>
        </p:txBody>
      </p:sp>
      <p:sp>
        <p:nvSpPr>
          <p:cNvPr id="25" name="module-4">
            <a:extLst xmlns:a="http://schemas.openxmlformats.org/drawingml/2006/main">
              <a:ext uri="{FF2B5EF4-FFF2-40B4-BE49-F238E27FC236}">
                <a16:creationId xmlns:a16="http://schemas.microsoft.com/office/drawing/2014/main" id="{975238BF-8633-4207-93F1-522D4601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module-accent-4">
            <a:extLst xmlns:a="http://schemas.openxmlformats.org/drawingml/2006/main">
              <a:ext uri="{FF2B5EF4-FFF2-40B4-BE49-F238E27FC236}">
                <a16:creationId xmlns:a16="http://schemas.microsoft.com/office/drawing/2014/main" id="{8BAB3407-9149-4023-9684-04413EF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100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EF08D345-F797-4233-86A9-06EB11BB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576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成员五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FB019C88-986A-4E69-BC68-81ED33C67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476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B40F0D98-30B5-46BE-A13F-F90DA5E46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50101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四题流程 / 答案 / 评分</a:t>
            </a:r>
          </a:p>
        </p:txBody>
      </p:sp>
      <p:sp>
        <p:nvSpPr>
          <p:cNvPr id="30" name="module-5">
            <a:extLst xmlns:a="http://schemas.openxmlformats.org/drawingml/2006/main">
              <a:ext uri="{FF2B5EF4-FFF2-40B4-BE49-F238E27FC236}">
                <a16:creationId xmlns:a16="http://schemas.microsoft.com/office/drawing/2014/main" id="{4E857076-45F6-4B69-952B-696BEF3E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10000"/>
            <a:ext cx="36004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module-accent-5">
            <a:extLst xmlns:a="http://schemas.openxmlformats.org/drawingml/2006/main">
              <a:ext uri="{FF2B5EF4-FFF2-40B4-BE49-F238E27FC236}">
                <a16:creationId xmlns:a16="http://schemas.microsoft.com/office/drawing/2014/main" id="{9ED42FA6-2A47-4BDE-8410-5CADC361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10000"/>
            <a:ext cx="36004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56D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9DC18429-FB9E-4D72-A671-5625059C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576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7F56D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7F56D9"/>
                </a:solidFill>
                <a:latin typeface="Microsoft YaHei"/>
                <a:ea typeface="Microsoft YaHei"/>
                <a:cs typeface="Microsoft YaHei"/>
              </a:rPr>
              <a:t>成员六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D1375CCA-49F6-4CEF-95EF-69A5F649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E3DDEF6B-3CAE-472B-9D86-3265B8E5A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101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事件消费 / 未读 / 已读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0FC676A0-9922-465C-9E63-C65825B0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341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注意：成员姓名为可编辑占位，答辩前替换为真实姓名，并由队长补充每人的 Git 提交截图。</a:t>
            </a:r>
          </a:p>
        </p:txBody>
      </p:sp>
    </p:spTree>
    <p:extLst>
      <p:ext uri="{BB962C8B-B14F-4D97-AF65-F5344CB8AC3E}">
        <p14:creationId xmlns:p14="http://schemas.microsoft.com/office/powerpoint/2010/main" val="5875566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7">
            <a:extLst xmlns:a="http://schemas.openxmlformats.org/drawingml/2006/main">
              <a:ext uri="{FF2B5EF4-FFF2-40B4-BE49-F238E27FC236}">
                <a16:creationId xmlns:a16="http://schemas.microsoft.com/office/drawing/2014/main" id="{22E953C9-FEBB-4D4B-8100-D9FB06C7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1828A44D-5B79-43D7-A564-59FBEB6D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关键交互已补齐：状态看得见，四道面试题都能作答</a:t>
            </a:r>
          </a:p>
        </p:txBody>
      </p:sp>
      <p:sp>
        <p:nvSpPr>
          <p:cNvPr id="3" name="title-rule-7">
            <a:extLst xmlns:a="http://schemas.openxmlformats.org/drawingml/2006/main">
              <a:ext uri="{FF2B5EF4-FFF2-40B4-BE49-F238E27FC236}">
                <a16:creationId xmlns:a16="http://schemas.microsoft.com/office/drawing/2014/main" id="{98950AED-3BDF-4CF8-9FBD-0E74AC24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7">
            <a:extLst xmlns:a="http://schemas.openxmlformats.org/drawingml/2006/main">
              <a:ext uri="{FF2B5EF4-FFF2-40B4-BE49-F238E27FC236}">
                <a16:creationId xmlns:a16="http://schemas.microsoft.com/office/drawing/2014/main" id="{D9A88554-BB95-44B3-87C2-939ADDB6B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职位雷达页面-frame">
            <a:extLst xmlns:a="http://schemas.openxmlformats.org/drawingml/2006/main">
              <a:ext uri="{FF2B5EF4-FFF2-40B4-BE49-F238E27FC236}">
                <a16:creationId xmlns:a16="http://schemas.microsoft.com/office/drawing/2014/main" id="{1C7280E4-168A-4A0B-8DE3-736BE12D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743075"/>
            <a:ext cx="516255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72fe6c01ca49dc"/>
          <a:stretch xmlns:a="http://schemas.openxmlformats.org/drawingml/2006/main"/>
        </p:blipFill>
        <p:spPr>
          <a:xfrm xmlns:a="http://schemas.openxmlformats.org/drawingml/2006/main">
            <a:off x="991929" y="1752600"/>
            <a:ext cx="4074042" cy="3981450"/>
          </a:xfrm>
          <a:prstGeom xmlns:a="http://schemas.openxmlformats.org/drawingml/2006/main" prst="roundRect">
            <a:avLst>
              <a:gd name="adj" fmla="val 2871"/>
            </a:avLst>
          </a:prstGeom>
        </p:spPr>
      </p:pic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1E1E4805-F6FE-4DA3-8D6F-8FCBA6FBA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67400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职位雷达｜收藏与已投递状态即时区分</a:t>
            </a:r>
          </a:p>
        </p:txBody>
      </p:sp>
      <p:sp>
        <p:nvSpPr>
          <p:cNvPr id="8" name="四题模拟面试-frame">
            <a:extLst xmlns:a="http://schemas.openxmlformats.org/drawingml/2006/main">
              <a:ext uri="{FF2B5EF4-FFF2-40B4-BE49-F238E27FC236}">
                <a16:creationId xmlns:a16="http://schemas.microsoft.com/office/drawing/2014/main" id="{DD947DDF-3B26-4E6F-A5C6-15B5751F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743075"/>
            <a:ext cx="581025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ed7d8818f24987"/>
          <a:stretch xmlns:a="http://schemas.openxmlformats.org/drawingml/2006/main"/>
        </p:blipFill>
        <p:spPr>
          <a:xfrm xmlns:a="http://schemas.openxmlformats.org/drawingml/2006/main">
            <a:off x="7129984" y="1752600"/>
            <a:ext cx="3418432" cy="1924050"/>
          </a:xfrm>
          <a:prstGeom xmlns:a="http://schemas.openxmlformats.org/drawingml/2006/main" prst="roundRect">
            <a:avLst>
              <a:gd name="adj" fmla="val 5941"/>
            </a:avLst>
          </a:prstGeom>
        </p:spPr>
      </p:pic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155E3EC4-DED9-45D0-B301-233593C72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790950"/>
            <a:ext cx="579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模拟面试｜题目 1–4 全部可见、可切换、可填写</a:t>
            </a:r>
          </a:p>
        </p:txBody>
      </p:sp>
      <p:sp>
        <p:nvSpPr>
          <p:cNvPr id="11" name="消息中心-frame">
            <a:extLst xmlns:a="http://schemas.openxmlformats.org/drawingml/2006/main">
              <a:ext uri="{FF2B5EF4-FFF2-40B4-BE49-F238E27FC236}">
                <a16:creationId xmlns:a16="http://schemas.microsoft.com/office/drawing/2014/main" id="{023CAF62-F997-4794-8390-3A9B58CF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4162425"/>
            <a:ext cx="58102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0a3895ddef48a0"/>
          <a:stretch xmlns:a="http://schemas.openxmlformats.org/drawingml/2006/main"/>
        </p:blipFill>
        <p:spPr>
          <a:xfrm xmlns:a="http://schemas.openxmlformats.org/drawingml/2006/main">
            <a:off x="7450667" y="4171950"/>
            <a:ext cx="2777067" cy="1562100"/>
          </a:xfrm>
          <a:prstGeom xmlns:a="http://schemas.openxmlformats.org/drawingml/2006/main" prst="roundRect">
            <a:avLst>
              <a:gd name="adj" fmla="val 7317"/>
            </a:avLst>
          </a:prstGeom>
        </p:spPr>
      </p:pic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9AE80ACD-D8BC-49C9-920D-86C8261E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5867400"/>
            <a:ext cx="579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消息中心｜未读标识、单条已读与全部已读</a:t>
            </a:r>
          </a:p>
        </p:txBody>
      </p:sp>
    </p:spTree>
    <p:extLst>
      <p:ext uri="{BB962C8B-B14F-4D97-AF65-F5344CB8AC3E}">
        <p14:creationId xmlns:p14="http://schemas.microsoft.com/office/powerpoint/2010/main" val="10414395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8">
            <a:extLst xmlns:a="http://schemas.openxmlformats.org/drawingml/2006/main">
              <a:ext uri="{FF2B5EF4-FFF2-40B4-BE49-F238E27FC236}">
                <a16:creationId xmlns:a16="http://schemas.microsoft.com/office/drawing/2014/main" id="{3D299375-CDD2-41EB-9B16-77AFBF94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FAAE0AF5-24B2-4606-B42C-E35CF478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Redis 缓存职位查询，把高频读请求留在内存中</a:t>
            </a:r>
          </a:p>
        </p:txBody>
      </p:sp>
      <p:sp>
        <p:nvSpPr>
          <p:cNvPr id="3" name="title-rule-8">
            <a:extLst xmlns:a="http://schemas.openxmlformats.org/drawingml/2006/main">
              <a:ext uri="{FF2B5EF4-FFF2-40B4-BE49-F238E27FC236}">
                <a16:creationId xmlns:a16="http://schemas.microsoft.com/office/drawing/2014/main" id="{DD237B76-5AD0-4E2E-B80C-0B1F42C7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8">
            <a:extLst xmlns:a="http://schemas.openxmlformats.org/drawingml/2006/main">
              <a:ext uri="{FF2B5EF4-FFF2-40B4-BE49-F238E27FC236}">
                <a16:creationId xmlns:a16="http://schemas.microsoft.com/office/drawing/2014/main" id="{80DF27CC-BA08-4CDC-B07D-BD8221BA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redis-node-0">
            <a:extLst xmlns:a="http://schemas.openxmlformats.org/drawingml/2006/main">
              <a:ext uri="{FF2B5EF4-FFF2-40B4-BE49-F238E27FC236}">
                <a16:creationId xmlns:a16="http://schemas.microsoft.com/office/drawing/2014/main" id="{CC76FF31-9938-4233-88C1-A646FEE6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840770A-894F-4A70-815E-F445B8AD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浏览器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4889E2DA-287B-4964-A7AA-5D927851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搜索 / 筛选</a:t>
            </a:r>
          </a:p>
        </p:txBody>
      </p:sp>
      <p:sp>
        <p:nvSpPr>
          <p:cNvPr id="8" name="arrow">
            <a:extLst xmlns:a="http://schemas.openxmlformats.org/drawingml/2006/main">
              <a:ext uri="{FF2B5EF4-FFF2-40B4-BE49-F238E27FC236}">
                <a16:creationId xmlns:a16="http://schemas.microsoft.com/office/drawing/2014/main" id="{431879AA-A123-43C6-A69A-23E76249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590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redis-node-1">
            <a:extLst xmlns:a="http://schemas.openxmlformats.org/drawingml/2006/main">
              <a:ext uri="{FF2B5EF4-FFF2-40B4-BE49-F238E27FC236}">
                <a16:creationId xmlns:a16="http://schemas.microsoft.com/office/drawing/2014/main" id="{2BEF1F4B-BC8D-4317-9451-2DC89369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503F10E1-DF62-4AE4-99FF-243503B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Job Service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D55823FB-2451-4CAF-A315-A89D1AC9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@Cacheable</a:t>
            </a:r>
          </a:p>
        </p:txBody>
      </p:sp>
      <p:sp>
        <p:nvSpPr>
          <p:cNvPr id="12" name="arrow">
            <a:extLst xmlns:a="http://schemas.openxmlformats.org/drawingml/2006/main">
              <a:ext uri="{FF2B5EF4-FFF2-40B4-BE49-F238E27FC236}">
                <a16:creationId xmlns:a16="http://schemas.microsoft.com/office/drawing/2014/main" id="{CB386994-4670-42E6-8BEE-D3E11CCE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90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redis-node-2">
            <a:extLst xmlns:a="http://schemas.openxmlformats.org/drawingml/2006/main">
              <a:ext uri="{FF2B5EF4-FFF2-40B4-BE49-F238E27FC236}">
                <a16:creationId xmlns:a16="http://schemas.microsoft.com/office/drawing/2014/main" id="{D1F87EC8-77CD-4314-81AB-583B8EC8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9525">
            <a:solidFill>
              <a:srgbClr val="F04438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636A8F3D-229A-45EC-A3B6-B89274BA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C297035-F13F-4649-B799-A68F6673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radar:jobs:*</a:t>
            </a:r>
          </a:p>
        </p:txBody>
      </p:sp>
      <p:sp>
        <p:nvSpPr>
          <p:cNvPr id="16" name="arrow">
            <a:extLst xmlns:a="http://schemas.openxmlformats.org/drawingml/2006/main">
              <a:ext uri="{FF2B5EF4-FFF2-40B4-BE49-F238E27FC236}">
                <a16:creationId xmlns:a16="http://schemas.microsoft.com/office/drawing/2014/main" id="{0F303894-DFB9-42B4-B57C-E25791033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514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redis-node-3">
            <a:extLst xmlns:a="http://schemas.openxmlformats.org/drawingml/2006/main">
              <a:ext uri="{FF2B5EF4-FFF2-40B4-BE49-F238E27FC236}">
                <a16:creationId xmlns:a16="http://schemas.microsoft.com/office/drawing/2014/main" id="{8726815D-1287-4CB7-9497-4E33A8EDB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14550"/>
            <a:ext cx="215265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8E5D1113-19CF-4C7A-B451-B8B4DC5D4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MySQL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2A7BC655-CD3F-408C-AF9E-E470B626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337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缓存未命中</a:t>
            </a:r>
          </a:p>
        </p:txBody>
      </p:sp>
      <p:sp>
        <p:nvSpPr>
          <p:cNvPr id="20" name="stat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96EBE4C5-1CE1-4E76-A4F2-3FF1C5FD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3352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stat-accent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A3F12568-37D6-4B58-AABF-99935D61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443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t-value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6B34EBD0-EA3A-4FD5-B6ED-887A8635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10 min</a:t>
            </a:r>
          </a:p>
        </p:txBody>
      </p:sp>
      <p:sp>
        <p:nvSpPr>
          <p:cNvPr id="23" name="stat-label-JSON 缓存过期时间">
            <a:extLst xmlns:a="http://schemas.openxmlformats.org/drawingml/2006/main">
              <a:ext uri="{FF2B5EF4-FFF2-40B4-BE49-F238E27FC236}">
                <a16:creationId xmlns:a16="http://schemas.microsoft.com/office/drawing/2014/main" id="{3EC2213B-74D8-4BE5-85C6-418A26FE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JSON 缓存过期时间</a:t>
            </a:r>
          </a:p>
        </p:txBody>
      </p:sp>
      <p:sp>
        <p:nvSpPr>
          <p:cNvPr id="24" name="stat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AE58C325-1DED-4366-89EA-6ECD473B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43400"/>
            <a:ext cx="33528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5" name="stat-accent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9A217569-4681-4EE7-834D-44BB17D3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343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tat-value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1C030BCD-1949-4E42-A9C1-80F3983E0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14850"/>
            <a:ext cx="2971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2 类</a:t>
            </a:r>
          </a:p>
        </p:txBody>
      </p:sp>
      <p:sp>
        <p:nvSpPr>
          <p:cNvPr id="27" name="stat-label-列表与详情缓存">
            <a:extLst xmlns:a="http://schemas.openxmlformats.org/drawingml/2006/main">
              <a:ext uri="{FF2B5EF4-FFF2-40B4-BE49-F238E27FC236}">
                <a16:creationId xmlns:a16="http://schemas.microsoft.com/office/drawing/2014/main" id="{C2C5DC0B-9B7E-424C-99AC-7D8F2B91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1244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列表与详情缓存</a:t>
            </a:r>
          </a:p>
        </p:txBody>
      </p:sp>
      <p:sp>
        <p:nvSpPr>
          <p:cNvPr id="28" name="stat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49DE4BCF-ADF2-4306-A0BE-788771FC6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43400"/>
            <a:ext cx="40005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9" name="stat-accent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D7F2E90E-70D6-43B9-9ECE-3196CA13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434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tat-value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20F9C164-98FA-4B20-BAC6-771D0F89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514850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1 前缀</a:t>
            </a:r>
          </a:p>
        </p:txBody>
      </p:sp>
      <p:sp>
        <p:nvSpPr>
          <p:cNvPr id="31" name="stat-label-radar: 便于课堂演示">
            <a:extLst xmlns:a="http://schemas.openxmlformats.org/drawingml/2006/main">
              <a:ext uri="{FF2B5EF4-FFF2-40B4-BE49-F238E27FC236}">
                <a16:creationId xmlns:a16="http://schemas.microsoft.com/office/drawing/2014/main" id="{4CCDE5F5-DE35-421E-8C4F-53235265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12445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radar: 便于课堂演示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71A3E81B-5977-420A-A043-CC1B25F8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0075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演示证据：连续查询后可用 redis-cli keys '*' 看到 radar:jobs::::null:1:3。</a:t>
            </a:r>
          </a:p>
        </p:txBody>
      </p:sp>
    </p:spTree>
    <p:extLst>
      <p:ext uri="{BB962C8B-B14F-4D97-AF65-F5344CB8AC3E}">
        <p14:creationId xmlns:p14="http://schemas.microsoft.com/office/powerpoint/2010/main" val="7414667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9">
            <a:extLst xmlns:a="http://schemas.openxmlformats.org/drawingml/2006/main">
              <a:ext uri="{FF2B5EF4-FFF2-40B4-BE49-F238E27FC236}">
                <a16:creationId xmlns:a16="http://schemas.microsoft.com/office/drawing/2014/main" id="{1B3CA9DA-FE08-4A8B-8665-B6A9AFF2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6787FABB-9554-4D92-B288-47AE370A0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RabbitMQ 把“投递成功”和“生成通知”解耦</a:t>
            </a:r>
          </a:p>
        </p:txBody>
      </p:sp>
      <p:sp>
        <p:nvSpPr>
          <p:cNvPr id="3" name="title-rule-9">
            <a:extLst xmlns:a="http://schemas.openxmlformats.org/drawingml/2006/main">
              <a:ext uri="{FF2B5EF4-FFF2-40B4-BE49-F238E27FC236}">
                <a16:creationId xmlns:a16="http://schemas.microsoft.com/office/drawing/2014/main" id="{15D10EA6-4699-4DA6-B702-A5283BB9B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9">
            <a:extLst xmlns:a="http://schemas.openxmlformats.org/drawingml/2006/main">
              <a:ext uri="{FF2B5EF4-FFF2-40B4-BE49-F238E27FC236}">
                <a16:creationId xmlns:a16="http://schemas.microsoft.com/office/drawing/2014/main" id="{2FDB9613-F8E2-47D2-B360-C79CB8A7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mq-0">
            <a:extLst xmlns:a="http://schemas.openxmlformats.org/drawingml/2006/main">
              <a:ext uri="{FF2B5EF4-FFF2-40B4-BE49-F238E27FC236}">
                <a16:creationId xmlns:a16="http://schemas.microsoft.com/office/drawing/2014/main" id="{3C0C59CA-C7B4-4573-89ED-9F5156B0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5C1BADC3-8419-4C07-89F3-DD6E3E31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Application Service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CFF84A9-D35F-4C75-B3E9-E8E8473B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保存投递 / 更新状态</a:t>
            </a:r>
          </a:p>
        </p:txBody>
      </p:sp>
      <p:sp>
        <p:nvSpPr>
          <p:cNvPr id="8" name="arrow">
            <a:extLst xmlns:a="http://schemas.openxmlformats.org/drawingml/2006/main">
              <a:ext uri="{FF2B5EF4-FFF2-40B4-BE49-F238E27FC236}">
                <a16:creationId xmlns:a16="http://schemas.microsoft.com/office/drawing/2014/main" id="{501E4DB5-B9F9-4C08-AE48-60F297CA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098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mq-1">
            <a:extLst xmlns:a="http://schemas.openxmlformats.org/drawingml/2006/main">
              <a:ext uri="{FF2B5EF4-FFF2-40B4-BE49-F238E27FC236}">
                <a16:creationId xmlns:a16="http://schemas.microsoft.com/office/drawing/2014/main" id="{37162BE4-F4B2-428E-8C91-9CEFAAE9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79009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79A16154-114F-4FA3-AB6C-192A5045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Exchange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8F18F257-283B-49B3-8047-234DB3662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radar.application.exchange</a:t>
            </a:r>
          </a:p>
        </p:txBody>
      </p:sp>
      <p:sp>
        <p:nvSpPr>
          <p:cNvPr id="12" name="arrow">
            <a:extLst xmlns:a="http://schemas.openxmlformats.org/drawingml/2006/main">
              <a:ext uri="{FF2B5EF4-FFF2-40B4-BE49-F238E27FC236}">
                <a16:creationId xmlns:a16="http://schemas.microsoft.com/office/drawing/2014/main" id="{A4014DEB-9F97-4290-94AB-0E98718D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6098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mq-2">
            <a:extLst xmlns:a="http://schemas.openxmlformats.org/drawingml/2006/main">
              <a:ext uri="{FF2B5EF4-FFF2-40B4-BE49-F238E27FC236}">
                <a16:creationId xmlns:a16="http://schemas.microsoft.com/office/drawing/2014/main" id="{114F640B-C390-46D6-B34E-B3C036EA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6B6D4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EE7B6DC-42E6-49E4-860B-376891D0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Queue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4B15640-6747-40A7-B242-9D869675D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radar.notification.queue</a:t>
            </a:r>
          </a:p>
        </p:txBody>
      </p:sp>
      <p:sp>
        <p:nvSpPr>
          <p:cNvPr id="16" name="arrow">
            <a:extLst xmlns:a="http://schemas.openxmlformats.org/drawingml/2006/main">
              <a:ext uri="{FF2B5EF4-FFF2-40B4-BE49-F238E27FC236}">
                <a16:creationId xmlns:a16="http://schemas.microsoft.com/office/drawing/2014/main" id="{5BD88079-D4E2-40A4-8937-8F39327E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09850"/>
            <a:ext cx="495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mq-3">
            <a:extLst xmlns:a="http://schemas.openxmlformats.org/drawingml/2006/main">
              <a:ext uri="{FF2B5EF4-FFF2-40B4-BE49-F238E27FC236}">
                <a16:creationId xmlns:a16="http://schemas.microsoft.com/office/drawing/2014/main" id="{1813C85A-158E-45EC-9E9B-E769AD1C5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3241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2B76A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94F1C39C-CEA6-467A-80BA-45C1CC82A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05050"/>
            <a:ext cx="2019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Notification Service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9E070D7-C4ED-4082-A280-9D9CBFC4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1465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落库并展示消息</a:t>
            </a:r>
          </a:p>
        </p:txBody>
      </p:sp>
      <p:sp>
        <p:nvSpPr>
          <p:cNvPr id="20" name="mq-point-0">
            <a:extLst xmlns:a="http://schemas.openxmlformats.org/drawingml/2006/main">
              <a:ext uri="{FF2B5EF4-FFF2-40B4-BE49-F238E27FC236}">
                <a16:creationId xmlns:a16="http://schemas.microsoft.com/office/drawing/2014/main" id="{7195468D-092C-4B83-93C2-B985105C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24350"/>
            <a:ext cx="35433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ECB6323F-25FE-468E-A087-12EDFB4F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14850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可靠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EF011878-271C-4B5F-B83D-75DA950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9580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交换机、队列、路由键显式声明</a:t>
            </a:r>
          </a:p>
        </p:txBody>
      </p:sp>
      <p:sp>
        <p:nvSpPr>
          <p:cNvPr id="23" name="mq-point-1">
            <a:extLst xmlns:a="http://schemas.openxmlformats.org/drawingml/2006/main">
              <a:ext uri="{FF2B5EF4-FFF2-40B4-BE49-F238E27FC236}">
                <a16:creationId xmlns:a16="http://schemas.microsoft.com/office/drawing/2014/main" id="{51023953-6E77-4B55-AA0A-440F7D28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24350"/>
            <a:ext cx="35433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88DF95BB-A4D8-4A25-80FA-4D3FE5CC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14850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解耦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CBB47967-AB5B-44F8-AD51-572E9DB9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49580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通知异常不阻塞核心投递操作</a:t>
            </a:r>
          </a:p>
        </p:txBody>
      </p:sp>
      <p:sp>
        <p:nvSpPr>
          <p:cNvPr id="26" name="mq-point-2">
            <a:extLst xmlns:a="http://schemas.openxmlformats.org/drawingml/2006/main">
              <a:ext uri="{FF2B5EF4-FFF2-40B4-BE49-F238E27FC236}">
                <a16:creationId xmlns:a16="http://schemas.microsoft.com/office/drawing/2014/main" id="{AD1C3643-F18D-4667-AAB5-1ECE5E23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24350"/>
            <a:ext cx="35433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B8FC3917-3F4F-4DF9-98BF-2C81DD5DD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14850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可测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CC6DE92F-74A5-4A7B-B394-FBE32250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495800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发布器与监听器均有单元测试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BF467645-F25B-415A-942E-938285A1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1980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现场启动 RabbitMQ 后即可演示真实异步消费；未启动时发布器容错，投递主流程仍可演示。</a:t>
            </a:r>
          </a:p>
        </p:txBody>
      </p:sp>
    </p:spTree>
    <p:extLst>
      <p:ext uri="{BB962C8B-B14F-4D97-AF65-F5344CB8AC3E}">
        <p14:creationId xmlns:p14="http://schemas.microsoft.com/office/powerpoint/2010/main" val="83057773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0">
            <a:extLst xmlns:a="http://schemas.openxmlformats.org/drawingml/2006/main">
              <a:ext uri="{FF2B5EF4-FFF2-40B4-BE49-F238E27FC236}">
                <a16:creationId xmlns:a16="http://schemas.microsoft.com/office/drawing/2014/main" id="{1EA0AF30-4641-4FF5-899D-89B8F626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0">
            <a:extLst xmlns:a="http://schemas.openxmlformats.org/drawingml/2006/main">
              <a:ext uri="{FF2B5EF4-FFF2-40B4-BE49-F238E27FC236}">
                <a16:creationId xmlns:a16="http://schemas.microsoft.com/office/drawing/2014/main" id="{1F75923B-9E26-4E2B-8464-D2041BEA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四个工程细节，让微服务演示更稳定也更容易讲清楚</a:t>
            </a:r>
          </a:p>
        </p:txBody>
      </p:sp>
      <p:sp>
        <p:nvSpPr>
          <p:cNvPr id="3" name="title-rule-10">
            <a:extLst xmlns:a="http://schemas.openxmlformats.org/drawingml/2006/main">
              <a:ext uri="{FF2B5EF4-FFF2-40B4-BE49-F238E27FC236}">
                <a16:creationId xmlns:a16="http://schemas.microsoft.com/office/drawing/2014/main" id="{2C99AF98-4A02-43EC-B415-FEB3E87D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0">
            <a:extLst xmlns:a="http://schemas.openxmlformats.org/drawingml/2006/main">
              <a:ext uri="{FF2B5EF4-FFF2-40B4-BE49-F238E27FC236}">
                <a16:creationId xmlns:a16="http://schemas.microsoft.com/office/drawing/2014/main" id="{57B5FA28-11B7-451C-9DD9-8A5ADC10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eng-0">
            <a:extLst xmlns:a="http://schemas.openxmlformats.org/drawingml/2006/main">
              <a:ext uri="{FF2B5EF4-FFF2-40B4-BE49-F238E27FC236}">
                <a16:creationId xmlns:a16="http://schemas.microsoft.com/office/drawing/2014/main" id="{8DB94F1D-8919-4E3F-B415-0BA4F9A8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7640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A7DC5025-B5E8-43AE-A89B-DA117C93F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89BD073-DD6B-41CA-A6A8-513AA884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9050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JWT 身份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18B19560-4030-4700-996F-3D1F8BE9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47650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Gateway 后的接口统一携带 Token，服务端解析用户身份。</a:t>
            </a:r>
          </a:p>
        </p:txBody>
      </p:sp>
      <p:sp>
        <p:nvSpPr>
          <p:cNvPr id="9" name="eng-1">
            <a:extLst xmlns:a="http://schemas.openxmlformats.org/drawingml/2006/main">
              <a:ext uri="{FF2B5EF4-FFF2-40B4-BE49-F238E27FC236}">
                <a16:creationId xmlns:a16="http://schemas.microsoft.com/office/drawing/2014/main" id="{CC03D92C-2E64-4CFF-915B-4160DA58F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7640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BDF830A9-E552-4E99-A83B-F7DF3DBC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0500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06B6D4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E5EE5FE-1B45-44DA-9388-A8B7349C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9050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Long 字符串化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05A31B7D-1DFD-4C12-A575-72D7110D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7650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雪花 ID 在前端按字符串传递，避免 JavaScript 精度丢失。</a:t>
            </a:r>
          </a:p>
        </p:txBody>
      </p:sp>
      <p:sp>
        <p:nvSpPr>
          <p:cNvPr id="13" name="eng-2">
            <a:extLst xmlns:a="http://schemas.openxmlformats.org/drawingml/2006/main">
              <a:ext uri="{FF2B5EF4-FFF2-40B4-BE49-F238E27FC236}">
                <a16:creationId xmlns:a16="http://schemas.microsoft.com/office/drawing/2014/main" id="{A75FD660-4A59-4646-A0C6-0BE798DD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9095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43E4651-B1BF-4504-94FC-E3AD493D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A57936C6-5D42-42A0-9B78-2A51CD84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0195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统一响应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AC0ED917-812C-4B4B-BF59-9C2D2589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91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CommonResult 统一 code、message、data，前端处理一致。</a:t>
            </a:r>
          </a:p>
        </p:txBody>
      </p:sp>
      <p:sp>
        <p:nvSpPr>
          <p:cNvPr id="17" name="eng-3">
            <a:extLst xmlns:a="http://schemas.openxmlformats.org/drawingml/2006/main">
              <a:ext uri="{FF2B5EF4-FFF2-40B4-BE49-F238E27FC236}">
                <a16:creationId xmlns:a16="http://schemas.microsoft.com/office/drawing/2014/main" id="{A6AAA110-88AC-44D0-8042-59228F20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90950"/>
            <a:ext cx="542925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4006734F-C8C1-46CD-9065-A819FEF4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19550"/>
            <a:ext cx="590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B9C0C5B3-7DAF-4C21-8DBC-7CD809B3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1955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环境可配置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D6DE865C-EF6D-4DFE-97B7-E3454939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91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MySQL、Redis、RabbitMQ 均支持环境变量并保留演示默认值。</a:t>
            </a:r>
          </a:p>
        </p:txBody>
      </p:sp>
    </p:spTree>
    <p:extLst>
      <p:ext uri="{BB962C8B-B14F-4D97-AF65-F5344CB8AC3E}">
        <p14:creationId xmlns:p14="http://schemas.microsoft.com/office/powerpoint/2010/main" val="194127561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1">
            <a:extLst xmlns:a="http://schemas.openxmlformats.org/drawingml/2006/main">
              <a:ext uri="{FF2B5EF4-FFF2-40B4-BE49-F238E27FC236}">
                <a16:creationId xmlns:a16="http://schemas.microsoft.com/office/drawing/2014/main" id="{2603D8DB-0F2A-4DFF-87D6-644E4658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1">
            <a:extLst xmlns:a="http://schemas.openxmlformats.org/drawingml/2006/main">
              <a:ext uri="{FF2B5EF4-FFF2-40B4-BE49-F238E27FC236}">
                <a16:creationId xmlns:a16="http://schemas.microsoft.com/office/drawing/2014/main" id="{E2A23308-DB4E-4AF9-BD89-B62EDB3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答辩现场按 6 分钟脚本演示，先业务后技术证据</a:t>
            </a:r>
          </a:p>
        </p:txBody>
      </p:sp>
      <p:sp>
        <p:nvSpPr>
          <p:cNvPr id="3" name="title-rule-11">
            <a:extLst xmlns:a="http://schemas.openxmlformats.org/drawingml/2006/main">
              <a:ext uri="{FF2B5EF4-FFF2-40B4-BE49-F238E27FC236}">
                <a16:creationId xmlns:a16="http://schemas.microsoft.com/office/drawing/2014/main" id="{37017C70-81B8-49F8-8984-15CF6654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1">
            <a:extLst xmlns:a="http://schemas.openxmlformats.org/drawingml/2006/main">
              <a:ext uri="{FF2B5EF4-FFF2-40B4-BE49-F238E27FC236}">
                <a16:creationId xmlns:a16="http://schemas.microsoft.com/office/drawing/2014/main" id="{89A06761-6E4E-4BCF-AC81-7D26F36E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8CCE2B63-1BFD-4AE2-86BD-915EBD39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9525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F1C1A22E-5717-4DF1-99E6-C7A189E4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9335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B44CC638-6BF0-4758-9AC3-5444B71B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0002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A106068-04E6-4CD7-9378-4624014F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9050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00:00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45ED9330-663A-4C41-91F6-6BC1A620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184785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登录并进入职位雷达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68C938C3-D4C7-4093-909C-11DE474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669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确认 Gateway 与 Nacos 路由</a:t>
            </a:r>
          </a:p>
        </p:txBody>
      </p:sp>
      <p:sp>
        <p:nvSpPr>
          <p:cNvPr id="11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7056732D-1CFA-4965-9DF7-07B60E7A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765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53ECCD8D-A2C2-4D80-839A-D829CD50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7432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661D32A8-55D0-43CF-A001-B0870A310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479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01:00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7B4D2ECA-DC60-4326-85D7-4C004A54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5908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搜索职位并收藏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CEA590CC-3A9A-4334-B7EA-E616ECB9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098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Redis key 与收藏态</a:t>
            </a:r>
          </a:p>
        </p:txBody>
      </p:sp>
      <p:sp>
        <p:nvSpPr>
          <p:cNvPr id="16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4CE1ABE-4EA2-4764-83C2-73A6ED74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194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8A02C8AD-62FD-47AC-AB6C-694F07B2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861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F254A988-D16E-4EEF-98C9-D9382AAF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909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02:00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73A569DC-DBD2-49DD-B289-DDE446B0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3375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点击投递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08AD313E-9F47-4521-9A5B-1C141904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528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按钮变为“已投递”</a:t>
            </a:r>
          </a:p>
        </p:txBody>
      </p:sp>
      <p:sp>
        <p:nvSpPr>
          <p:cNvPr id="21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8A2071F3-A3C8-4290-97B4-06C2F002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1624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796D874-8C46-44F6-A1B6-5A9D231B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2291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CDE5158C-5150-4ECF-A5E1-8C5A8121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338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03:00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10D65053-BDCF-47FF-8DDD-721F1396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0767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打开消息中心</a:t>
            </a:r>
          </a:p>
        </p:txBody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4484FFC5-B950-4E17-9D10-563B8882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RabbitMQ 通知链路</a:t>
            </a:r>
          </a:p>
        </p:txBody>
      </p:sp>
      <p:sp>
        <p:nvSpPr>
          <p:cNvPr id="26" name="timeline-dot-4">
            <a:extLst xmlns:a="http://schemas.openxmlformats.org/drawingml/2006/main">
              <a:ext uri="{FF2B5EF4-FFF2-40B4-BE49-F238E27FC236}">
                <a16:creationId xmlns:a16="http://schemas.microsoft.com/office/drawing/2014/main" id="{F5B0EDCB-E369-416A-BED7-104EF092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0537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4448A247-9FFD-400E-8181-BEB41970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C0FA514E-1E45-4992-BD1E-ABBC97F1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7680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04:00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84A77C3C-3AEC-4239-8EC6-F60E53C8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81965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创建模拟面试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AABF744F-1780-424A-8509-391F30DC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387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四道题可查看、作答</a:t>
            </a:r>
          </a:p>
        </p:txBody>
      </p:sp>
      <p:sp>
        <p:nvSpPr>
          <p:cNvPr id="31" name="timeline-dot-5">
            <a:extLst xmlns:a="http://schemas.openxmlformats.org/drawingml/2006/main">
              <a:ext uri="{FF2B5EF4-FFF2-40B4-BE49-F238E27FC236}">
                <a16:creationId xmlns:a16="http://schemas.microsoft.com/office/drawing/2014/main" id="{8FD09794-7FE7-4687-8B9F-2E10E231A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648325"/>
            <a:ext cx="4191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221E3298-4A0E-42C5-A0A1-678B4C448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7150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A99DDFF2-8F41-4846-AB9B-2266621B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619750"/>
            <a:ext cx="83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05:00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506F0E6B-72A0-41FE-9EAA-EC488441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562600"/>
            <a:ext cx="3486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展示测试与 GitHub</a:t>
            </a:r>
          </a:p>
        </p:txBody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3E584E8B-C2CC-49B9-AA56-B3D3EEBE3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58165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用证据收束课程技术</a:t>
            </a:r>
          </a:p>
        </p:txBody>
      </p:sp>
    </p:spTree>
    <p:extLst>
      <p:ext uri="{BB962C8B-B14F-4D97-AF65-F5344CB8AC3E}">
        <p14:creationId xmlns:p14="http://schemas.microsoft.com/office/powerpoint/2010/main" val="6217704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2">
            <a:extLst xmlns:a="http://schemas.openxmlformats.org/drawingml/2006/main">
              <a:ext uri="{FF2B5EF4-FFF2-40B4-BE49-F238E27FC236}">
                <a16:creationId xmlns:a16="http://schemas.microsoft.com/office/drawing/2014/main" id="{1A03F1BC-7AF2-4391-BE78-DC702B6FE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2">
            <a:extLst xmlns:a="http://schemas.openxmlformats.org/drawingml/2006/main">
              <a:ext uri="{FF2B5EF4-FFF2-40B4-BE49-F238E27FC236}">
                <a16:creationId xmlns:a16="http://schemas.microsoft.com/office/drawing/2014/main" id="{93C96CE5-6793-44D9-B820-2C88F32F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测试、构建与运行证据共同保证现场可演示</a:t>
            </a:r>
          </a:p>
        </p:txBody>
      </p:sp>
      <p:sp>
        <p:nvSpPr>
          <p:cNvPr id="3" name="title-rule-12">
            <a:extLst xmlns:a="http://schemas.openxmlformats.org/drawingml/2006/main">
              <a:ext uri="{FF2B5EF4-FFF2-40B4-BE49-F238E27FC236}">
                <a16:creationId xmlns:a16="http://schemas.microsoft.com/office/drawing/2014/main" id="{0F848325-CBE6-4FD1-A41E-3FFF5B4E3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2">
            <a:extLst xmlns:a="http://schemas.openxmlformats.org/drawingml/2006/main">
              <a:ext uri="{FF2B5EF4-FFF2-40B4-BE49-F238E27FC236}">
                <a16:creationId xmlns:a16="http://schemas.microsoft.com/office/drawing/2014/main" id="{A26A61A4-D3B6-4E20-ABB7-7BB8D8CF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stat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7C3BD02C-8E64-4F3A-BA93-404C35C6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2571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6" name="stat-accent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0024EC7E-FAAB-48F5-B604-F10D2E3E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tat-value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F03EC1FF-BB2F-47EF-B9B7-8BF73D88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8" name="stat-label-后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E3472D12-E2B8-4F1A-A3AD-5A57C1D9B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后端测试 · 0 失败</a:t>
            </a:r>
          </a:p>
        </p:txBody>
      </p:sp>
      <p:sp>
        <p:nvSpPr>
          <p:cNvPr id="9" name="stat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519599E9-84B0-46DE-846F-BB85ACCE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714500"/>
            <a:ext cx="2571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0" name="stat-accent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A2135EA5-47D5-471D-A5E1-D517A6F9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tat-value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7B17ECB5-F3C0-4BAB-80DD-1756AF03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859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2" name="stat-label-前端测试 · 0 失败">
            <a:extLst xmlns:a="http://schemas.openxmlformats.org/drawingml/2006/main">
              <a:ext uri="{FF2B5EF4-FFF2-40B4-BE49-F238E27FC236}">
                <a16:creationId xmlns:a16="http://schemas.microsoft.com/office/drawing/2014/main" id="{39BB121F-E1B5-4782-BD48-2F8B7F94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955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前端测试 · 0 失败</a:t>
            </a:r>
          </a:p>
        </p:txBody>
      </p:sp>
      <p:sp>
        <p:nvSpPr>
          <p:cNvPr id="13" name="stat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67E10F39-8242-4782-AF51-0A6011B42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14500"/>
            <a:ext cx="25717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4" name="stat-accent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E421A8B9-C53A-4CE1-A8F3-B1360DCE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B7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tat-value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9564DB4E-AD3B-4E6B-88ED-673EE628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885950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16" name="stat-label-后端服务端口 9000–9006">
            <a:extLst xmlns:a="http://schemas.openxmlformats.org/drawingml/2006/main">
              <a:ext uri="{FF2B5EF4-FFF2-40B4-BE49-F238E27FC236}">
                <a16:creationId xmlns:a16="http://schemas.microsoft.com/office/drawing/2014/main" id="{EAA70D29-8B6F-4943-93AE-FE4EA10D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955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后端服务端口 9000–9006</a:t>
            </a:r>
          </a:p>
        </p:txBody>
      </p:sp>
      <p:sp>
        <p:nvSpPr>
          <p:cNvPr id="17" name="stat-演示职位数据">
            <a:extLst xmlns:a="http://schemas.openxmlformats.org/drawingml/2006/main">
              <a:ext uri="{FF2B5EF4-FFF2-40B4-BE49-F238E27FC236}">
                <a16:creationId xmlns:a16="http://schemas.microsoft.com/office/drawing/2014/main" id="{6E3D0873-9439-46E2-8A51-EA614ADF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29908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8" name="stat-accent-演示职位数据">
            <a:extLst xmlns:a="http://schemas.openxmlformats.org/drawingml/2006/main">
              <a:ext uri="{FF2B5EF4-FFF2-40B4-BE49-F238E27FC236}">
                <a16:creationId xmlns:a16="http://schemas.microsoft.com/office/drawing/2014/main" id="{C49EAD89-89A8-4332-A7B1-4F3313E2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1450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tat-value-演示职位数据">
            <a:extLst xmlns:a="http://schemas.openxmlformats.org/drawingml/2006/main">
              <a:ext uri="{FF2B5EF4-FFF2-40B4-BE49-F238E27FC236}">
                <a16:creationId xmlns:a16="http://schemas.microsoft.com/office/drawing/2014/main" id="{836943CE-7560-443D-9A90-52B30EB6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885950"/>
            <a:ext cx="26098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20" name="stat-label-演示职位数据">
            <a:extLst xmlns:a="http://schemas.openxmlformats.org/drawingml/2006/main">
              <a:ext uri="{FF2B5EF4-FFF2-40B4-BE49-F238E27FC236}">
                <a16:creationId xmlns:a16="http://schemas.microsoft.com/office/drawing/2014/main" id="{0B680E42-8189-4405-B7E1-B5788CDED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955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演示职位数据</a:t>
            </a:r>
          </a:p>
        </p:txBody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C3ECC6B4-84C5-4384-819C-ED85C0D0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本机依赖检查</a:t>
            </a:r>
          </a:p>
        </p:txBody>
      </p:sp>
      <p:sp>
        <p:nvSpPr>
          <p:cNvPr id="22" name="dep-0">
            <a:extLst xmlns:a="http://schemas.openxmlformats.org/drawingml/2006/main">
              <a:ext uri="{FF2B5EF4-FFF2-40B4-BE49-F238E27FC236}">
                <a16:creationId xmlns:a16="http://schemas.microsoft.com/office/drawing/2014/main" id="{D5622D47-5350-41B1-860E-0D94CF5F2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052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0DB1253F-3E57-44D6-8AFF-AAD22374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81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MySQL 8.0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91EB21D6-C19B-466E-A40B-50486EC93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9814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5" name="dep-1">
            <a:extLst xmlns:a="http://schemas.openxmlformats.org/drawingml/2006/main">
              <a:ext uri="{FF2B5EF4-FFF2-40B4-BE49-F238E27FC236}">
                <a16:creationId xmlns:a16="http://schemas.microsoft.com/office/drawing/2014/main" id="{B31B0D89-92E8-45CA-81F9-42DFB0750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4386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97535065-F066-4147-945B-964C677F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Nacos 2.1.0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10892E27-08A1-4602-8C19-9FA897DD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148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8" name="dep-2">
            <a:extLst xmlns:a="http://schemas.openxmlformats.org/drawingml/2006/main">
              <a:ext uri="{FF2B5EF4-FFF2-40B4-BE49-F238E27FC236}">
                <a16:creationId xmlns:a16="http://schemas.microsoft.com/office/drawing/2014/main" id="{0F52B5C1-4BAC-4721-A28F-942916FC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720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A4AB4E44-CC19-4FB5-910F-F7A806CC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30" name="text">
            <a:extLst xmlns:a="http://schemas.openxmlformats.org/drawingml/2006/main">
              <a:ext uri="{FF2B5EF4-FFF2-40B4-BE49-F238E27FC236}">
                <a16:creationId xmlns:a16="http://schemas.microsoft.com/office/drawing/2014/main" id="{C858D3A4-6E7C-4D6A-B147-86AB7A50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0482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31" name="dep-3">
            <a:extLst xmlns:a="http://schemas.openxmlformats.org/drawingml/2006/main">
              <a:ext uri="{FF2B5EF4-FFF2-40B4-BE49-F238E27FC236}">
                <a16:creationId xmlns:a16="http://schemas.microsoft.com/office/drawing/2014/main" id="{7551DB62-B0AE-4461-AC39-D3B40B9A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05450"/>
            <a:ext cx="5143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D4722C08-A1F6-4760-B525-7F838B1B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81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RabbitMQ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21EEF5CD-21BB-40A4-9588-2EE8D029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581650"/>
            <a:ext cx="2533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代码链路完成；现场需启动</a:t>
            </a:r>
          </a:p>
        </p:txBody>
      </p:sp>
      <p:sp>
        <p:nvSpPr>
          <p:cNvPr id="34" name="verification-box">
            <a:extLst xmlns:a="http://schemas.openxmlformats.org/drawingml/2006/main">
              <a:ext uri="{FF2B5EF4-FFF2-40B4-BE49-F238E27FC236}">
                <a16:creationId xmlns:a16="http://schemas.microsoft.com/office/drawing/2014/main" id="{EE3F2609-3662-4A7D-9FA0-45EAE87FC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71850"/>
            <a:ext cx="5676900" cy="268605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5" name="text">
            <a:extLst xmlns:a="http://schemas.openxmlformats.org/drawingml/2006/main">
              <a:ext uri="{FF2B5EF4-FFF2-40B4-BE49-F238E27FC236}">
                <a16:creationId xmlns:a16="http://schemas.microsoft.com/office/drawing/2014/main" id="{9AF730D0-4E68-4CC6-8D20-0A90659E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510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一键演示准备</a:t>
            </a:r>
          </a:p>
        </p:txBody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A272D5B1-D16E-421A-9796-FBCD23C0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6720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1. scripts/check-environment.ps1</a:t>
            </a:r>
          </a:p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2. 导入 sql/init.sql</a:t>
            </a:r>
          </a:p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3. scripts/start-backend.ps1</a:t>
            </a:r>
          </a:p>
          <a:p xmlns:a="http://schemas.openxmlformats.org/drawingml/2006/main">
            <a:pPr algn="l">
              <a:def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4. npm install &amp;&amp; npm run dev</a:t>
            </a:r>
          </a:p>
        </p:txBody>
      </p:sp>
      <p:sp>
        <p:nvSpPr>
          <p:cNvPr id="37" name="pill-mvn test ✓">
            <a:extLst xmlns:a="http://schemas.openxmlformats.org/drawingml/2006/main">
              <a:ext uri="{FF2B5EF4-FFF2-40B4-BE49-F238E27FC236}">
                <a16:creationId xmlns:a16="http://schemas.microsoft.com/office/drawing/2014/main" id="{F633E47E-5445-4BC4-B3FC-19D74E9E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619750"/>
            <a:ext cx="12954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ill-text-mvn test ✓">
            <a:extLst xmlns:a="http://schemas.openxmlformats.org/drawingml/2006/main">
              <a:ext uri="{FF2B5EF4-FFF2-40B4-BE49-F238E27FC236}">
                <a16:creationId xmlns:a16="http://schemas.microsoft.com/office/drawing/2014/main" id="{17E29E7A-D025-45BD-9582-650A893C5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578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mvn test ✓</a:t>
            </a:r>
          </a:p>
        </p:txBody>
      </p:sp>
      <p:sp>
        <p:nvSpPr>
          <p:cNvPr id="39" name="pill-npm test ✓">
            <a:extLst xmlns:a="http://schemas.openxmlformats.org/drawingml/2006/main">
              <a:ext uri="{FF2B5EF4-FFF2-40B4-BE49-F238E27FC236}">
                <a16:creationId xmlns:a16="http://schemas.microsoft.com/office/drawing/2014/main" id="{00BF9FC4-8E07-4DDC-A149-839028BA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619750"/>
            <a:ext cx="12954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ill-text-npm test ✓">
            <a:extLst xmlns:a="http://schemas.openxmlformats.org/drawingml/2006/main">
              <a:ext uri="{FF2B5EF4-FFF2-40B4-BE49-F238E27FC236}">
                <a16:creationId xmlns:a16="http://schemas.microsoft.com/office/drawing/2014/main" id="{4D6BDED8-7B07-469A-A609-5FE420FC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5657850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npm test ✓</a:t>
            </a:r>
          </a:p>
        </p:txBody>
      </p:sp>
      <p:sp>
        <p:nvSpPr>
          <p:cNvPr id="41" name="pill-vite build ✓">
            <a:extLst xmlns:a="http://schemas.openxmlformats.org/drawingml/2006/main">
              <a:ext uri="{FF2B5EF4-FFF2-40B4-BE49-F238E27FC236}">
                <a16:creationId xmlns:a16="http://schemas.microsoft.com/office/drawing/2014/main" id="{08166AAF-EDF7-4187-8EA8-F9C62EAF5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619750"/>
            <a:ext cx="1371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pill-text-vite build ✓">
            <a:extLst xmlns:a="http://schemas.openxmlformats.org/drawingml/2006/main">
              <a:ext uri="{FF2B5EF4-FFF2-40B4-BE49-F238E27FC236}">
                <a16:creationId xmlns:a16="http://schemas.microsoft.com/office/drawing/2014/main" id="{2241500E-E6EC-40E4-B63D-F6733D7A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65785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vite build ✓</a:t>
            </a:r>
          </a:p>
        </p:txBody>
      </p:sp>
    </p:spTree>
    <p:extLst>
      <p:ext uri="{BB962C8B-B14F-4D97-AF65-F5344CB8AC3E}">
        <p14:creationId xmlns:p14="http://schemas.microsoft.com/office/powerpoint/2010/main" val="181283902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3">
            <a:extLst xmlns:a="http://schemas.openxmlformats.org/drawingml/2006/main">
              <a:ext uri="{FF2B5EF4-FFF2-40B4-BE49-F238E27FC236}">
                <a16:creationId xmlns:a16="http://schemas.microsoft.com/office/drawing/2014/main" id="{F42912D0-9A91-4C26-9357-C6834761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3">
            <a:extLst xmlns:a="http://schemas.openxmlformats.org/drawingml/2006/main">
              <a:ext uri="{FF2B5EF4-FFF2-40B4-BE49-F238E27FC236}">
                <a16:creationId xmlns:a16="http://schemas.microsoft.com/office/drawing/2014/main" id="{81B1E587-226D-408F-BD46-74D2285B3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公开 Git 仓库保留按功能拆分的真实提交记录</a:t>
            </a:r>
          </a:p>
        </p:txBody>
      </p:sp>
      <p:sp>
        <p:nvSpPr>
          <p:cNvPr id="3" name="title-rule-13">
            <a:extLst xmlns:a="http://schemas.openxmlformats.org/drawingml/2006/main">
              <a:ext uri="{FF2B5EF4-FFF2-40B4-BE49-F238E27FC236}">
                <a16:creationId xmlns:a16="http://schemas.microsoft.com/office/drawing/2014/main" id="{DBE7C428-1B0A-433F-8A6B-791CE7DB8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3">
            <a:extLst xmlns:a="http://schemas.openxmlformats.org/drawingml/2006/main">
              <a:ext uri="{FF2B5EF4-FFF2-40B4-BE49-F238E27FC236}">
                <a16:creationId xmlns:a16="http://schemas.microsoft.com/office/drawing/2014/main" id="{2255BB92-77DD-40EA-915E-DC487434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GitHub 提交记录-frame">
            <a:extLst xmlns:a="http://schemas.openxmlformats.org/drawingml/2006/main">
              <a:ext uri="{FF2B5EF4-FFF2-40B4-BE49-F238E27FC236}">
                <a16:creationId xmlns:a16="http://schemas.microsoft.com/office/drawing/2014/main" id="{6B58161E-54A1-4488-805C-99264A0F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1685925"/>
            <a:ext cx="7772400" cy="4476750"/>
          </a:xfrm>
          <a:prstGeom xmlns:a="http://schemas.openxmlformats.org/drawingml/2006/main" prst="roundRect">
            <a:avLst>
              <a:gd name="adj" fmla="val 25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8eacda05e0487f"/>
          <a:srcRect xmlns:a="http://schemas.openxmlformats.org/drawingml/2006/main" l="0" t="8604" r="0" b="86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" y="1695450"/>
            <a:ext cx="7753350" cy="4457700"/>
          </a:xfrm>
          <a:prstGeom xmlns:a="http://schemas.openxmlformats.org/drawingml/2006/main" prst="roundRect">
            <a:avLst>
              <a:gd name="adj" fmla="val 2564"/>
            </a:avLst>
          </a:prstGeom>
        </p:spPr>
      </p:pic>
      <p:sp>
        <p:nvSpPr>
          <p:cNvPr id="7" name="git-notes">
            <a:extLst xmlns:a="http://schemas.openxmlformats.org/drawingml/2006/main">
              <a:ext uri="{FF2B5EF4-FFF2-40B4-BE49-F238E27FC236}">
                <a16:creationId xmlns:a16="http://schemas.microsoft.com/office/drawing/2014/main" id="{CC96343D-D38F-4552-93DF-F019F1D16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695450"/>
            <a:ext cx="3219450" cy="445770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5ED5AC55-4455-47C6-BC85-86FFB4C6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62150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证据要点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F60679F8-A3D2-4B03-ADC2-8F8F90F9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479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2AFCF18-7421-4CC8-AA0B-01C03865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公开仓库：wda131/ai-job-radar-course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9A9B2E70-4AAC-462B-863F-123C7051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528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C26A97EC-29A7-4BB2-BD8A-7D5B92ED7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31470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feat / fix / docs / chore 分类清晰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EA5ADA23-329B-4D3E-B822-0928F48C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05765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D5D355A-41E6-474A-9A39-32D08953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01955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Redis、RabbitMQ、通知中心独立提交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2978D6AD-1F77-43D1-9D3B-7E6796DB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762500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B53AA1AA-6B82-45BB-9A57-DF8A66A5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724400"/>
            <a:ext cx="2152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答辩前每人以姓名拼音账号提交</a:t>
            </a:r>
          </a:p>
        </p:txBody>
      </p:sp>
      <p:sp>
        <p:nvSpPr>
          <p:cNvPr id="17" name="pill-Public">
            <a:extLst xmlns:a="http://schemas.openxmlformats.org/drawingml/2006/main">
              <a:ext uri="{FF2B5EF4-FFF2-40B4-BE49-F238E27FC236}">
                <a16:creationId xmlns:a16="http://schemas.microsoft.com/office/drawing/2014/main" id="{9E3504B4-6015-4D9E-97DE-48D3DA31E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505450"/>
            <a:ext cx="9144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ill-text-Public">
            <a:extLst xmlns:a="http://schemas.openxmlformats.org/drawingml/2006/main">
              <a:ext uri="{FF2B5EF4-FFF2-40B4-BE49-F238E27FC236}">
                <a16:creationId xmlns:a16="http://schemas.microsoft.com/office/drawing/2014/main" id="{F6446E66-C4B4-4F5F-9255-3BA01D5A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435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Public</a:t>
            </a:r>
          </a:p>
        </p:txBody>
      </p:sp>
      <p:sp>
        <p:nvSpPr>
          <p:cNvPr id="19" name="pill-main">
            <a:extLst xmlns:a="http://schemas.openxmlformats.org/drawingml/2006/main">
              <a:ext uri="{FF2B5EF4-FFF2-40B4-BE49-F238E27FC236}">
                <a16:creationId xmlns:a16="http://schemas.microsoft.com/office/drawing/2014/main" id="{BC3365D3-D044-4C99-BFEB-A458D9E60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05450"/>
            <a:ext cx="781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pill-text-main">
            <a:extLst xmlns:a="http://schemas.openxmlformats.org/drawingml/2006/main">
              <a:ext uri="{FF2B5EF4-FFF2-40B4-BE49-F238E27FC236}">
                <a16:creationId xmlns:a16="http://schemas.microsoft.com/office/drawing/2014/main" id="{8D2DE745-DCDD-4015-96E6-34709701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543550"/>
            <a:ext cx="628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16690860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eyebrow-14">
            <a:extLst xmlns:a="http://schemas.openxmlformats.org/drawingml/2006/main">
              <a:ext uri="{FF2B5EF4-FFF2-40B4-BE49-F238E27FC236}">
                <a16:creationId xmlns:a16="http://schemas.microsoft.com/office/drawing/2014/main" id="{7CB83CAA-138F-4142-BBB5-E5E9FAD1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JOB RADAR · COURSE DEFENSE</a:t>
            </a:r>
          </a:p>
        </p:txBody>
      </p:sp>
      <p:sp>
        <p:nvSpPr>
          <p:cNvPr id="2" name="slide-title-14">
            <a:extLst xmlns:a="http://schemas.openxmlformats.org/drawingml/2006/main">
              <a:ext uri="{FF2B5EF4-FFF2-40B4-BE49-F238E27FC236}">
                <a16:creationId xmlns:a16="http://schemas.microsoft.com/office/drawing/2014/main" id="{2FD63934-BBAC-4827-9315-2F719C90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85800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六人分工以业务闭环为边界，模块数量等于团队人数</a:t>
            </a:r>
          </a:p>
        </p:txBody>
      </p:sp>
      <p:sp>
        <p:nvSpPr>
          <p:cNvPr id="3" name="title-rule-14">
            <a:extLst xmlns:a="http://schemas.openxmlformats.org/drawingml/2006/main">
              <a:ext uri="{FF2B5EF4-FFF2-40B4-BE49-F238E27FC236}">
                <a16:creationId xmlns:a16="http://schemas.microsoft.com/office/drawing/2014/main" id="{AA3986D3-176E-43F3-8601-8B2F1726F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number-14">
            <a:extLst xmlns:a="http://schemas.openxmlformats.org/drawingml/2006/main">
              <a:ext uri="{FF2B5EF4-FFF2-40B4-BE49-F238E27FC236}">
                <a16:creationId xmlns:a16="http://schemas.microsoft.com/office/drawing/2014/main" id="{77D84C8E-7578-4D6B-9818-FCD17FC2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238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team-header">
            <a:extLst xmlns:a="http://schemas.openxmlformats.org/drawingml/2006/main">
              <a:ext uri="{FF2B5EF4-FFF2-40B4-BE49-F238E27FC236}">
                <a16:creationId xmlns:a16="http://schemas.microsoft.com/office/drawing/2014/main" id="{7D8CA813-56CD-447E-9B34-F84ECCEC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12776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1018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C41FFFC6-E2E4-4775-8E55-6F6AA8A6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成员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CD4C5E46-3F6B-4687-8D40-FB92CA85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847850"/>
            <a:ext cx="1847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业务模块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595805E-6C27-4D4B-AA60-480AFD61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847850"/>
            <a:ext cx="3314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主要工作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81A248D4-93CD-4015-8309-204C7EBA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3371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交付要求</a:t>
            </a:r>
          </a:p>
        </p:txBody>
      </p:sp>
      <p:sp>
        <p:nvSpPr>
          <p:cNvPr id="10" name="team-row-0">
            <a:extLst xmlns:a="http://schemas.openxmlformats.org/drawingml/2006/main">
              <a:ext uri="{FF2B5EF4-FFF2-40B4-BE49-F238E27FC236}">
                <a16:creationId xmlns:a16="http://schemas.microsoft.com/office/drawing/2014/main" id="{A3E9F82A-78AB-4A37-B565-43EBF624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B9D92CD0-B498-496D-A7FE-0B62BA0F9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成员一（队长）</a:t>
            </a:r>
          </a:p>
        </p:txBody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20F85ED6-DFE3-4BE5-8717-1700CE90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4193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用户与画像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B8E61725-D6B6-4053-90F4-49180FC8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登录、资料、JWT、偏好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3DDA3FBD-83DD-4CA9-991C-D2A4BE633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1935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统筹 / 联调 / 答辩</a:t>
            </a:r>
          </a:p>
        </p:txBody>
      </p:sp>
      <p:sp>
        <p:nvSpPr>
          <p:cNvPr id="15" name="team-row-1">
            <a:extLst xmlns:a="http://schemas.openxmlformats.org/drawingml/2006/main">
              <a:ext uri="{FF2B5EF4-FFF2-40B4-BE49-F238E27FC236}">
                <a16:creationId xmlns:a16="http://schemas.microsoft.com/office/drawing/2014/main" id="{A0E4F8AA-CEB5-4EDE-B138-4CFD33BF2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1465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6465CA77-DF69-4103-8763-1FD54D522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099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成员二</a:t>
            </a:r>
          </a:p>
        </p:txBody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B2F4D9E9-45CB-4FA6-95EF-131D715B5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0099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职位雷达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69680B15-EBA3-48BF-9993-C079471F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0099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检索、详情、Redis 缓存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1A9E6576-422B-4589-A28F-91046579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099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20" name="team-row-2">
            <a:extLst xmlns:a="http://schemas.openxmlformats.org/drawingml/2006/main">
              <a:ext uri="{FF2B5EF4-FFF2-40B4-BE49-F238E27FC236}">
                <a16:creationId xmlns:a16="http://schemas.microsoft.com/office/drawing/2014/main" id="{658298CB-1650-437B-8702-BA71ABB0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0520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A0F4EC7C-CB85-443D-80F3-F29309966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004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成员三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B5334A89-F355-4F70-A9DF-DDCFF430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6004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智能匹配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D595C3E3-B1B2-41ED-ACCA-6D72EDD3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60045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匹配评分、OpenFeign</a:t>
            </a:r>
          </a:p>
        </p:txBody>
      </p:sp>
      <p:sp>
        <p:nvSpPr>
          <p:cNvPr id="24" name="text">
            <a:extLst xmlns:a="http://schemas.openxmlformats.org/drawingml/2006/main">
              <a:ext uri="{FF2B5EF4-FFF2-40B4-BE49-F238E27FC236}">
                <a16:creationId xmlns:a16="http://schemas.microsoft.com/office/drawing/2014/main" id="{0B4BF214-186B-4E7A-A4C2-F51B869D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0045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25" name="team-row-3">
            <a:extLst xmlns:a="http://schemas.openxmlformats.org/drawingml/2006/main">
              <a:ext uri="{FF2B5EF4-FFF2-40B4-BE49-F238E27FC236}">
                <a16:creationId xmlns:a16="http://schemas.microsoft.com/office/drawing/2014/main" id="{E68466B4-1629-454D-B20C-E31C3548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9575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26" name="text">
            <a:extLst xmlns:a="http://schemas.openxmlformats.org/drawingml/2006/main">
              <a:ext uri="{FF2B5EF4-FFF2-40B4-BE49-F238E27FC236}">
                <a16:creationId xmlns:a16="http://schemas.microsoft.com/office/drawing/2014/main" id="{8DFECF08-6B91-45E9-845B-9FB67F356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成员四</a:t>
            </a:r>
          </a:p>
        </p:txBody>
      </p:sp>
      <p:sp>
        <p:nvSpPr>
          <p:cNvPr id="27" name="text">
            <a:extLst xmlns:a="http://schemas.openxmlformats.org/drawingml/2006/main">
              <a:ext uri="{FF2B5EF4-FFF2-40B4-BE49-F238E27FC236}">
                <a16:creationId xmlns:a16="http://schemas.microsoft.com/office/drawing/2014/main" id="{27DE8F7E-CB7E-47E1-9F34-8368F16B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1910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求职行动</a:t>
            </a:r>
          </a:p>
        </p:txBody>
      </p:sp>
      <p:sp>
        <p:nvSpPr>
          <p:cNvPr id="28" name="text">
            <a:extLst xmlns:a="http://schemas.openxmlformats.org/drawingml/2006/main">
              <a:ext uri="{FF2B5EF4-FFF2-40B4-BE49-F238E27FC236}">
                <a16:creationId xmlns:a16="http://schemas.microsoft.com/office/drawing/2014/main" id="{EF950284-AE60-417B-A241-D1CE5CE6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1910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收藏、投递、RabbitMQ</a:t>
            </a:r>
          </a:p>
        </p:txBody>
      </p:sp>
      <p:sp>
        <p:nvSpPr>
          <p:cNvPr id="29" name="text">
            <a:extLst xmlns:a="http://schemas.openxmlformats.org/drawingml/2006/main">
              <a:ext uri="{FF2B5EF4-FFF2-40B4-BE49-F238E27FC236}">
                <a16:creationId xmlns:a16="http://schemas.microsoft.com/office/drawing/2014/main" id="{DF09569E-63AD-4AAC-BBB7-ECBB17F27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910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30" name="team-row-4">
            <a:extLst xmlns:a="http://schemas.openxmlformats.org/drawingml/2006/main">
              <a:ext uri="{FF2B5EF4-FFF2-40B4-BE49-F238E27FC236}">
                <a16:creationId xmlns:a16="http://schemas.microsoft.com/office/drawing/2014/main" id="{D43E51A7-5AE8-4CD6-B1CE-2AA2E4F3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8630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1" name="text">
            <a:extLst xmlns:a="http://schemas.openxmlformats.org/drawingml/2006/main">
              <a:ext uri="{FF2B5EF4-FFF2-40B4-BE49-F238E27FC236}">
                <a16:creationId xmlns:a16="http://schemas.microsoft.com/office/drawing/2014/main" id="{B2D96D0B-0EE9-4A8D-AC58-0699DB02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8155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成员五</a:t>
            </a:r>
          </a:p>
        </p:txBody>
      </p:sp>
      <p:sp>
        <p:nvSpPr>
          <p:cNvPr id="32" name="text">
            <a:extLst xmlns:a="http://schemas.openxmlformats.org/drawingml/2006/main">
              <a:ext uri="{FF2B5EF4-FFF2-40B4-BE49-F238E27FC236}">
                <a16:creationId xmlns:a16="http://schemas.microsoft.com/office/drawing/2014/main" id="{ADBEB93F-22A3-4067-B93C-9B2E1FF5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78155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模拟面试</a:t>
            </a:r>
          </a:p>
        </p:txBody>
      </p:sp>
      <p:sp>
        <p:nvSpPr>
          <p:cNvPr id="33" name="text">
            <a:extLst xmlns:a="http://schemas.openxmlformats.org/drawingml/2006/main">
              <a:ext uri="{FF2B5EF4-FFF2-40B4-BE49-F238E27FC236}">
                <a16:creationId xmlns:a16="http://schemas.microsoft.com/office/drawing/2014/main" id="{17C0A3B3-3792-424B-8A42-23A92448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78155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四题流程、答案、评分</a:t>
            </a:r>
          </a:p>
        </p:txBody>
      </p:sp>
      <p:sp>
        <p:nvSpPr>
          <p:cNvPr id="34" name="text">
            <a:extLst xmlns:a="http://schemas.openxmlformats.org/drawingml/2006/main">
              <a:ext uri="{FF2B5EF4-FFF2-40B4-BE49-F238E27FC236}">
                <a16:creationId xmlns:a16="http://schemas.microsoft.com/office/drawing/2014/main" id="{3EF7E161-1C91-45AE-84B3-BE3727B6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8155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35" name="team-row-5">
            <a:extLst xmlns:a="http://schemas.openxmlformats.org/drawingml/2006/main">
              <a:ext uri="{FF2B5EF4-FFF2-40B4-BE49-F238E27FC236}">
                <a16:creationId xmlns:a16="http://schemas.microsoft.com/office/drawing/2014/main" id="{8D22CE7F-C26F-4402-9F74-B5B66BE9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76850"/>
            <a:ext cx="112776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0D5DD"/>
            </a:solidFill>
            <a:prstDash val="solid"/>
          </a:ln>
        </p:spPr>
      </p:sp>
      <p:sp>
        <p:nvSpPr>
          <p:cNvPr id="36" name="text">
            <a:extLst xmlns:a="http://schemas.openxmlformats.org/drawingml/2006/main">
              <a:ext uri="{FF2B5EF4-FFF2-40B4-BE49-F238E27FC236}">
                <a16:creationId xmlns:a16="http://schemas.microsoft.com/office/drawing/2014/main" id="{762D74E4-EA7D-4366-9466-490C554F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1676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成员六</a:t>
            </a:r>
          </a:p>
        </p:txBody>
      </p:sp>
      <p:sp>
        <p:nvSpPr>
          <p:cNvPr id="37" name="text">
            <a:extLst xmlns:a="http://schemas.openxmlformats.org/drawingml/2006/main">
              <a:ext uri="{FF2B5EF4-FFF2-40B4-BE49-F238E27FC236}">
                <a16:creationId xmlns:a16="http://schemas.microsoft.com/office/drawing/2014/main" id="{9D508654-24AE-4A9F-A916-1165B605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5372100"/>
            <a:ext cx="1847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消息中心</a:t>
            </a:r>
          </a:p>
        </p:txBody>
      </p:sp>
      <p:sp>
        <p:nvSpPr>
          <p:cNvPr id="38" name="text">
            <a:extLst xmlns:a="http://schemas.openxmlformats.org/drawingml/2006/main">
              <a:ext uri="{FF2B5EF4-FFF2-40B4-BE49-F238E27FC236}">
                <a16:creationId xmlns:a16="http://schemas.microsoft.com/office/drawing/2014/main" id="{DE7D21E9-AA03-4781-99A5-3C9102BC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72100"/>
            <a:ext cx="331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消费事件、未读、已读</a:t>
            </a:r>
          </a:p>
        </p:txBody>
      </p:sp>
      <p:sp>
        <p:nvSpPr>
          <p:cNvPr id="39" name="text">
            <a:extLst xmlns:a="http://schemas.openxmlformats.org/drawingml/2006/main">
              <a:ext uri="{FF2B5EF4-FFF2-40B4-BE49-F238E27FC236}">
                <a16:creationId xmlns:a16="http://schemas.microsoft.com/office/drawing/2014/main" id="{F82DAF78-B19A-4492-8BAF-DB1AE213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72100"/>
            <a:ext cx="3371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页面 + 接口 + 测试</a:t>
            </a:r>
          </a:p>
        </p:txBody>
      </p:sp>
      <p:sp>
        <p:nvSpPr>
          <p:cNvPr id="40" name="team-warning">
            <a:extLst xmlns:a="http://schemas.openxmlformats.org/drawingml/2006/main">
              <a:ext uri="{FF2B5EF4-FFF2-40B4-BE49-F238E27FC236}">
                <a16:creationId xmlns:a16="http://schemas.microsoft.com/office/drawing/2014/main" id="{95E57A5C-B801-4305-90BC-0611596E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57900"/>
            <a:ext cx="112776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ext">
            <a:extLst xmlns:a="http://schemas.openxmlformats.org/drawingml/2006/main">
              <a:ext uri="{FF2B5EF4-FFF2-40B4-BE49-F238E27FC236}">
                <a16:creationId xmlns:a16="http://schemas.microsoft.com/office/drawing/2014/main" id="{49E7925D-2C27-415B-8574-C7B165A3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934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答辩前：替换真实姓名；每人至少 2 次有效提交；队长汇总 Git 截图与演示顺序。</a:t>
            </a:r>
          </a:p>
        </p:txBody>
      </p:sp>
    </p:spTree>
    <p:extLst>
      <p:ext uri="{BB962C8B-B14F-4D97-AF65-F5344CB8AC3E}">
        <p14:creationId xmlns:p14="http://schemas.microsoft.com/office/powerpoint/2010/main" val="17497596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">
            <a:extLst xmlns:a="http://schemas.openxmlformats.org/drawingml/2006/main">
              <a:ext uri="{FF2B5EF4-FFF2-40B4-BE49-F238E27FC236}">
                <a16:creationId xmlns:a16="http://schemas.microsoft.com/office/drawing/2014/main" id="{E874ED15-469C-40F9-99F4-291438173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AI 求职雷达 · 课程项目答辩</a:t>
            </a:r>
          </a:p>
        </p:txBody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9B02C7A5-30FA-48E4-AA89-16498AF0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57350"/>
            <a:ext cx="9334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功能形成闭环</a:t>
            </a:r>
          </a:p>
        </p:txBody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94C20B08-FBC5-49ED-BB6A-C03DB3C6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14600"/>
            <a:ext cx="9334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技术进入主链路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1F30B0C3-1434-4642-B23C-826691CB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71850"/>
            <a:ext cx="9334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650" b="1">
                <a:solidFill>
                  <a:srgbClr val="101828"/>
                </a:solidFill>
                <a:latin typeface="Microsoft YaHei"/>
                <a:ea typeface="Microsoft YaHei"/>
                <a:cs typeface="Microsoft YaHei"/>
              </a:rPr>
              <a:t>证据支撑答辩</a:t>
            </a:r>
          </a:p>
        </p:txBody>
      </p:sp>
      <p:sp>
        <p:nvSpPr>
          <p:cNvPr id="5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6284AC9E-DBE7-4A82-987B-125F5C0E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33900"/>
            <a:ext cx="914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E4F55FC9-B7CD-4CC6-A89F-47B43DA5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4825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谢谢观看 · 欢迎提问</a:t>
            </a:r>
          </a:p>
        </p:txBody>
      </p:sp>
      <p:sp>
        <p:nvSpPr>
          <p:cNvPr id="7" name="pill-Spring Cloud">
            <a:extLst xmlns:a="http://schemas.openxmlformats.org/drawingml/2006/main">
              <a:ext uri="{FF2B5EF4-FFF2-40B4-BE49-F238E27FC236}">
                <a16:creationId xmlns:a16="http://schemas.microsoft.com/office/drawing/2014/main" id="{F5F0D90E-FEF3-42E5-87BC-90CBDE88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13716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ill-text-Spring Cloud">
            <a:extLst xmlns:a="http://schemas.openxmlformats.org/drawingml/2006/main">
              <a:ext uri="{FF2B5EF4-FFF2-40B4-BE49-F238E27FC236}">
                <a16:creationId xmlns:a16="http://schemas.microsoft.com/office/drawing/2014/main" id="{03BF3AA8-2C2F-4700-9C04-0BA4C4565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43600"/>
            <a:ext cx="1219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Spring Cloud</a:t>
            </a:r>
          </a:p>
        </p:txBody>
      </p:sp>
      <p:sp>
        <p:nvSpPr>
          <p:cNvPr id="9" name="pill-Vue 3">
            <a:extLst xmlns:a="http://schemas.openxmlformats.org/drawingml/2006/main">
              <a:ext uri="{FF2B5EF4-FFF2-40B4-BE49-F238E27FC236}">
                <a16:creationId xmlns:a16="http://schemas.microsoft.com/office/drawing/2014/main" id="{6FA2E270-B56B-4390-9D2B-8FF0A524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05500"/>
            <a:ext cx="895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CFD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ll-text-Vue 3">
            <a:extLst xmlns:a="http://schemas.openxmlformats.org/drawingml/2006/main">
              <a:ext uri="{FF2B5EF4-FFF2-40B4-BE49-F238E27FC236}">
                <a16:creationId xmlns:a16="http://schemas.microsoft.com/office/drawing/2014/main" id="{BBEE7012-6B84-4C12-870E-205B9A0F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94360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2B76A"/>
                </a:solidFill>
                <a:latin typeface="Microsoft YaHei"/>
                <a:ea typeface="Microsoft YaHei"/>
                <a:cs typeface="Microsoft YaHei"/>
              </a:rPr>
              <a:t>Vue 3</a:t>
            </a:r>
          </a:p>
        </p:txBody>
      </p:sp>
      <p:sp>
        <p:nvSpPr>
          <p:cNvPr id="11" name="pill-Redis">
            <a:extLst xmlns:a="http://schemas.openxmlformats.org/drawingml/2006/main">
              <a:ext uri="{FF2B5EF4-FFF2-40B4-BE49-F238E27FC236}">
                <a16:creationId xmlns:a16="http://schemas.microsoft.com/office/drawing/2014/main" id="{3BA74B27-172B-426C-88CE-5E7EEA83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905500"/>
            <a:ext cx="8953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EF3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ill-text-Redis">
            <a:extLst xmlns:a="http://schemas.openxmlformats.org/drawingml/2006/main">
              <a:ext uri="{FF2B5EF4-FFF2-40B4-BE49-F238E27FC236}">
                <a16:creationId xmlns:a16="http://schemas.microsoft.com/office/drawing/2014/main" id="{04E7B09D-D2BE-45E1-AA20-AEE925EF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94360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04438"/>
                </a:solidFill>
                <a:latin typeface="Microsoft YaHei"/>
                <a:ea typeface="Microsoft YaHei"/>
                <a:cs typeface="Microsoft YaHei"/>
              </a:rPr>
              <a:t>Redis</a:t>
            </a:r>
          </a:p>
        </p:txBody>
      </p:sp>
      <p:sp>
        <p:nvSpPr>
          <p:cNvPr id="13" name="pill-RabbitMQ">
            <a:extLst xmlns:a="http://schemas.openxmlformats.org/drawingml/2006/main">
              <a:ext uri="{FF2B5EF4-FFF2-40B4-BE49-F238E27FC236}">
                <a16:creationId xmlns:a16="http://schemas.microsoft.com/office/drawing/2014/main" id="{E4ABD399-EC02-4F02-A18C-501E2B7F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9055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FA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ill-text-RabbitMQ">
            <a:extLst xmlns:a="http://schemas.openxmlformats.org/drawingml/2006/main">
              <a:ext uri="{FF2B5EF4-FFF2-40B4-BE49-F238E27FC236}">
                <a16:creationId xmlns:a16="http://schemas.microsoft.com/office/drawing/2014/main" id="{E684BA2E-8F45-4811-8245-4EA729C0E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943600"/>
            <a:ext cx="971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rPr>
              <a:t>RabbitMQ</a:t>
            </a:r>
          </a:p>
        </p:txBody>
      </p:sp>
    </p:spTree>
    <p:extLst>
      <p:ext uri="{BB962C8B-B14F-4D97-AF65-F5344CB8AC3E}">
        <p14:creationId xmlns:p14="http://schemas.microsoft.com/office/powerpoint/2010/main" val="346811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2026-07-14T13:29:30.0820000Z</dcterms:created>
  <dcterms:modified xsi:type="dcterms:W3CDTF">2026-07-14T13:29:30.0820000Z</dcterms:modified>
</coreProperties>
</file>